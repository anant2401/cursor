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7" r:id="rId4"/>
    <p:sldId id="258" r:id="rId5"/>
    <p:sldId id="268" r:id="rId6"/>
    <p:sldId id="259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hchaan Intro" id="{D7C7AA99-01AB-4B09-B2F5-31B5EF413D64}">
          <p14:sldIdLst>
            <p14:sldId id="256"/>
            <p14:sldId id="257"/>
            <p14:sldId id="267"/>
            <p14:sldId id="258"/>
            <p14:sldId id="268"/>
            <p14:sldId id="259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8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3003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48640"/>
            <a:ext cx="2560320" cy="2560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0" y="457200"/>
            <a:ext cx="27432" cy="40233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931920" y="64008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Pehchaan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3977640" y="16002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kern="0" spc="8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977640" y="2103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 err="1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Aapki</a:t>
            </a:r>
            <a:r>
              <a:rPr lang="en-US" sz="1400" i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Pehchaan</a:t>
            </a:r>
            <a:r>
              <a:rPr lang="en-US" sz="1400" i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aapki raah.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977640" y="2651760"/>
            <a:ext cx="3200400" cy="2743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977640" y="2788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30-minute honest conversation about your career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F1524"/>
          </a:solidFill>
          <a:ln w="12700">
            <a:solidFill>
              <a:srgbClr val="0F1524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4873752"/>
            <a:ext cx="1005840" cy="2468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858000" y="4882896"/>
            <a:ext cx="2176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Pehchaancareers.in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0972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me ask you something honest.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234440"/>
            <a:ext cx="164592" cy="16459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1143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10th — did anyone actually explain what subject choice means for your career?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892808"/>
            <a:ext cx="164592" cy="16459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180136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anyone tell you the real difference between Maths, Bio, and Commerce?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551176"/>
            <a:ext cx="164592" cy="16459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2459736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anyone explain what other jobs exists in markets and cities like in Bangalore, Pune, Noida?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3209544"/>
            <a:ext cx="164592" cy="16459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3118104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anyone tell you how much they pay — and how to get there from here?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4041648"/>
            <a:ext cx="8046720" cy="658368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4087368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answer is NO — that is not your fault. Nobody was supposed to tell you. Today, we fix that.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4873752"/>
            <a:ext cx="1005840" cy="24688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858000" y="4882896"/>
            <a:ext cx="2176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Pehchaancareers.in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0972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Govt Job Reality Nobody Talks About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960120"/>
            <a:ext cx="2560320" cy="1463040"/>
          </a:xfrm>
          <a:prstGeom prst="rect">
            <a:avLst/>
          </a:prstGeom>
          <a:solidFill>
            <a:srgbClr val="FCEBEB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10515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Lakh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645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applicants for SSC CGL 2024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2011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one exam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91840" y="960120"/>
            <a:ext cx="2560320" cy="1463040"/>
          </a:xfrm>
          <a:prstGeom prst="rect">
            <a:avLst/>
          </a:prstGeom>
          <a:solidFill>
            <a:srgbClr val="FCEBEB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383280" y="10515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3383280" y="1645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vacancies available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383280" y="2011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0.02% selection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0" y="960120"/>
            <a:ext cx="2560320" cy="1463040"/>
          </a:xfrm>
          <a:prstGeom prst="rect">
            <a:avLst/>
          </a:prstGeom>
          <a:solidFill>
            <a:srgbClr val="FCEBEB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0" y="10515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190:1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6217920" y="1645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applicants per vacancy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217920" y="2011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SSC MTS ratio 2024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2651760"/>
            <a:ext cx="8229600" cy="566928"/>
          </a:xfrm>
          <a:prstGeom prst="rect">
            <a:avLst/>
          </a:prstGeom>
          <a:solidFill>
            <a:srgbClr val="FAEEDA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2697480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example: 23 Lakh people applied for 368 'peon' posts in UP. That is 62,500 people competing for one seat.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48640" y="34290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most students, waiting for a government job means waiting for a life that may never arrive.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48640" y="45720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SSC CGL 2024 official data | FEE.org India Labour Research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4873752"/>
            <a:ext cx="1005840" cy="24688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858000" y="4882896"/>
            <a:ext cx="2176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Pehchaancareers.in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0972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011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where we are and where the jobs are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804672"/>
            <a:ext cx="4023360" cy="34747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80467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Chhattisgarh — the ground reality</a:t>
            </a:r>
            <a:endParaRPr lang="en-US" sz="1200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72638C6-68FF-4DE4-CBA4-7052E4D2639F}"/>
              </a:ext>
            </a:extLst>
          </p:cNvPr>
          <p:cNvGrpSpPr/>
          <p:nvPr/>
        </p:nvGrpSpPr>
        <p:grpSpPr>
          <a:xfrm>
            <a:off x="457632" y="1269881"/>
            <a:ext cx="1207008" cy="1404000"/>
            <a:chOff x="457632" y="1269881"/>
            <a:chExt cx="1207008" cy="1404000"/>
          </a:xfrm>
        </p:grpSpPr>
        <p:sp>
          <p:nvSpPr>
            <p:cNvPr id="6" name="Shape 3"/>
            <p:cNvSpPr/>
            <p:nvPr/>
          </p:nvSpPr>
          <p:spPr>
            <a:xfrm>
              <a:off x="457632" y="1269881"/>
              <a:ext cx="1207008" cy="1404000"/>
            </a:xfrm>
            <a:prstGeom prst="rect">
              <a:avLst/>
            </a:prstGeom>
            <a:solidFill>
              <a:srgbClr val="FCEBEB"/>
            </a:solidFill>
            <a:ln w="12700">
              <a:solidFill>
                <a:srgbClr val="E24B4A"/>
              </a:solidFill>
              <a:prstDash val="solid"/>
            </a:ln>
          </p:spPr>
        </p:sp>
        <p:sp>
          <p:nvSpPr>
            <p:cNvPr id="7" name="Text 4"/>
            <p:cNvSpPr/>
            <p:nvPr/>
          </p:nvSpPr>
          <p:spPr>
            <a:xfrm>
              <a:off x="503352" y="1333889"/>
              <a:ext cx="1115568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E24B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21%</a:t>
              </a:r>
              <a:endParaRPr lang="en-US" sz="240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503352" y="1791089"/>
              <a:ext cx="1115568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Urban youth unemployment</a:t>
              </a:r>
              <a:endParaRPr lang="en-US" sz="1000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503352" y="2189098"/>
              <a:ext cx="1116000" cy="4320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i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15–29 age group, CG urban areas</a:t>
              </a:r>
              <a:endParaRPr lang="en-US" sz="900" dirty="0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5A5FFE4-4261-5A1D-9787-0B7D6CA6AF50}"/>
              </a:ext>
            </a:extLst>
          </p:cNvPr>
          <p:cNvGrpSpPr/>
          <p:nvPr/>
        </p:nvGrpSpPr>
        <p:grpSpPr>
          <a:xfrm>
            <a:off x="1865343" y="1269881"/>
            <a:ext cx="1207008" cy="1404000"/>
            <a:chOff x="1819656" y="1269881"/>
            <a:chExt cx="1207008" cy="1404000"/>
          </a:xfrm>
        </p:grpSpPr>
        <p:sp>
          <p:nvSpPr>
            <p:cNvPr id="10" name="Shape 7"/>
            <p:cNvSpPr/>
            <p:nvPr/>
          </p:nvSpPr>
          <p:spPr>
            <a:xfrm>
              <a:off x="1819656" y="1269881"/>
              <a:ext cx="1207008" cy="1404000"/>
            </a:xfrm>
            <a:prstGeom prst="rect">
              <a:avLst/>
            </a:prstGeom>
            <a:solidFill>
              <a:srgbClr val="FCEBEB"/>
            </a:solidFill>
            <a:ln w="12700">
              <a:solidFill>
                <a:srgbClr val="E24B4A"/>
              </a:solidFill>
              <a:prstDash val="solid"/>
            </a:ln>
          </p:spPr>
        </p:sp>
        <p:sp>
          <p:nvSpPr>
            <p:cNvPr id="11" name="Text 8"/>
            <p:cNvSpPr/>
            <p:nvPr/>
          </p:nvSpPr>
          <p:spPr>
            <a:xfrm>
              <a:off x="1865376" y="1333889"/>
              <a:ext cx="1115568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E24B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67%</a:t>
              </a:r>
              <a:endParaRPr lang="en-US" sz="240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1865376" y="1791089"/>
              <a:ext cx="1115568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Workforce in agriculture</a:t>
              </a:r>
              <a:endParaRPr lang="en-US" sz="1000" dirty="0"/>
            </a:p>
          </p:txBody>
        </p:sp>
        <p:sp>
          <p:nvSpPr>
            <p:cNvPr id="13" name="Text 10"/>
            <p:cNvSpPr/>
            <p:nvPr/>
          </p:nvSpPr>
          <p:spPr>
            <a:xfrm>
              <a:off x="1865376" y="2189098"/>
              <a:ext cx="1116000" cy="4320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i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Limited private sector exposure</a:t>
              </a:r>
              <a:endParaRPr lang="en-US" sz="900" dirty="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92A7AA4-CAE5-CACB-FB59-4DCB236844D2}"/>
              </a:ext>
            </a:extLst>
          </p:cNvPr>
          <p:cNvGrpSpPr/>
          <p:nvPr/>
        </p:nvGrpSpPr>
        <p:grpSpPr>
          <a:xfrm>
            <a:off x="3273054" y="1269881"/>
            <a:ext cx="1207008" cy="1404000"/>
            <a:chOff x="3273054" y="1269881"/>
            <a:chExt cx="1207008" cy="1404000"/>
          </a:xfrm>
        </p:grpSpPr>
        <p:sp>
          <p:nvSpPr>
            <p:cNvPr id="14" name="Shape 11"/>
            <p:cNvSpPr/>
            <p:nvPr/>
          </p:nvSpPr>
          <p:spPr>
            <a:xfrm>
              <a:off x="3273054" y="1269881"/>
              <a:ext cx="1207008" cy="1404000"/>
            </a:xfrm>
            <a:prstGeom prst="rect">
              <a:avLst/>
            </a:prstGeom>
            <a:solidFill>
              <a:srgbClr val="FCEBEB"/>
            </a:solidFill>
            <a:ln w="12700">
              <a:solidFill>
                <a:srgbClr val="E24B4A"/>
              </a:solidFill>
              <a:prstDash val="solid"/>
            </a:ln>
          </p:spPr>
        </p:sp>
        <p:sp>
          <p:nvSpPr>
            <p:cNvPr id="15" name="Text 12"/>
            <p:cNvSpPr/>
            <p:nvPr/>
          </p:nvSpPr>
          <p:spPr>
            <a:xfrm>
              <a:off x="3318774" y="1333889"/>
              <a:ext cx="1115568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E24B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10.2%</a:t>
              </a:r>
              <a:endParaRPr lang="en-US" sz="2400" dirty="0"/>
            </a:p>
          </p:txBody>
        </p:sp>
        <p:sp>
          <p:nvSpPr>
            <p:cNvPr id="16" name="Text 13"/>
            <p:cNvSpPr/>
            <p:nvPr/>
          </p:nvSpPr>
          <p:spPr>
            <a:xfrm>
              <a:off x="3318774" y="1791089"/>
              <a:ext cx="1115568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Graduate unemployment</a:t>
              </a:r>
              <a:endParaRPr lang="en-US" sz="1000" dirty="0"/>
            </a:p>
          </p:txBody>
        </p:sp>
        <p:sp>
          <p:nvSpPr>
            <p:cNvPr id="17" name="Text 14"/>
            <p:cNvSpPr/>
            <p:nvPr/>
          </p:nvSpPr>
          <p:spPr>
            <a:xfrm>
              <a:off x="3318774" y="2189098"/>
              <a:ext cx="1116000" cy="4320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i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India average — highest among educated</a:t>
              </a:r>
              <a:endParaRPr lang="en-US" sz="900" dirty="0"/>
            </a:p>
          </p:txBody>
        </p:sp>
      </p:grpSp>
      <p:sp>
        <p:nvSpPr>
          <p:cNvPr id="18" name="Shape 15"/>
          <p:cNvSpPr/>
          <p:nvPr/>
        </p:nvSpPr>
        <p:spPr>
          <a:xfrm>
            <a:off x="457632" y="2911329"/>
            <a:ext cx="3976710" cy="420624"/>
          </a:xfrm>
          <a:prstGeom prst="rect">
            <a:avLst/>
          </a:prstGeom>
          <a:solidFill>
            <a:srgbClr val="FAEEDA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3351" y="2947905"/>
            <a:ext cx="388576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Higher-level private jobs in CG are filled by talent from other states — because local youth are not prepared for them.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754880" y="804672"/>
            <a:ext cx="3931920" cy="34747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54880" y="80467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sector — open jobs right now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754880" y="1269881"/>
            <a:ext cx="393192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754880" y="1269881"/>
            <a:ext cx="91440" cy="47548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919472" y="1297313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637550" y="1339841"/>
            <a:ext cx="190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44,000+ open roles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919472" y="1525913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&amp; business services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754880" y="1800233"/>
            <a:ext cx="393192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754880" y="1800233"/>
            <a:ext cx="91440" cy="475488"/>
          </a:xfrm>
          <a:prstGeom prst="rect">
            <a:avLst/>
          </a:prstGeom>
          <a:solidFill>
            <a:srgbClr val="533AB7"/>
          </a:solidFill>
          <a:ln w="12700">
            <a:solidFill>
              <a:srgbClr val="533AB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919472" y="1827665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NCR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637550" y="1870193"/>
            <a:ext cx="1908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33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30,000+ open roles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919472" y="2056265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Operations, finance, sales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754880" y="2330585"/>
            <a:ext cx="393192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754880" y="2330585"/>
            <a:ext cx="91440" cy="47548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919472" y="2358017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637549" y="2400545"/>
            <a:ext cx="1908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18,000+ open roles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919472" y="2586617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IT, manufacturing, analytics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4754880" y="2860937"/>
            <a:ext cx="393192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754880" y="2860937"/>
            <a:ext cx="91440" cy="47548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919472" y="2888369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6637550" y="2973425"/>
            <a:ext cx="1908000" cy="269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12,000+ open roles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4919472" y="3116969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IT, BPO, engineering services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4754880" y="2778641"/>
            <a:ext cx="3931920" cy="128016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57200" y="3933191"/>
            <a:ext cx="8229600" cy="47548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40080" y="3960623"/>
            <a:ext cx="7863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jobs exist. </a:t>
            </a:r>
            <a:r>
              <a:rPr lang="en-US" sz="1200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missing is the bridge — the skills, the guidance, and the confidence to cross over. That is what </a:t>
            </a:r>
            <a:r>
              <a:rPr lang="en-US" sz="1200" dirty="0" err="1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Pehchaan</a:t>
            </a:r>
            <a:r>
              <a:rPr lang="en-US" sz="1200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builds.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548640" y="455371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CMIE 2024 | PLFS 2023-24 | Foundit.in job listings April 2025 | Medium – Unemployment in Chhattisgarh 2024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pic>
        <p:nvPicPr>
          <p:cNvPr id="4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4873752"/>
            <a:ext cx="1005840" cy="246888"/>
          </a:xfrm>
          <a:prstGeom prst="rect">
            <a:avLst/>
          </a:prstGeom>
        </p:spPr>
      </p:pic>
      <p:sp>
        <p:nvSpPr>
          <p:cNvPr id="48" name="Text 44"/>
          <p:cNvSpPr/>
          <p:nvPr/>
        </p:nvSpPr>
        <p:spPr>
          <a:xfrm>
            <a:off x="6858000" y="4882896"/>
            <a:ext cx="2176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Pehchaancareers.in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0972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01168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market actually wants from you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57200" y="731520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your path is corporate, creative, govt, MBA or abroad — these 9 skills determine how far you go.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57200" y="1170432"/>
            <a:ext cx="265176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170432"/>
            <a:ext cx="73152" cy="80467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61488" y="1225296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21792" y="121615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21792" y="1490472"/>
            <a:ext cx="239572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yourself clearly. In person, on paper, on a call.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55848" y="1170432"/>
            <a:ext cx="265176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355848" y="1170432"/>
            <a:ext cx="73152" cy="80467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0136" y="1225296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520440" y="121615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Literacy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520440" y="1490472"/>
            <a:ext cx="239572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Excel, email, Google tools, basic social — every job needs this.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54496" y="1170432"/>
            <a:ext cx="265176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54496" y="1170432"/>
            <a:ext cx="73152" cy="80467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58784" y="1225296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419088" y="121615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Thinking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19088" y="1490472"/>
            <a:ext cx="239572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numbers. Understand what they mean. Suggest what to do.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57200" y="2048256"/>
            <a:ext cx="265176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7200" y="2048256"/>
            <a:ext cx="73152" cy="80467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761488" y="21031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21792" y="209397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Comfort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21792" y="2368296"/>
            <a:ext cx="239572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fluency. Willingness to speak up. That alone sets you apart.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3355848" y="2048256"/>
            <a:ext cx="265176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355848" y="2048256"/>
            <a:ext cx="73152" cy="80467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660136" y="21031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3520440" y="209397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Self-Presentation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3520440" y="2368296"/>
            <a:ext cx="239572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show up — in interviews, meetings, and online profiles.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254496" y="2048256"/>
            <a:ext cx="265176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254496" y="2048256"/>
            <a:ext cx="73152" cy="80467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558784" y="21031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6419088" y="209397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Teamwork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419088" y="2368296"/>
            <a:ext cx="239572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path — corporate, arts, govt — involves working with people.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57200" y="2926080"/>
            <a:ext cx="265176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57200" y="2926080"/>
            <a:ext cx="73152" cy="804672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2761488" y="298094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21792" y="297180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621792" y="3246120"/>
            <a:ext cx="239572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just report the problem. Come with a possible solution.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3355848" y="2926080"/>
            <a:ext cx="265176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355848" y="2926080"/>
            <a:ext cx="73152" cy="804672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660136" y="298094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3520440" y="297180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3520440" y="3246120"/>
            <a:ext cx="239572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what you said. When you said. This is rarer than any degree.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6254496" y="2926080"/>
            <a:ext cx="265176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254496" y="2926080"/>
            <a:ext cx="73152" cy="804672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558784" y="298094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6419088" y="297180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Adaptability</a:t>
            </a:r>
            <a:endParaRPr lang="en-US" sz="1300" dirty="0"/>
          </a:p>
        </p:txBody>
      </p:sp>
      <p:sp>
        <p:nvSpPr>
          <p:cNvPr id="49" name="Text 46"/>
          <p:cNvSpPr/>
          <p:nvPr/>
        </p:nvSpPr>
        <p:spPr>
          <a:xfrm>
            <a:off x="6419088" y="3246120"/>
            <a:ext cx="239572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changes fast. Those who adjust quickly always win.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457200" y="4519753"/>
            <a:ext cx="73152" cy="2560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94360" y="4519753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2103120" y="4519753"/>
            <a:ext cx="73152" cy="25603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2240280" y="4519753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3931920" y="4519753"/>
            <a:ext cx="73152" cy="256032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4069080" y="4519753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Mindset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457200" y="4011165"/>
            <a:ext cx="8449056" cy="34747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40080" y="4038597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need a 90% in boards. </a:t>
            </a:r>
            <a:r>
              <a:rPr lang="en-US" sz="1200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them are learnable. </a:t>
            </a:r>
            <a:r>
              <a:rPr lang="en-US" sz="1200" dirty="0" err="1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Pehchaan</a:t>
            </a:r>
            <a:r>
              <a:rPr lang="en-US" sz="1200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teaches every one.</a:t>
            </a:r>
            <a:endParaRPr lang="en-US" sz="1200" dirty="0"/>
          </a:p>
        </p:txBody>
      </p:sp>
      <p:sp>
        <p:nvSpPr>
          <p:cNvPr id="58" name="Shape 55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pic>
        <p:nvPicPr>
          <p:cNvPr id="5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4873752"/>
            <a:ext cx="1005840" cy="246888"/>
          </a:xfrm>
          <a:prstGeom prst="rect">
            <a:avLst/>
          </a:prstGeom>
        </p:spPr>
      </p:pic>
      <p:sp>
        <p:nvSpPr>
          <p:cNvPr id="60" name="Text 56"/>
          <p:cNvSpPr/>
          <p:nvPr/>
        </p:nvSpPr>
        <p:spPr>
          <a:xfrm>
            <a:off x="6858000" y="4882896"/>
            <a:ext cx="2176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Pehchaancareers.in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0972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reach the same destination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48640" y="77724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you chose Science, Commerce or Arts — the real question is: do you have a plan for what comes after?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57200" y="1261872"/>
            <a:ext cx="3840480" cy="384048"/>
          </a:xfrm>
          <a:prstGeom prst="rect">
            <a:avLst/>
          </a:prstGeom>
          <a:solidFill>
            <a:srgbClr val="888780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26187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Legacy Way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819656"/>
            <a:ext cx="128016" cy="128016"/>
          </a:xfrm>
          <a:prstGeom prst="ellipse">
            <a:avLst/>
          </a:prstGeom>
          <a:solidFill>
            <a:srgbClr val="888780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7373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hard, score marks — no one explains why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221992"/>
            <a:ext cx="128016" cy="128016"/>
          </a:xfrm>
          <a:prstGeom prst="ellipse">
            <a:avLst/>
          </a:prstGeom>
          <a:solidFill>
            <a:srgbClr val="888780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213969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stream based on what parents or friends say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2624328"/>
            <a:ext cx="128016" cy="128016"/>
          </a:xfrm>
          <a:prstGeom prst="ellipse">
            <a:avLst/>
          </a:prstGeom>
          <a:solidFill>
            <a:srgbClr val="888780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254203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degree with no idea what job it leads to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3026664"/>
            <a:ext cx="128016" cy="128016"/>
          </a:xfrm>
          <a:prstGeom prst="ellipse">
            <a:avLst/>
          </a:prstGeom>
          <a:solidFill>
            <a:srgbClr val="888780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29443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for govt exams for years, just in case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3429000"/>
            <a:ext cx="128016" cy="128016"/>
          </a:xfrm>
          <a:prstGeom prst="ellipse">
            <a:avLst/>
          </a:prstGeom>
          <a:solidFill>
            <a:srgbClr val="888780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" y="334670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and hope something works out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3831336"/>
            <a:ext cx="128016" cy="128016"/>
          </a:xfrm>
          <a:prstGeom prst="ellipse">
            <a:avLst/>
          </a:prstGeom>
          <a:solidFill>
            <a:srgbClr val="888780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7240" y="37490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up in a job you never planned for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663440" y="1261872"/>
            <a:ext cx="4023360" cy="38404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63440" y="126187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Pehchaan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Way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754880" y="1819656"/>
            <a:ext cx="128016" cy="128016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983480" y="1737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what each stream leads to — before choosing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754880" y="2221992"/>
            <a:ext cx="128016" cy="128016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983480" y="213969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which corporate jobs suit your strengths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754880" y="2624328"/>
            <a:ext cx="128016" cy="128016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983480" y="254203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real skills alongside your degree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754880" y="3026664"/>
            <a:ext cx="128016" cy="128016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983480" y="29077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how to enter market confidently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754880" y="3429000"/>
            <a:ext cx="128016" cy="128016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983480" y="334670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guided — step by step — by someone who's been there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754880" y="3831336"/>
            <a:ext cx="128016" cy="128016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983480" y="3749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 at your first job prepared, not lost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453128" y="1298448"/>
            <a:ext cx="0" cy="3132000"/>
          </a:xfrm>
          <a:prstGeom prst="line">
            <a:avLst/>
          </a:prstGeom>
          <a:noFill/>
          <a:ln w="19050">
            <a:solidFill>
              <a:srgbClr val="E2E8F0"/>
            </a:solidFill>
            <a:prstDash val="dash"/>
          </a:ln>
        </p:spPr>
      </p:sp>
      <p:sp>
        <p:nvSpPr>
          <p:cNvPr id="34" name="Shape 31"/>
          <p:cNvSpPr/>
          <p:nvPr/>
        </p:nvSpPr>
        <p:spPr>
          <a:xfrm>
            <a:off x="457200" y="4462272"/>
            <a:ext cx="8229600" cy="347472"/>
          </a:xfrm>
          <a:prstGeom prst="rect">
            <a:avLst/>
          </a:prstGeom>
          <a:solidFill>
            <a:srgbClr val="FAEEDA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080" y="4480560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Science, Commerce, Arts — every stream has a path to a good career. </a:t>
            </a:r>
            <a:r>
              <a:rPr lang="en-US" sz="1200" b="1" dirty="0" err="1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Pehchaan</a:t>
            </a:r>
            <a:r>
              <a:rPr lang="en-US" sz="1200" b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helps you find yours.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4873752"/>
            <a:ext cx="1005840" cy="246888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6858000" y="4882896"/>
            <a:ext cx="2176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Pehchaancareers.in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2"/>
          <p:cNvSpPr/>
          <p:nvPr/>
        </p:nvSpPr>
        <p:spPr>
          <a:xfrm>
            <a:off x="1618488" y="1369377"/>
            <a:ext cx="5904000" cy="12801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0972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01168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with you. Every single step.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48640" y="731520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day you choose your stream — to the day you get your first salary — and beyond.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384048" y="1207008"/>
            <a:ext cx="123444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84048" y="120700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Class 10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42900" y="1661407"/>
            <a:ext cx="1325880" cy="50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choice.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Pehchaan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guides.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67128" y="1207008"/>
            <a:ext cx="123444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67128" y="120700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11th &amp; 12th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125980" y="1661407"/>
            <a:ext cx="1325880" cy="50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smart.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stay close.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950208" y="1207008"/>
            <a:ext cx="123444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950208" y="120700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College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909060" y="1661407"/>
            <a:ext cx="1325880" cy="50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degree.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direction.</a:t>
            </a:r>
            <a:endParaRPr lang="en-US" sz="1000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38FB3A7-AADD-5B83-A429-85C88DDCA3FE}"/>
              </a:ext>
            </a:extLst>
          </p:cNvPr>
          <p:cNvGrpSpPr/>
          <p:nvPr/>
        </p:nvGrpSpPr>
        <p:grpSpPr>
          <a:xfrm>
            <a:off x="168997" y="2196520"/>
            <a:ext cx="8856000" cy="432000"/>
            <a:chOff x="4966546" y="4366027"/>
            <a:chExt cx="1325880" cy="507725"/>
          </a:xfrm>
        </p:grpSpPr>
        <p:sp>
          <p:nvSpPr>
            <p:cNvPr id="17" name="Shape 14"/>
            <p:cNvSpPr/>
            <p:nvPr/>
          </p:nvSpPr>
          <p:spPr>
            <a:xfrm>
              <a:off x="5012266" y="4400096"/>
              <a:ext cx="1234440" cy="457200"/>
            </a:xfrm>
            <a:prstGeom prst="leftRightArrow">
              <a:avLst/>
            </a:prstGeom>
            <a:solidFill>
              <a:srgbClr val="1D9E75"/>
            </a:solidFill>
            <a:ln w="12700">
              <a:solidFill>
                <a:srgbClr val="1D9E75"/>
              </a:solidFill>
              <a:prstDash val="solid"/>
            </a:ln>
          </p:spPr>
        </p:sp>
        <p:sp>
          <p:nvSpPr>
            <p:cNvPr id="18" name="Text 15"/>
            <p:cNvSpPr/>
            <p:nvPr/>
          </p:nvSpPr>
          <p:spPr>
            <a:xfrm>
              <a:off x="4977045" y="4416552"/>
              <a:ext cx="1234440" cy="457200"/>
            </a:xfrm>
            <a:prstGeom prst="leftRightArrow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endParaRPr lang="en-US" sz="1100" dirty="0"/>
            </a:p>
          </p:txBody>
        </p:sp>
        <p:sp>
          <p:nvSpPr>
            <p:cNvPr id="20" name="Text 17"/>
            <p:cNvSpPr/>
            <p:nvPr/>
          </p:nvSpPr>
          <p:spPr>
            <a:xfrm>
              <a:off x="4966546" y="4366027"/>
              <a:ext cx="1325880" cy="504000"/>
            </a:xfrm>
            <a:prstGeom prst="leftRightArrow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Real skills…. </a:t>
              </a:r>
              <a:r>
                <a:rPr lang="en-US" sz="1000" b="1" dirty="0" err="1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Pehchaan</a:t>
              </a:r>
              <a:r>
                <a:rPr lang="en-US" sz="10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trains.</a:t>
              </a:r>
              <a:endParaRPr lang="en-US" sz="1000" dirty="0">
                <a:solidFill>
                  <a:schemeClr val="bg1"/>
                </a:solidFill>
              </a:endParaRPr>
            </a:p>
          </p:txBody>
        </p:sp>
      </p:grpSp>
      <p:sp>
        <p:nvSpPr>
          <p:cNvPr id="21" name="Shape 18"/>
          <p:cNvSpPr/>
          <p:nvPr/>
        </p:nvSpPr>
        <p:spPr>
          <a:xfrm>
            <a:off x="5733288" y="1207008"/>
            <a:ext cx="123444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733288" y="120700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First Job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692140" y="1661407"/>
            <a:ext cx="1325880" cy="50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prep.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walk in with you.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502977" y="1207008"/>
            <a:ext cx="123444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16368" y="120700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Growth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426233" y="1661407"/>
            <a:ext cx="1387929" cy="50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clarity.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celebrate together.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96485" y="2761267"/>
            <a:ext cx="360000" cy="128016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70805" y="2736834"/>
            <a:ext cx="993987" cy="1768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→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57200" y="2155108"/>
            <a:ext cx="8229600" cy="27432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96485" y="2992697"/>
            <a:ext cx="3931920" cy="1417320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79365" y="3084137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then — you become part of us.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679365" y="3477329"/>
            <a:ext cx="356616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get your first job, your first raise, your first promotion — you come back. Not as a student. As a guide. You help the next batch of students who are sitting exactly where you sat today.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794165" y="2992697"/>
            <a:ext cx="3931920" cy="1417320"/>
          </a:xfrm>
          <a:prstGeom prst="rect">
            <a:avLst/>
          </a:prstGeom>
          <a:solidFill>
            <a:srgbClr val="FAEEDA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977045" y="3084137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bigger than me.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4977045" y="3477329"/>
            <a:ext cx="356616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 err="1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Pehchaan</a:t>
            </a:r>
            <a:r>
              <a:rPr lang="en-US" sz="110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 only grow if you all grow with it. Every student we guide becomes a partner who guides the next one. This is not a business. This is a community built on one honest promise — nobody gets left behind for lack of guidance.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4873752"/>
            <a:ext cx="1005840" cy="246888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6858000" y="4882896"/>
            <a:ext cx="2176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Pehchaancareers.in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0972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</a:t>
            </a:r>
            <a:r>
              <a:rPr lang="en-US" sz="280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Pehchaan</a:t>
            </a: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914400"/>
            <a:ext cx="4023360" cy="3337560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05840"/>
            <a:ext cx="822960" cy="8229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54480" y="105156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classroom. Not a coaching </a:t>
            </a:r>
            <a:r>
              <a:rPr lang="en-US" sz="1300" b="1" dirty="0" err="1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</a:t>
            </a:r>
            <a:r>
              <a:rPr lang="en-US" sz="13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It’s a </a:t>
            </a:r>
            <a:r>
              <a:rPr lang="en-US" sz="1300" b="1" dirty="0" err="1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Commuuuuuunity</a:t>
            </a:r>
            <a:r>
              <a:rPr lang="en-US" sz="13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640080" y="1920240"/>
            <a:ext cx="36118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 err="1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Pehchaan</a:t>
            </a:r>
            <a:r>
              <a:rPr lang="en-US" sz="12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built by someone who spent </a:t>
            </a:r>
            <a:r>
              <a:rPr lang="en-US" sz="12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years</a:t>
            </a:r>
            <a:r>
              <a:rPr lang="en-US" sz="12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corporate India.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seen what companies hire. We know what skills get people promoted. We have seen who gets left behind — and why.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came back to tell you the things nobody told us.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4754880" y="914400"/>
            <a:ext cx="3931920" cy="3337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937760" y="102412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</a:t>
            </a:r>
            <a:r>
              <a:rPr lang="en-US" sz="130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Pehchaan</a:t>
            </a: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offers: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937760" y="1554480"/>
            <a:ext cx="128016" cy="128016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166360" y="146304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your passion — before choosing a path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937760" y="1975104"/>
            <a:ext cx="128016" cy="128016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166360" y="188366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for corporate, arts, music, marketing &amp; more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937760" y="2395728"/>
            <a:ext cx="128016" cy="128016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166360" y="230428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Experts from every field — not just one industry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937760" y="2816352"/>
            <a:ext cx="128016" cy="128016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166360" y="272491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studies abroad or MBA in India — we guide that too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937760" y="3236976"/>
            <a:ext cx="128016" cy="128016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166360" y="3145536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/ Traditional job path — when it genuinely makes sense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937760" y="3657600"/>
            <a:ext cx="128016" cy="128016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66360" y="356616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 choices for students and parents together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4873752"/>
            <a:ext cx="1005840" cy="24688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858000" y="4882896"/>
            <a:ext cx="2176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Pehchaancareers.in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0972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Pehchaan</a:t>
            </a: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not a placement agency.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48640" y="77724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here to push you into a job. We are here to help you find your path — whatever that looks like.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57200" y="1353312"/>
            <a:ext cx="265176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353312"/>
            <a:ext cx="91440" cy="84124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3990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career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170078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MNC, startup, BPO, analytics, operations, HR, finance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37560" y="1353312"/>
            <a:ext cx="265176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337560" y="1353312"/>
            <a:ext cx="91440" cy="841248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20440" y="13990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Arts &amp; creativity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520440" y="170078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music, film, content — real career paths exist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17920" y="1353312"/>
            <a:ext cx="265176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17920" y="1353312"/>
            <a:ext cx="91440" cy="84124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0" y="13990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sales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00800" y="170078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India's fastest-growing skill-based tracks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2313432"/>
            <a:ext cx="265176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7200" y="2313432"/>
            <a:ext cx="91440" cy="84124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23591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jobs / Politics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0080" y="266090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genuinely fits you — we help you plan it right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337560" y="2313432"/>
            <a:ext cx="265176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337560" y="2313432"/>
            <a:ext cx="91440" cy="84124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520440" y="23591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studies abroad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3520440" y="266090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Scholarships, universities, application prep — step by step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217920" y="2313432"/>
            <a:ext cx="265176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217920" y="2313432"/>
            <a:ext cx="91440" cy="841248"/>
          </a:xfrm>
          <a:prstGeom prst="rect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00800" y="23591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in India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400800" y="266090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college, which stream, when to go — real guidance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4462272"/>
            <a:ext cx="8229600" cy="34747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0080" y="4480560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partners and experts from every one of these fields.  </a:t>
            </a:r>
            <a:r>
              <a:rPr lang="en-US" sz="12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path. Your choice. Our guidance.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4873752"/>
            <a:ext cx="1005840" cy="246888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6858000" y="4882896"/>
            <a:ext cx="2176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Pehchaancareers.in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82880"/>
            <a:ext cx="1097280" cy="10972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84048" y="228600"/>
            <a:ext cx="7132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figured it out the hard way. You don't have to…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713232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one of you.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84048" y="1234440"/>
            <a:ext cx="109728" cy="10972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1143000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student in school. Got through 10th. Wanted to take Commerce — ended up in Maths somehow.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84048" y="1636776"/>
            <a:ext cx="109728" cy="10972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1545336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 12th — and nobody told me what to actually do next… Joined BSc.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84048" y="2039112"/>
            <a:ext cx="109728" cy="10972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1947672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C8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after 4 months. Joined BE. Completed engineering. Could not make it to campus placements.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84048" y="2441448"/>
            <a:ext cx="109728" cy="10972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2350008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Travelled to Delhi because my friends were going. Attended 30+ interviews… Started at HCL BPO.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84048" y="2843784"/>
            <a:ext cx="109728" cy="10972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" y="2752344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plan. No roadmap. Just figuring it out — one step at a time, through every hurdle.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84048" y="3246120"/>
            <a:ext cx="109728" cy="109728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59" y="3154680"/>
            <a:ext cx="8882743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15 years later… I think, I am doing well… And I keep thinking — </a:t>
            </a: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someone had shown me the path earlier?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8" name="Shape 15"/>
          <p:cNvSpPr/>
          <p:nvPr/>
        </p:nvSpPr>
        <p:spPr>
          <a:xfrm>
            <a:off x="384048" y="3639312"/>
            <a:ext cx="5943600" cy="274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84048" y="37490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why </a:t>
            </a:r>
            <a:r>
              <a:rPr lang="en-US" sz="1800" b="1" dirty="0" err="1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Pehchaan</a:t>
            </a:r>
            <a:r>
              <a:rPr lang="en-US" sz="1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exists.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384048" y="41605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So, you don't have to figure it all out alone.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F1524"/>
          </a:solidFill>
          <a:ln w="12700">
            <a:solidFill>
              <a:srgbClr val="0F1524"/>
            </a:solidFill>
            <a:prstDash val="solid"/>
          </a:ln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4873752"/>
            <a:ext cx="1005840" cy="24688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858000" y="4882896"/>
            <a:ext cx="2176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Pehchaancareers.in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0972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Next Step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48640" y="80467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you can do today: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475488" cy="6217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325880"/>
            <a:ext cx="4754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024128" y="1325880"/>
            <a:ext cx="7662672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88720" y="1371600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us on WhatsApp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88720" y="1645920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us your question — any question. We reply honestly.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2112264"/>
            <a:ext cx="475488" cy="62179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2112264"/>
            <a:ext cx="4754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1024128" y="2112264"/>
            <a:ext cx="7662672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88720" y="2157984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this with one friend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88720" y="2432304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you know needs to hear this. Send them to Pehchaancareers.in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2898648"/>
            <a:ext cx="475488" cy="621792"/>
          </a:xfrm>
          <a:prstGeom prst="rect">
            <a:avLst/>
          </a:prstGeom>
          <a:solidFill>
            <a:srgbClr val="533AB7"/>
          </a:solidFill>
          <a:ln w="12700">
            <a:solidFill>
              <a:srgbClr val="533AB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2898648"/>
            <a:ext cx="4754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1024128" y="2898648"/>
            <a:ext cx="7662672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88720" y="2944368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us on Instagram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188720" y="3218688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@Pehchaancareers — real guidance, no drama, no false promises.</a:t>
            </a:r>
            <a:endParaRPr lang="en-US" sz="12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0" y="4005072"/>
            <a:ext cx="3291840" cy="73152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4873752"/>
            <a:ext cx="1005840" cy="24688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858000" y="4882896"/>
            <a:ext cx="2176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Pehchaancareers.in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1471</Words>
  <Application>Microsoft Office PowerPoint</Application>
  <PresentationFormat>On-screen Show (16:9)</PresentationFormat>
  <Paragraphs>195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Pehchaan Careers – Student Session</dc:title>
  <dc:subject>PptxGenJS Presentation</dc:subject>
  <dc:creator>PptxGenJS</dc:creator>
  <cp:lastModifiedBy>Anant Tripathi</cp:lastModifiedBy>
  <cp:revision>18</cp:revision>
  <dcterms:created xsi:type="dcterms:W3CDTF">2026-04-28T11:45:50Z</dcterms:created>
  <dcterms:modified xsi:type="dcterms:W3CDTF">2026-04-29T06:28:15Z</dcterms:modified>
</cp:coreProperties>
</file>