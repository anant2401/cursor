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67" r:id="rId4"/>
    <p:sldId id="258" r:id="rId5"/>
    <p:sldId id="271" r:id="rId6"/>
    <p:sldId id="259" r:id="rId7"/>
    <p:sldId id="262" r:id="rId8"/>
    <p:sldId id="263" r:id="rId9"/>
    <p:sldId id="264" r:id="rId10"/>
    <p:sldId id="265" r:id="rId11"/>
    <p:sldId id="266" r:id="rId12"/>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ehchaan Intro" id="{D7C7AA99-01AB-4B09-B2F5-31B5EF413D64}">
          <p14:sldIdLst>
            <p14:sldId id="256"/>
            <p14:sldId id="257"/>
            <p14:sldId id="267"/>
            <p14:sldId id="258"/>
            <p14:sldId id="271"/>
            <p14:sldId id="259"/>
            <p14:sldId id="262"/>
            <p14:sldId id="263"/>
            <p14:sldId id="264"/>
            <p14:sldId id="265"/>
            <p14:sldId id="26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73" autoAdjust="0"/>
    <p:restoredTop sz="94610"/>
  </p:normalViewPr>
  <p:slideViewPr>
    <p:cSldViewPr snapToGrid="0" snapToObjects="1">
      <p:cViewPr>
        <p:scale>
          <a:sx n="100" d="100"/>
          <a:sy n="100" d="100"/>
        </p:scale>
        <p:origin x="763" y="34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330039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A2E"/>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640080" y="548640"/>
            <a:ext cx="2560320" cy="2560320"/>
          </a:xfrm>
          <a:prstGeom prst="rect">
            <a:avLst/>
          </a:prstGeom>
        </p:spPr>
      </p:pic>
      <p:sp>
        <p:nvSpPr>
          <p:cNvPr id="3" name="Shape 0"/>
          <p:cNvSpPr/>
          <p:nvPr/>
        </p:nvSpPr>
        <p:spPr>
          <a:xfrm>
            <a:off x="3657600" y="457200"/>
            <a:ext cx="27432" cy="4023360"/>
          </a:xfrm>
          <a:prstGeom prst="rect">
            <a:avLst/>
          </a:prstGeom>
          <a:solidFill>
            <a:srgbClr val="1D9E75"/>
          </a:solidFill>
          <a:ln w="12700">
            <a:solidFill>
              <a:srgbClr val="1D9E75"/>
            </a:solidFill>
            <a:prstDash val="solid"/>
          </a:ln>
        </p:spPr>
      </p:sp>
      <p:sp>
        <p:nvSpPr>
          <p:cNvPr id="4" name="Text 1"/>
          <p:cNvSpPr/>
          <p:nvPr/>
        </p:nvSpPr>
        <p:spPr>
          <a:xfrm>
            <a:off x="3931920" y="640080"/>
            <a:ext cx="5029200" cy="914400"/>
          </a:xfrm>
          <a:prstGeom prst="rect">
            <a:avLst/>
          </a:prstGeom>
          <a:noFill/>
          <a:ln/>
        </p:spPr>
        <p:txBody>
          <a:bodyPr wrap="square" rtlCol="0" anchor="ctr"/>
          <a:lstStyle/>
          <a:p>
            <a:pPr marL="0" indent="0">
              <a:buNone/>
            </a:pPr>
            <a:r>
              <a:rPr lang="en-US" sz="5200" dirty="0" err="1">
                <a:solidFill>
                  <a:srgbClr val="FFFFFF"/>
                </a:solidFill>
                <a:latin typeface="Calibri" pitchFamily="34" charset="0"/>
                <a:ea typeface="Calibri" pitchFamily="34" charset="-122"/>
                <a:cs typeface="Calibri" pitchFamily="34" charset="-120"/>
              </a:rPr>
              <a:t>Pehchaan</a:t>
            </a:r>
            <a:endParaRPr lang="en-US" sz="5200" dirty="0"/>
          </a:p>
        </p:txBody>
      </p:sp>
      <p:sp>
        <p:nvSpPr>
          <p:cNvPr id="5" name="Text 2"/>
          <p:cNvSpPr/>
          <p:nvPr/>
        </p:nvSpPr>
        <p:spPr>
          <a:xfrm>
            <a:off x="3977640" y="1600200"/>
            <a:ext cx="5029200" cy="411480"/>
          </a:xfrm>
          <a:prstGeom prst="rect">
            <a:avLst/>
          </a:prstGeom>
          <a:noFill/>
          <a:ln/>
        </p:spPr>
        <p:txBody>
          <a:bodyPr wrap="square" rtlCol="0" anchor="ctr"/>
          <a:lstStyle/>
          <a:p>
            <a:pPr marL="0" indent="0">
              <a:buNone/>
            </a:pPr>
            <a:r>
              <a:rPr lang="en-US" sz="1500" kern="0" spc="800" dirty="0">
                <a:solidFill>
                  <a:srgbClr val="1D9E75"/>
                </a:solidFill>
                <a:latin typeface="Calibri" pitchFamily="34" charset="0"/>
                <a:ea typeface="Calibri" pitchFamily="34" charset="-122"/>
                <a:cs typeface="Calibri" pitchFamily="34" charset="-120"/>
              </a:rPr>
              <a:t>CAREERS</a:t>
            </a:r>
            <a:endParaRPr lang="en-US" sz="1500" dirty="0"/>
          </a:p>
        </p:txBody>
      </p:sp>
      <p:sp>
        <p:nvSpPr>
          <p:cNvPr id="6" name="Text 3"/>
          <p:cNvSpPr/>
          <p:nvPr/>
        </p:nvSpPr>
        <p:spPr>
          <a:xfrm>
            <a:off x="3977640" y="2103120"/>
            <a:ext cx="5029200" cy="365760"/>
          </a:xfrm>
          <a:prstGeom prst="rect">
            <a:avLst/>
          </a:prstGeom>
          <a:noFill/>
          <a:ln/>
        </p:spPr>
        <p:txBody>
          <a:bodyPr wrap="square" rtlCol="0" anchor="ctr"/>
          <a:lstStyle/>
          <a:p>
            <a:pPr marL="0" indent="0">
              <a:buNone/>
            </a:pPr>
            <a:r>
              <a:rPr lang="en-US" sz="1400" i="1" dirty="0" err="1">
                <a:solidFill>
                  <a:srgbClr val="5DCAA5"/>
                </a:solidFill>
                <a:latin typeface="Calibri" pitchFamily="34" charset="0"/>
                <a:ea typeface="Calibri" pitchFamily="34" charset="-122"/>
                <a:cs typeface="Calibri" pitchFamily="34" charset="-120"/>
              </a:rPr>
              <a:t>आपकी पहचान, आपकी राह।</a:t>
            </a:r>
            <a:endParaRPr lang="en-US" sz="1400" dirty="0"/>
          </a:p>
        </p:txBody>
      </p:sp>
      <p:sp>
        <p:nvSpPr>
          <p:cNvPr id="7" name="Shape 4"/>
          <p:cNvSpPr/>
          <p:nvPr/>
        </p:nvSpPr>
        <p:spPr>
          <a:xfrm>
            <a:off x="3977640" y="2651760"/>
            <a:ext cx="3200400" cy="27432"/>
          </a:xfrm>
          <a:prstGeom prst="rect">
            <a:avLst/>
          </a:prstGeom>
          <a:solidFill>
            <a:srgbClr val="EF9F27"/>
          </a:solidFill>
          <a:ln w="12700">
            <a:solidFill>
              <a:srgbClr val="EF9F27"/>
            </a:solidFill>
            <a:prstDash val="solid"/>
          </a:ln>
        </p:spPr>
      </p:sp>
      <p:sp>
        <p:nvSpPr>
          <p:cNvPr id="8" name="Text 5"/>
          <p:cNvSpPr/>
          <p:nvPr/>
        </p:nvSpPr>
        <p:spPr>
          <a:xfrm>
            <a:off x="3977640" y="2788920"/>
            <a:ext cx="5029200" cy="365760"/>
          </a:xfrm>
          <a:prstGeom prst="rect">
            <a:avLst/>
          </a:prstGeom>
          <a:noFill/>
          <a:ln/>
        </p:spPr>
        <p:txBody>
          <a:bodyPr wrap="square" rtlCol="0" anchor="ctr"/>
          <a:lstStyle/>
          <a:p>
            <a:pPr marL="0" indent="0">
              <a:buNone/>
            </a:pPr>
            <a:r>
              <a:rPr lang="en-US" sz="1300" dirty="0">
                <a:solidFill>
                  <a:srgbClr val="9CA3AF"/>
                </a:solidFill>
                <a:latin typeface="Calibri" pitchFamily="34" charset="0"/>
                <a:ea typeface="Calibri" pitchFamily="34" charset="-122"/>
                <a:cs typeface="Calibri" pitchFamily="34" charset="-120"/>
              </a:rPr>
              <a:t>आपके करियर के बारे में 30 मिनट की ईमानदार बातचीत</a:t>
            </a:r>
            <a:endParaRPr lang="en-US" sz="1300" dirty="0"/>
          </a:p>
        </p:txBody>
      </p:sp>
      <p:sp>
        <p:nvSpPr>
          <p:cNvPr id="9" name="Shape 6"/>
          <p:cNvSpPr/>
          <p:nvPr/>
        </p:nvSpPr>
        <p:spPr>
          <a:xfrm>
            <a:off x="0" y="4864608"/>
            <a:ext cx="9144000" cy="278892"/>
          </a:xfrm>
          <a:prstGeom prst="rect">
            <a:avLst/>
          </a:prstGeom>
          <a:solidFill>
            <a:srgbClr val="0F1524"/>
          </a:solidFill>
          <a:ln w="12700">
            <a:solidFill>
              <a:srgbClr val="0F1524"/>
            </a:solidFill>
            <a:prstDash val="solid"/>
          </a:ln>
        </p:spPr>
      </p:sp>
      <p:pic>
        <p:nvPicPr>
          <p:cNvPr id="10" name="Image 1" descr="preencoded.png"/>
          <p:cNvPicPr>
            <a:picLocks noChangeAspect="1"/>
          </p:cNvPicPr>
          <p:nvPr/>
        </p:nvPicPr>
        <p:blipFill>
          <a:blip r:embed="rId4"/>
          <a:stretch>
            <a:fillRect/>
          </a:stretch>
        </p:blipFill>
        <p:spPr>
          <a:xfrm>
            <a:off x="109728" y="4873752"/>
            <a:ext cx="1005840" cy="246888"/>
          </a:xfrm>
          <a:prstGeom prst="rect">
            <a:avLst/>
          </a:prstGeom>
        </p:spPr>
      </p:pic>
      <p:sp>
        <p:nvSpPr>
          <p:cNvPr id="11" name="Text 7"/>
          <p:cNvSpPr/>
          <p:nvPr/>
        </p:nvSpPr>
        <p:spPr>
          <a:xfrm>
            <a:off x="6858000" y="4882896"/>
            <a:ext cx="2176272" cy="219456"/>
          </a:xfrm>
          <a:prstGeom prst="rect">
            <a:avLst/>
          </a:prstGeom>
          <a:noFill/>
          <a:ln/>
        </p:spPr>
        <p:txBody>
          <a:bodyPr wrap="square" rtlCol="0" anchor="ctr"/>
          <a:lstStyle/>
          <a:p>
            <a:pPr marL="0" indent="0" algn="r">
              <a:buNone/>
            </a:pPr>
            <a:r>
              <a:rPr lang="en-US" sz="900" dirty="0">
                <a:solidFill>
                  <a:srgbClr val="5DCAA5"/>
                </a:solidFill>
                <a:latin typeface="Calibri" pitchFamily="34" charset="0"/>
                <a:ea typeface="Calibri" pitchFamily="34" charset="-122"/>
                <a:cs typeface="Calibri" pitchFamily="34" charset="-120"/>
              </a:rPr>
              <a:t>Pehchaancareers.in</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8503920" y="109728"/>
            <a:ext cx="384048" cy="384048"/>
          </a:xfrm>
          <a:prstGeom prst="rect">
            <a:avLst/>
          </a:prstGeom>
        </p:spPr>
      </p:pic>
      <p:sp>
        <p:nvSpPr>
          <p:cNvPr id="3" name="Text 0"/>
          <p:cNvSpPr/>
          <p:nvPr/>
        </p:nvSpPr>
        <p:spPr>
          <a:xfrm>
            <a:off x="548640" y="320040"/>
            <a:ext cx="8046720" cy="548640"/>
          </a:xfrm>
          <a:prstGeom prst="rect">
            <a:avLst/>
          </a:prstGeom>
          <a:noFill/>
          <a:ln/>
        </p:spPr>
        <p:txBody>
          <a:bodyPr wrap="square" rtlCol="0" anchor="ctr"/>
          <a:lstStyle/>
          <a:p>
            <a:pPr marL="0" indent="0">
              <a:buNone/>
            </a:pPr>
            <a:r>
              <a:rPr lang="en-US" sz="3000" b="1" dirty="0">
                <a:solidFill>
                  <a:srgbClr val="1A1A2E"/>
                </a:solidFill>
                <a:latin typeface="Calibri" pitchFamily="34" charset="0"/>
                <a:ea typeface="Calibri" pitchFamily="34" charset="-122"/>
                <a:cs typeface="Calibri" pitchFamily="34" charset="-120"/>
              </a:rPr>
              <a:t>मुझे आपसे कुछ सीधा पूछना है।</a:t>
            </a:r>
            <a:endParaRPr lang="en-US" sz="3000" dirty="0"/>
          </a:p>
        </p:txBody>
      </p:sp>
      <p:sp>
        <p:nvSpPr>
          <p:cNvPr id="4" name="Shape 1"/>
          <p:cNvSpPr/>
          <p:nvPr/>
        </p:nvSpPr>
        <p:spPr>
          <a:xfrm>
            <a:off x="548640" y="1234440"/>
            <a:ext cx="164592" cy="164592"/>
          </a:xfrm>
          <a:prstGeom prst="ellipse">
            <a:avLst/>
          </a:prstGeom>
          <a:solidFill>
            <a:srgbClr val="1D9E75"/>
          </a:solidFill>
          <a:ln w="12700">
            <a:solidFill>
              <a:srgbClr val="1D9E75"/>
            </a:solidFill>
            <a:prstDash val="solid"/>
          </a:ln>
        </p:spPr>
      </p:sp>
      <p:sp>
        <p:nvSpPr>
          <p:cNvPr id="5" name="Text 2"/>
          <p:cNvSpPr/>
          <p:nvPr/>
        </p:nvSpPr>
        <p:spPr>
          <a:xfrm>
            <a:off x="868680" y="1143000"/>
            <a:ext cx="7772400" cy="457200"/>
          </a:xfrm>
          <a:prstGeom prst="rect">
            <a:avLst/>
          </a:prstGeom>
          <a:noFill/>
          <a:ln/>
        </p:spPr>
        <p:txBody>
          <a:bodyPr wrap="square" rtlCol="0" anchor="ctr"/>
          <a:lstStyle/>
          <a:p>
            <a:pPr marL="0" indent="0">
              <a:buNone/>
            </a:pPr>
            <a:r>
              <a:rPr lang="en-US" sz="1400" dirty="0">
                <a:solidFill>
                  <a:srgbClr val="1A1A2E"/>
                </a:solidFill>
                <a:latin typeface="Calibri" pitchFamily="34" charset="0"/>
                <a:ea typeface="Calibri" pitchFamily="34" charset="-122"/>
                <a:cs typeface="Calibri" pitchFamily="34" charset="-120"/>
              </a:rPr>
              <a:t>10वीं के बाद — क्या किसी ने बताया कि विषय चुनाव का आपके करियर पर क्या असर होता है?</a:t>
            </a:r>
            <a:endParaRPr lang="en-US" sz="1400" dirty="0"/>
          </a:p>
        </p:txBody>
      </p:sp>
      <p:sp>
        <p:nvSpPr>
          <p:cNvPr id="6" name="Shape 3"/>
          <p:cNvSpPr/>
          <p:nvPr/>
        </p:nvSpPr>
        <p:spPr>
          <a:xfrm>
            <a:off x="548640" y="1892808"/>
            <a:ext cx="164592" cy="164592"/>
          </a:xfrm>
          <a:prstGeom prst="ellipse">
            <a:avLst/>
          </a:prstGeom>
          <a:solidFill>
            <a:srgbClr val="1D9E75"/>
          </a:solidFill>
          <a:ln w="12700">
            <a:solidFill>
              <a:srgbClr val="1D9E75"/>
            </a:solidFill>
            <a:prstDash val="solid"/>
          </a:ln>
        </p:spPr>
      </p:sp>
      <p:sp>
        <p:nvSpPr>
          <p:cNvPr id="7" name="Text 4"/>
          <p:cNvSpPr/>
          <p:nvPr/>
        </p:nvSpPr>
        <p:spPr>
          <a:xfrm>
            <a:off x="868680" y="1801368"/>
            <a:ext cx="7772400" cy="457200"/>
          </a:xfrm>
          <a:prstGeom prst="rect">
            <a:avLst/>
          </a:prstGeom>
          <a:noFill/>
          <a:ln/>
        </p:spPr>
        <p:txBody>
          <a:bodyPr wrap="square" rtlCol="0" anchor="ctr"/>
          <a:lstStyle/>
          <a:p>
            <a:pPr marL="0" indent="0">
              <a:buNone/>
            </a:pPr>
            <a:r>
              <a:rPr lang="en-US" sz="1400" dirty="0">
                <a:solidFill>
                  <a:srgbClr val="1A1A2E"/>
                </a:solidFill>
                <a:latin typeface="Calibri" pitchFamily="34" charset="0"/>
                <a:ea typeface="Calibri" pitchFamily="34" charset="-122"/>
                <a:cs typeface="Calibri" pitchFamily="34" charset="-120"/>
              </a:rPr>
              <a:t>क्या किसी ने Maths, Bio और Commerce के बीच का असली फ़र्क समझाया?</a:t>
            </a:r>
            <a:endParaRPr lang="en-US" sz="1400" dirty="0"/>
          </a:p>
        </p:txBody>
      </p:sp>
      <p:sp>
        <p:nvSpPr>
          <p:cNvPr id="8" name="Shape 5"/>
          <p:cNvSpPr/>
          <p:nvPr/>
        </p:nvSpPr>
        <p:spPr>
          <a:xfrm>
            <a:off x="548640" y="2551176"/>
            <a:ext cx="164592" cy="164592"/>
          </a:xfrm>
          <a:prstGeom prst="ellipse">
            <a:avLst/>
          </a:prstGeom>
          <a:solidFill>
            <a:srgbClr val="1D9E75"/>
          </a:solidFill>
          <a:ln w="12700">
            <a:solidFill>
              <a:srgbClr val="1D9E75"/>
            </a:solidFill>
            <a:prstDash val="solid"/>
          </a:ln>
        </p:spPr>
      </p:sp>
      <p:sp>
        <p:nvSpPr>
          <p:cNvPr id="9" name="Text 6"/>
          <p:cNvSpPr/>
          <p:nvPr/>
        </p:nvSpPr>
        <p:spPr>
          <a:xfrm>
            <a:off x="868680" y="2459736"/>
            <a:ext cx="7772400" cy="457200"/>
          </a:xfrm>
          <a:prstGeom prst="rect">
            <a:avLst/>
          </a:prstGeom>
          <a:noFill/>
          <a:ln/>
        </p:spPr>
        <p:txBody>
          <a:bodyPr wrap="square" rtlCol="0" anchor="ctr"/>
          <a:lstStyle/>
          <a:p>
            <a:pPr marL="0" indent="0">
              <a:buNone/>
            </a:pPr>
            <a:r>
              <a:rPr lang="en-US" sz="1400" dirty="0">
                <a:solidFill>
                  <a:srgbClr val="1A1A2E"/>
                </a:solidFill>
                <a:latin typeface="Calibri" pitchFamily="34" charset="0"/>
                <a:ea typeface="Calibri" pitchFamily="34" charset="-122"/>
                <a:cs typeface="Calibri" pitchFamily="34" charset="-120"/>
              </a:rPr>
              <a:t>क्या किसी ने बताया कि बैंगलोर, पुणे, नोएडा जैसे शहरों में कौन-कौन सी नौकरियाँ हैं?</a:t>
            </a:r>
            <a:endParaRPr lang="en-US" sz="1400" dirty="0"/>
          </a:p>
        </p:txBody>
      </p:sp>
      <p:sp>
        <p:nvSpPr>
          <p:cNvPr id="10" name="Shape 7"/>
          <p:cNvSpPr/>
          <p:nvPr/>
        </p:nvSpPr>
        <p:spPr>
          <a:xfrm>
            <a:off x="548640" y="3209544"/>
            <a:ext cx="164592" cy="164592"/>
          </a:xfrm>
          <a:prstGeom prst="ellipse">
            <a:avLst/>
          </a:prstGeom>
          <a:solidFill>
            <a:srgbClr val="1D9E75"/>
          </a:solidFill>
          <a:ln w="12700">
            <a:solidFill>
              <a:srgbClr val="1D9E75"/>
            </a:solidFill>
            <a:prstDash val="solid"/>
          </a:ln>
        </p:spPr>
      </p:sp>
      <p:sp>
        <p:nvSpPr>
          <p:cNvPr id="11" name="Text 8"/>
          <p:cNvSpPr/>
          <p:nvPr/>
        </p:nvSpPr>
        <p:spPr>
          <a:xfrm>
            <a:off x="868680" y="3118104"/>
            <a:ext cx="7772400" cy="457200"/>
          </a:xfrm>
          <a:prstGeom prst="rect">
            <a:avLst/>
          </a:prstGeom>
          <a:noFill/>
          <a:ln/>
        </p:spPr>
        <p:txBody>
          <a:bodyPr wrap="square" rtlCol="0" anchor="ctr"/>
          <a:lstStyle/>
          <a:p>
            <a:pPr marL="0" indent="0">
              <a:buNone/>
            </a:pPr>
            <a:r>
              <a:rPr lang="en-US" sz="1400" dirty="0">
                <a:solidFill>
                  <a:srgbClr val="1A1A2E"/>
                </a:solidFill>
                <a:latin typeface="Calibri" pitchFamily="34" charset="0"/>
                <a:ea typeface="Calibri" pitchFamily="34" charset="-122"/>
                <a:cs typeface="Calibri" pitchFamily="34" charset="-120"/>
              </a:rPr>
              <a:t>क्या किसी ने बताया कि वहाँ कितनी कमाई होती है — और यहाँ से वहाँ कैसे पहुँचें?</a:t>
            </a:r>
            <a:endParaRPr lang="en-US" sz="1400" dirty="0"/>
          </a:p>
        </p:txBody>
      </p:sp>
      <p:sp>
        <p:nvSpPr>
          <p:cNvPr id="12" name="Shape 9"/>
          <p:cNvSpPr/>
          <p:nvPr/>
        </p:nvSpPr>
        <p:spPr>
          <a:xfrm>
            <a:off x="548640" y="4041648"/>
            <a:ext cx="8046720" cy="658368"/>
          </a:xfrm>
          <a:prstGeom prst="rect">
            <a:avLst/>
          </a:prstGeom>
          <a:solidFill>
            <a:srgbClr val="E1F5EE"/>
          </a:solidFill>
          <a:ln w="12700">
            <a:solidFill>
              <a:srgbClr val="1D9E75"/>
            </a:solidFill>
            <a:prstDash val="solid"/>
          </a:ln>
        </p:spPr>
      </p:sp>
      <p:sp>
        <p:nvSpPr>
          <p:cNvPr id="13" name="Text 10"/>
          <p:cNvSpPr/>
          <p:nvPr/>
        </p:nvSpPr>
        <p:spPr>
          <a:xfrm>
            <a:off x="731520" y="4087368"/>
            <a:ext cx="7680960" cy="566928"/>
          </a:xfrm>
          <a:prstGeom prst="rect">
            <a:avLst/>
          </a:prstGeom>
          <a:noFill/>
          <a:ln/>
        </p:spPr>
        <p:txBody>
          <a:bodyPr wrap="square" rtlCol="0" anchor="ctr"/>
          <a:lstStyle/>
          <a:p>
            <a:pPr marL="0" indent="0">
              <a:buNone/>
            </a:pPr>
            <a:r>
              <a:rPr lang="en-US" sz="1400" b="1" dirty="0">
                <a:solidFill>
                  <a:srgbClr val="085041"/>
                </a:solidFill>
                <a:latin typeface="Calibri" pitchFamily="34" charset="0"/>
                <a:ea typeface="Calibri" pitchFamily="34" charset="-122"/>
                <a:cs typeface="Calibri" pitchFamily="34" charset="-120"/>
              </a:rPr>
              <a:t>अगर जवाब NO है — तो यह आपकी गलती नहीं है। किसी को बताना ही नहीं था। आज, हम यही बदलेंगे।</a:t>
            </a:r>
            <a:endParaRPr lang="en-US" sz="1400" dirty="0"/>
          </a:p>
        </p:txBody>
      </p:sp>
      <p:sp>
        <p:nvSpPr>
          <p:cNvPr id="14" name="Shape 11"/>
          <p:cNvSpPr/>
          <p:nvPr/>
        </p:nvSpPr>
        <p:spPr>
          <a:xfrm>
            <a:off x="0" y="4864608"/>
            <a:ext cx="9144000" cy="278892"/>
          </a:xfrm>
          <a:prstGeom prst="rect">
            <a:avLst/>
          </a:prstGeom>
          <a:solidFill>
            <a:srgbClr val="E1F5EE"/>
          </a:solidFill>
          <a:ln w="12700">
            <a:solidFill>
              <a:srgbClr val="E1F5EE"/>
            </a:solidFill>
            <a:prstDash val="solid"/>
          </a:ln>
        </p:spPr>
      </p:sp>
      <p:pic>
        <p:nvPicPr>
          <p:cNvPr id="15" name="Image 1" descr="preencoded.png"/>
          <p:cNvPicPr>
            <a:picLocks noChangeAspect="1"/>
          </p:cNvPicPr>
          <p:nvPr/>
        </p:nvPicPr>
        <p:blipFill>
          <a:blip r:embed="rId4"/>
          <a:stretch>
            <a:fillRect/>
          </a:stretch>
        </p:blipFill>
        <p:spPr>
          <a:xfrm>
            <a:off x="109728" y="4873752"/>
            <a:ext cx="1005840" cy="246888"/>
          </a:xfrm>
          <a:prstGeom prst="rect">
            <a:avLst/>
          </a:prstGeom>
        </p:spPr>
      </p:pic>
      <p:sp>
        <p:nvSpPr>
          <p:cNvPr id="16" name="Text 12"/>
          <p:cNvSpPr/>
          <p:nvPr/>
        </p:nvSpPr>
        <p:spPr>
          <a:xfrm>
            <a:off x="6858000" y="4882896"/>
            <a:ext cx="2176272" cy="219456"/>
          </a:xfrm>
          <a:prstGeom prst="rect">
            <a:avLst/>
          </a:prstGeom>
          <a:noFill/>
          <a:ln/>
        </p:spPr>
        <p:txBody>
          <a:bodyPr wrap="square" rtlCol="0" anchor="ctr"/>
          <a:lstStyle/>
          <a:p>
            <a:pPr marL="0" indent="0" algn="r">
              <a:buNone/>
            </a:pPr>
            <a:r>
              <a:rPr lang="en-US" sz="900" dirty="0">
                <a:solidFill>
                  <a:srgbClr val="085041"/>
                </a:solidFill>
                <a:latin typeface="Calibri" pitchFamily="34" charset="0"/>
                <a:ea typeface="Calibri" pitchFamily="34" charset="-122"/>
                <a:cs typeface="Calibri" pitchFamily="34" charset="-120"/>
              </a:rPr>
              <a:t>Pehchaancareers.in</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8503920" y="109728"/>
            <a:ext cx="384048" cy="384048"/>
          </a:xfrm>
          <a:prstGeom prst="rect">
            <a:avLst/>
          </a:prstGeom>
        </p:spPr>
      </p:pic>
      <p:sp>
        <p:nvSpPr>
          <p:cNvPr id="3" name="Text 0"/>
          <p:cNvSpPr/>
          <p:nvPr/>
        </p:nvSpPr>
        <p:spPr>
          <a:xfrm>
            <a:off x="548640" y="228600"/>
            <a:ext cx="8046720" cy="548640"/>
          </a:xfrm>
          <a:prstGeom prst="rect">
            <a:avLst/>
          </a:prstGeom>
          <a:noFill/>
          <a:ln/>
        </p:spPr>
        <p:txBody>
          <a:bodyPr wrap="square" rtlCol="0" anchor="ctr"/>
          <a:lstStyle/>
          <a:p>
            <a:pPr marL="0" indent="0">
              <a:buNone/>
            </a:pPr>
            <a:r>
              <a:rPr lang="en-US" sz="2800" b="1" dirty="0">
                <a:solidFill>
                  <a:srgbClr val="1A1A2E"/>
                </a:solidFill>
                <a:latin typeface="Calibri" pitchFamily="34" charset="0"/>
                <a:ea typeface="Calibri" pitchFamily="34" charset="-122"/>
                <a:cs typeface="Calibri" pitchFamily="34" charset="-120"/>
              </a:rPr>
              <a:t>सरकारी नौकरी की असलियत जो कोई नहीं बताता</a:t>
            </a:r>
            <a:endParaRPr lang="en-US" sz="2800" dirty="0"/>
          </a:p>
        </p:txBody>
      </p:sp>
      <p:sp>
        <p:nvSpPr>
          <p:cNvPr id="4" name="Shape 1"/>
          <p:cNvSpPr/>
          <p:nvPr/>
        </p:nvSpPr>
        <p:spPr>
          <a:xfrm>
            <a:off x="457200" y="960120"/>
            <a:ext cx="2560320" cy="1463040"/>
          </a:xfrm>
          <a:prstGeom prst="rect">
            <a:avLst/>
          </a:prstGeom>
          <a:solidFill>
            <a:srgbClr val="FCEBEB"/>
          </a:solidFill>
          <a:ln w="12700">
            <a:solidFill>
              <a:srgbClr val="E24B4A"/>
            </a:solidFill>
            <a:prstDash val="solid"/>
          </a:ln>
        </p:spPr>
      </p:sp>
      <p:sp>
        <p:nvSpPr>
          <p:cNvPr id="5" name="Text 2"/>
          <p:cNvSpPr/>
          <p:nvPr/>
        </p:nvSpPr>
        <p:spPr>
          <a:xfrm>
            <a:off x="548640" y="1051560"/>
            <a:ext cx="2377440" cy="548640"/>
          </a:xfrm>
          <a:prstGeom prst="rect">
            <a:avLst/>
          </a:prstGeom>
          <a:noFill/>
          <a:ln/>
        </p:spPr>
        <p:txBody>
          <a:bodyPr wrap="square" rtlCol="0" anchor="ctr"/>
          <a:lstStyle/>
          <a:p>
            <a:pPr marL="0" indent="0" algn="ctr">
              <a:buNone/>
            </a:pPr>
            <a:r>
              <a:rPr lang="en-US" sz="3000" b="1" dirty="0">
                <a:solidFill>
                  <a:srgbClr val="E24B4A"/>
                </a:solidFill>
                <a:latin typeface="Calibri" pitchFamily="34" charset="0"/>
                <a:ea typeface="Calibri" pitchFamily="34" charset="-122"/>
                <a:cs typeface="Calibri" pitchFamily="34" charset="-120"/>
              </a:rPr>
              <a:t>35 Lakh</a:t>
            </a:r>
            <a:endParaRPr lang="en-US" sz="3000" dirty="0"/>
          </a:p>
        </p:txBody>
      </p:sp>
      <p:sp>
        <p:nvSpPr>
          <p:cNvPr id="6" name="Text 3"/>
          <p:cNvSpPr/>
          <p:nvPr/>
        </p:nvSpPr>
        <p:spPr>
          <a:xfrm>
            <a:off x="548640" y="1645920"/>
            <a:ext cx="2377440" cy="365760"/>
          </a:xfrm>
          <a:prstGeom prst="rect">
            <a:avLst/>
          </a:prstGeom>
          <a:noFill/>
          <a:ln/>
        </p:spPr>
        <p:txBody>
          <a:bodyPr wrap="square" rtlCol="0" anchor="ctr"/>
          <a:lstStyle/>
          <a:p>
            <a:pPr marL="0" indent="0" algn="ctr">
              <a:buNone/>
            </a:pPr>
            <a:r>
              <a:rPr lang="en-US" sz="1200" dirty="0">
                <a:solidFill>
                  <a:srgbClr val="1A1A2E"/>
                </a:solidFill>
                <a:latin typeface="Calibri" pitchFamily="34" charset="0"/>
                <a:ea typeface="Calibri" pitchFamily="34" charset="-122"/>
                <a:cs typeface="Calibri" pitchFamily="34" charset="-120"/>
              </a:rPr>
              <a:t>SSC CGL 2024 में आवेदक</a:t>
            </a:r>
            <a:endParaRPr lang="en-US" sz="1200" dirty="0"/>
          </a:p>
        </p:txBody>
      </p:sp>
      <p:sp>
        <p:nvSpPr>
          <p:cNvPr id="7" name="Text 4"/>
          <p:cNvSpPr/>
          <p:nvPr/>
        </p:nvSpPr>
        <p:spPr>
          <a:xfrm>
            <a:off x="548640" y="2011680"/>
            <a:ext cx="2377440" cy="274320"/>
          </a:xfrm>
          <a:prstGeom prst="rect">
            <a:avLst/>
          </a:prstGeom>
          <a:noFill/>
          <a:ln/>
        </p:spPr>
        <p:txBody>
          <a:bodyPr wrap="square" rtlCol="0" anchor="ctr"/>
          <a:lstStyle/>
          <a:p>
            <a:pPr marL="0" indent="0" algn="ctr">
              <a:buNone/>
            </a:pPr>
            <a:r>
              <a:rPr lang="en-US" sz="1100" i="1" dirty="0">
                <a:solidFill>
                  <a:srgbClr val="64748B"/>
                </a:solidFill>
                <a:latin typeface="Calibri" pitchFamily="34" charset="0"/>
                <a:ea typeface="Calibri" pitchFamily="34" charset="-122"/>
                <a:cs typeface="Calibri" pitchFamily="34" charset="-120"/>
              </a:rPr>
              <a:t>सिर्फ एक परीक्षा</a:t>
            </a:r>
            <a:endParaRPr lang="en-US" sz="1100" dirty="0"/>
          </a:p>
        </p:txBody>
      </p:sp>
      <p:sp>
        <p:nvSpPr>
          <p:cNvPr id="8" name="Shape 5"/>
          <p:cNvSpPr/>
          <p:nvPr/>
        </p:nvSpPr>
        <p:spPr>
          <a:xfrm>
            <a:off x="3291840" y="960120"/>
            <a:ext cx="2560320" cy="1463040"/>
          </a:xfrm>
          <a:prstGeom prst="rect">
            <a:avLst/>
          </a:prstGeom>
          <a:solidFill>
            <a:srgbClr val="FCEBEB"/>
          </a:solidFill>
          <a:ln w="12700">
            <a:solidFill>
              <a:srgbClr val="E24B4A"/>
            </a:solidFill>
            <a:prstDash val="solid"/>
          </a:ln>
        </p:spPr>
      </p:sp>
      <p:sp>
        <p:nvSpPr>
          <p:cNvPr id="9" name="Text 6"/>
          <p:cNvSpPr/>
          <p:nvPr/>
        </p:nvSpPr>
        <p:spPr>
          <a:xfrm>
            <a:off x="3383280" y="1051560"/>
            <a:ext cx="2377440" cy="548640"/>
          </a:xfrm>
          <a:prstGeom prst="rect">
            <a:avLst/>
          </a:prstGeom>
          <a:noFill/>
          <a:ln/>
        </p:spPr>
        <p:txBody>
          <a:bodyPr wrap="square" rtlCol="0" anchor="ctr"/>
          <a:lstStyle/>
          <a:p>
            <a:pPr marL="0" indent="0" algn="ctr">
              <a:buNone/>
            </a:pPr>
            <a:r>
              <a:rPr lang="en-US" sz="3000" b="1" dirty="0">
                <a:solidFill>
                  <a:srgbClr val="E24B4A"/>
                </a:solidFill>
                <a:latin typeface="Calibri" pitchFamily="34" charset="0"/>
                <a:ea typeface="Calibri" pitchFamily="34" charset="-122"/>
                <a:cs typeface="Calibri" pitchFamily="34" charset="-120"/>
              </a:rPr>
              <a:t>8,000</a:t>
            </a:r>
            <a:endParaRPr lang="en-US" sz="3000" dirty="0"/>
          </a:p>
        </p:txBody>
      </p:sp>
      <p:sp>
        <p:nvSpPr>
          <p:cNvPr id="10" name="Text 7"/>
          <p:cNvSpPr/>
          <p:nvPr/>
        </p:nvSpPr>
        <p:spPr>
          <a:xfrm>
            <a:off x="3383280" y="1645920"/>
            <a:ext cx="2377440" cy="365760"/>
          </a:xfrm>
          <a:prstGeom prst="rect">
            <a:avLst/>
          </a:prstGeom>
          <a:noFill/>
          <a:ln/>
        </p:spPr>
        <p:txBody>
          <a:bodyPr wrap="square" rtlCol="0" anchor="ctr"/>
          <a:lstStyle/>
          <a:p>
            <a:pPr marL="0" indent="0" algn="ctr">
              <a:buNone/>
            </a:pPr>
            <a:r>
              <a:rPr lang="en-US" sz="1200" dirty="0">
                <a:solidFill>
                  <a:srgbClr val="1A1A2E"/>
                </a:solidFill>
                <a:latin typeface="Calibri" pitchFamily="34" charset="0"/>
                <a:ea typeface="Calibri" pitchFamily="34" charset="-122"/>
                <a:cs typeface="Calibri" pitchFamily="34" charset="-120"/>
              </a:rPr>
              <a:t>कुल उपलब्ध पद</a:t>
            </a:r>
            <a:endParaRPr lang="en-US" sz="1200" dirty="0"/>
          </a:p>
        </p:txBody>
      </p:sp>
      <p:sp>
        <p:nvSpPr>
          <p:cNvPr id="11" name="Text 8"/>
          <p:cNvSpPr/>
          <p:nvPr/>
        </p:nvSpPr>
        <p:spPr>
          <a:xfrm>
            <a:off x="3383280" y="2011680"/>
            <a:ext cx="2377440" cy="274320"/>
          </a:xfrm>
          <a:prstGeom prst="rect">
            <a:avLst/>
          </a:prstGeom>
          <a:noFill/>
          <a:ln/>
        </p:spPr>
        <p:txBody>
          <a:bodyPr wrap="square" rtlCol="0" anchor="ctr"/>
          <a:lstStyle/>
          <a:p>
            <a:pPr marL="0" indent="0" algn="ctr">
              <a:buNone/>
            </a:pPr>
            <a:r>
              <a:rPr lang="en-US" sz="1100" i="1" dirty="0">
                <a:solidFill>
                  <a:srgbClr val="64748B"/>
                </a:solidFill>
                <a:latin typeface="Calibri" pitchFamily="34" charset="0"/>
                <a:ea typeface="Calibri" pitchFamily="34" charset="-122"/>
                <a:cs typeface="Calibri" pitchFamily="34" charset="-120"/>
              </a:rPr>
              <a:t>यानी 0.02% चयन दर</a:t>
            </a:r>
            <a:endParaRPr lang="en-US" sz="1100" dirty="0"/>
          </a:p>
        </p:txBody>
      </p:sp>
      <p:sp>
        <p:nvSpPr>
          <p:cNvPr id="12" name="Shape 9"/>
          <p:cNvSpPr/>
          <p:nvPr/>
        </p:nvSpPr>
        <p:spPr>
          <a:xfrm>
            <a:off x="6126480" y="960120"/>
            <a:ext cx="2560320" cy="1463040"/>
          </a:xfrm>
          <a:prstGeom prst="rect">
            <a:avLst/>
          </a:prstGeom>
          <a:solidFill>
            <a:srgbClr val="FCEBEB"/>
          </a:solidFill>
          <a:ln w="12700">
            <a:solidFill>
              <a:srgbClr val="E24B4A"/>
            </a:solidFill>
            <a:prstDash val="solid"/>
          </a:ln>
        </p:spPr>
      </p:sp>
      <p:sp>
        <p:nvSpPr>
          <p:cNvPr id="13" name="Text 10"/>
          <p:cNvSpPr/>
          <p:nvPr/>
        </p:nvSpPr>
        <p:spPr>
          <a:xfrm>
            <a:off x="6217920" y="1051560"/>
            <a:ext cx="2377440" cy="548640"/>
          </a:xfrm>
          <a:prstGeom prst="rect">
            <a:avLst/>
          </a:prstGeom>
          <a:noFill/>
          <a:ln/>
        </p:spPr>
        <p:txBody>
          <a:bodyPr wrap="square" rtlCol="0" anchor="ctr"/>
          <a:lstStyle/>
          <a:p>
            <a:pPr marL="0" indent="0" algn="ctr">
              <a:buNone/>
            </a:pPr>
            <a:r>
              <a:rPr lang="en-US" sz="3000" b="1" dirty="0">
                <a:solidFill>
                  <a:srgbClr val="E24B4A"/>
                </a:solidFill>
                <a:latin typeface="Calibri" pitchFamily="34" charset="0"/>
                <a:ea typeface="Calibri" pitchFamily="34" charset="-122"/>
                <a:cs typeface="Calibri" pitchFamily="34" charset="-120"/>
              </a:rPr>
              <a:t>190:1</a:t>
            </a:r>
            <a:endParaRPr lang="en-US" sz="3000" dirty="0"/>
          </a:p>
        </p:txBody>
      </p:sp>
      <p:sp>
        <p:nvSpPr>
          <p:cNvPr id="14" name="Text 11"/>
          <p:cNvSpPr/>
          <p:nvPr/>
        </p:nvSpPr>
        <p:spPr>
          <a:xfrm>
            <a:off x="6217920" y="1645920"/>
            <a:ext cx="2377440" cy="365760"/>
          </a:xfrm>
          <a:prstGeom prst="rect">
            <a:avLst/>
          </a:prstGeom>
          <a:noFill/>
          <a:ln/>
        </p:spPr>
        <p:txBody>
          <a:bodyPr wrap="square" rtlCol="0" anchor="ctr"/>
          <a:lstStyle/>
          <a:p>
            <a:pPr marL="0" indent="0" algn="ctr">
              <a:buNone/>
            </a:pPr>
            <a:r>
              <a:rPr lang="en-US" sz="1200" dirty="0">
                <a:solidFill>
                  <a:srgbClr val="1A1A2E"/>
                </a:solidFill>
                <a:latin typeface="Calibri" pitchFamily="34" charset="0"/>
                <a:ea typeface="Calibri" pitchFamily="34" charset="-122"/>
                <a:cs typeface="Calibri" pitchFamily="34" charset="-120"/>
              </a:rPr>
              <a:t>एक पद पर आवेदक</a:t>
            </a:r>
            <a:endParaRPr lang="en-US" sz="1200" dirty="0"/>
          </a:p>
        </p:txBody>
      </p:sp>
      <p:sp>
        <p:nvSpPr>
          <p:cNvPr id="15" name="Text 12"/>
          <p:cNvSpPr/>
          <p:nvPr/>
        </p:nvSpPr>
        <p:spPr>
          <a:xfrm>
            <a:off x="6217920" y="2011680"/>
            <a:ext cx="2377440" cy="274320"/>
          </a:xfrm>
          <a:prstGeom prst="rect">
            <a:avLst/>
          </a:prstGeom>
          <a:noFill/>
          <a:ln/>
        </p:spPr>
        <p:txBody>
          <a:bodyPr wrap="square" rtlCol="0" anchor="ctr"/>
          <a:lstStyle/>
          <a:p>
            <a:pPr marL="0" indent="0" algn="ctr">
              <a:buNone/>
            </a:pPr>
            <a:r>
              <a:rPr lang="en-US" sz="1100" i="1" dirty="0">
                <a:solidFill>
                  <a:srgbClr val="64748B"/>
                </a:solidFill>
                <a:latin typeface="Calibri" pitchFamily="34" charset="0"/>
                <a:ea typeface="Calibri" pitchFamily="34" charset="-122"/>
                <a:cs typeface="Calibri" pitchFamily="34" charset="-120"/>
              </a:rPr>
              <a:t>SSC MTS अनुपात 2024</a:t>
            </a:r>
            <a:endParaRPr lang="en-US" sz="1100" dirty="0"/>
          </a:p>
        </p:txBody>
      </p:sp>
      <p:sp>
        <p:nvSpPr>
          <p:cNvPr id="16" name="Shape 13"/>
          <p:cNvSpPr/>
          <p:nvPr/>
        </p:nvSpPr>
        <p:spPr>
          <a:xfrm>
            <a:off x="457200" y="2651760"/>
            <a:ext cx="8229600" cy="566928"/>
          </a:xfrm>
          <a:prstGeom prst="rect">
            <a:avLst/>
          </a:prstGeom>
          <a:solidFill>
            <a:srgbClr val="FAEEDA"/>
          </a:solidFill>
          <a:ln w="12700">
            <a:solidFill>
              <a:srgbClr val="EF9F27"/>
            </a:solidFill>
            <a:prstDash val="solid"/>
          </a:ln>
        </p:spPr>
      </p:sp>
      <p:sp>
        <p:nvSpPr>
          <p:cNvPr id="17" name="Text 14"/>
          <p:cNvSpPr/>
          <p:nvPr/>
        </p:nvSpPr>
        <p:spPr>
          <a:xfrm>
            <a:off x="457200" y="2697480"/>
            <a:ext cx="8229600" cy="475488"/>
          </a:xfrm>
          <a:prstGeom prst="rect">
            <a:avLst/>
          </a:prstGeom>
          <a:noFill/>
          <a:ln/>
        </p:spPr>
        <p:txBody>
          <a:bodyPr wrap="square" rtlCol="0" anchor="ctr"/>
          <a:lstStyle/>
          <a:p>
            <a:pPr marL="0" indent="0">
              <a:buNone/>
            </a:pPr>
            <a:r>
              <a:rPr lang="en-US" sz="1300" dirty="0">
                <a:solidFill>
                  <a:srgbClr val="633806"/>
                </a:solidFill>
                <a:latin typeface="Calibri" pitchFamily="34" charset="0"/>
                <a:ea typeface="Calibri" pitchFamily="34" charset="-122"/>
                <a:cs typeface="Calibri" pitchFamily="34" charset="-120"/>
              </a:rPr>
              <a:t>असली उदाहरण: UP में 368 'चपरासी' पदों के लिए 23 लाख लोगों ने आवेदन किया। यानी एक सीट के लिए 62,500 लोगों की होड़।</a:t>
            </a:r>
            <a:endParaRPr lang="en-US" sz="1300" dirty="0"/>
          </a:p>
        </p:txBody>
      </p:sp>
      <p:sp>
        <p:nvSpPr>
          <p:cNvPr id="18" name="Text 15"/>
          <p:cNvSpPr/>
          <p:nvPr/>
        </p:nvSpPr>
        <p:spPr>
          <a:xfrm>
            <a:off x="548640" y="3429000"/>
            <a:ext cx="8046720" cy="411480"/>
          </a:xfrm>
          <a:prstGeom prst="rect">
            <a:avLst/>
          </a:prstGeom>
          <a:noFill/>
          <a:ln/>
        </p:spPr>
        <p:txBody>
          <a:bodyPr wrap="square" rtlCol="0" anchor="ctr"/>
          <a:lstStyle/>
          <a:p>
            <a:pPr marL="0" indent="0">
              <a:buNone/>
            </a:pPr>
            <a:r>
              <a:rPr lang="en-US" sz="1400" b="1" dirty="0">
                <a:solidFill>
                  <a:srgbClr val="1A1A2E"/>
                </a:solidFill>
                <a:latin typeface="Calibri" pitchFamily="34" charset="0"/>
                <a:ea typeface="Calibri" pitchFamily="34" charset="-122"/>
                <a:cs typeface="Calibri" pitchFamily="34" charset="-120"/>
              </a:rPr>
              <a:t>ज़्यादातर छात्रों के लिए सरकारी नौकरी का इंतज़ार उस ज़िंदगी का इंतज़ार है जो शायद कभी न आए।</a:t>
            </a:r>
            <a:endParaRPr lang="en-US" sz="1400" dirty="0"/>
          </a:p>
        </p:txBody>
      </p:sp>
      <p:sp>
        <p:nvSpPr>
          <p:cNvPr id="19" name="Text 16"/>
          <p:cNvSpPr/>
          <p:nvPr/>
        </p:nvSpPr>
        <p:spPr>
          <a:xfrm>
            <a:off x="548640" y="4572000"/>
            <a:ext cx="7315200" cy="228600"/>
          </a:xfrm>
          <a:prstGeom prst="rect">
            <a:avLst/>
          </a:prstGeom>
          <a:noFill/>
          <a:ln/>
        </p:spPr>
        <p:txBody>
          <a:bodyPr wrap="square" rtlCol="0" anchor="ctr"/>
          <a:lstStyle/>
          <a:p>
            <a:pPr marL="0" indent="0">
              <a:buNone/>
            </a:pPr>
            <a:r>
              <a:rPr lang="en-US" sz="900" i="1" dirty="0">
                <a:solidFill>
                  <a:srgbClr val="64748B"/>
                </a:solidFill>
                <a:latin typeface="Calibri" pitchFamily="34" charset="0"/>
                <a:ea typeface="Calibri" pitchFamily="34" charset="-122"/>
                <a:cs typeface="Calibri" pitchFamily="34" charset="-120"/>
              </a:rPr>
              <a:t>Source: SSC CGL 2024 official data | FEE.org India Labour Research</a:t>
            </a:r>
            <a:endParaRPr lang="en-US" sz="900" dirty="0"/>
          </a:p>
        </p:txBody>
      </p:sp>
      <p:sp>
        <p:nvSpPr>
          <p:cNvPr id="20" name="Shape 17"/>
          <p:cNvSpPr/>
          <p:nvPr/>
        </p:nvSpPr>
        <p:spPr>
          <a:xfrm>
            <a:off x="0" y="4864608"/>
            <a:ext cx="9144000" cy="278892"/>
          </a:xfrm>
          <a:prstGeom prst="rect">
            <a:avLst/>
          </a:prstGeom>
          <a:solidFill>
            <a:srgbClr val="E1F5EE"/>
          </a:solidFill>
          <a:ln w="12700">
            <a:solidFill>
              <a:srgbClr val="E1F5EE"/>
            </a:solidFill>
            <a:prstDash val="solid"/>
          </a:ln>
        </p:spPr>
      </p:sp>
      <p:pic>
        <p:nvPicPr>
          <p:cNvPr id="21" name="Image 1" descr="preencoded.png"/>
          <p:cNvPicPr>
            <a:picLocks noChangeAspect="1"/>
          </p:cNvPicPr>
          <p:nvPr/>
        </p:nvPicPr>
        <p:blipFill>
          <a:blip r:embed="rId4"/>
          <a:stretch>
            <a:fillRect/>
          </a:stretch>
        </p:blipFill>
        <p:spPr>
          <a:xfrm>
            <a:off x="109728" y="4873752"/>
            <a:ext cx="1005840" cy="246888"/>
          </a:xfrm>
          <a:prstGeom prst="rect">
            <a:avLst/>
          </a:prstGeom>
        </p:spPr>
      </p:pic>
      <p:sp>
        <p:nvSpPr>
          <p:cNvPr id="22" name="Text 18"/>
          <p:cNvSpPr/>
          <p:nvPr/>
        </p:nvSpPr>
        <p:spPr>
          <a:xfrm>
            <a:off x="6858000" y="4882896"/>
            <a:ext cx="2176272" cy="219456"/>
          </a:xfrm>
          <a:prstGeom prst="rect">
            <a:avLst/>
          </a:prstGeom>
          <a:noFill/>
          <a:ln/>
        </p:spPr>
        <p:txBody>
          <a:bodyPr wrap="square" rtlCol="0" anchor="ctr"/>
          <a:lstStyle/>
          <a:p>
            <a:pPr marL="0" indent="0" algn="r">
              <a:buNone/>
            </a:pPr>
            <a:r>
              <a:rPr lang="en-US" sz="900" dirty="0">
                <a:solidFill>
                  <a:srgbClr val="085041"/>
                </a:solidFill>
                <a:latin typeface="Calibri" pitchFamily="34" charset="0"/>
                <a:ea typeface="Calibri" pitchFamily="34" charset="-122"/>
                <a:cs typeface="Calibri" pitchFamily="34" charset="-120"/>
              </a:rPr>
              <a:t>Pehchaancareers.in</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8503920" y="109728"/>
            <a:ext cx="384048" cy="384048"/>
          </a:xfrm>
          <a:prstGeom prst="rect">
            <a:avLst/>
          </a:prstGeom>
        </p:spPr>
      </p:pic>
      <p:sp>
        <p:nvSpPr>
          <p:cNvPr id="3" name="Text 0"/>
          <p:cNvSpPr/>
          <p:nvPr/>
        </p:nvSpPr>
        <p:spPr>
          <a:xfrm>
            <a:off x="548640" y="201168"/>
            <a:ext cx="8046720" cy="502920"/>
          </a:xfrm>
          <a:prstGeom prst="rect">
            <a:avLst/>
          </a:prstGeom>
          <a:noFill/>
          <a:ln/>
        </p:spPr>
        <p:txBody>
          <a:bodyPr wrap="square" rtlCol="0" anchor="ctr"/>
          <a:lstStyle/>
          <a:p>
            <a:pPr marL="0" indent="0">
              <a:buNone/>
            </a:pPr>
            <a:r>
              <a:rPr lang="en-US" sz="2600" b="1" dirty="0">
                <a:solidFill>
                  <a:srgbClr val="1A1A2E"/>
                </a:solidFill>
                <a:latin typeface="Calibri" pitchFamily="34" charset="0"/>
                <a:ea typeface="Calibri" pitchFamily="34" charset="-122"/>
                <a:cs typeface="Calibri" pitchFamily="34" charset="-120"/>
              </a:rPr>
              <a:t>हम जहाँ हैं और नौकरियाँ जहाँ हैं — वह खाई</a:t>
            </a:r>
            <a:endParaRPr lang="en-US" sz="2600" dirty="0"/>
          </a:p>
        </p:txBody>
      </p:sp>
      <p:sp>
        <p:nvSpPr>
          <p:cNvPr id="4" name="Shape 1"/>
          <p:cNvSpPr/>
          <p:nvPr/>
        </p:nvSpPr>
        <p:spPr>
          <a:xfrm>
            <a:off x="457200" y="804672"/>
            <a:ext cx="4023360" cy="347472"/>
          </a:xfrm>
          <a:prstGeom prst="rect">
            <a:avLst/>
          </a:prstGeom>
          <a:solidFill>
            <a:srgbClr val="E24B4A"/>
          </a:solidFill>
          <a:ln w="12700">
            <a:solidFill>
              <a:srgbClr val="E24B4A"/>
            </a:solidFill>
            <a:prstDash val="solid"/>
          </a:ln>
        </p:spPr>
      </p:sp>
      <p:sp>
        <p:nvSpPr>
          <p:cNvPr id="5" name="Text 2"/>
          <p:cNvSpPr/>
          <p:nvPr/>
        </p:nvSpPr>
        <p:spPr>
          <a:xfrm>
            <a:off x="457200" y="804672"/>
            <a:ext cx="4023360" cy="347472"/>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छत्तीसगढ़ — ज़मीनी हकीकत</a:t>
            </a:r>
            <a:endParaRPr lang="en-US" sz="1200" dirty="0"/>
          </a:p>
        </p:txBody>
      </p:sp>
      <p:grpSp>
        <p:nvGrpSpPr>
          <p:cNvPr id="49" name="Group 48">
            <a:extLst>
              <a:ext uri="{FF2B5EF4-FFF2-40B4-BE49-F238E27FC236}">
                <a16:creationId xmlns:a16="http://schemas.microsoft.com/office/drawing/2014/main" id="{172638C6-68FF-4DE4-CBA4-7052E4D2639F}"/>
              </a:ext>
            </a:extLst>
          </p:cNvPr>
          <p:cNvGrpSpPr/>
          <p:nvPr/>
        </p:nvGrpSpPr>
        <p:grpSpPr>
          <a:xfrm>
            <a:off x="457632" y="1269881"/>
            <a:ext cx="1207008" cy="1404000"/>
            <a:chOff x="457632" y="1269881"/>
            <a:chExt cx="1207008" cy="1404000"/>
          </a:xfrm>
        </p:grpSpPr>
        <p:sp>
          <p:nvSpPr>
            <p:cNvPr id="6" name="Shape 3"/>
            <p:cNvSpPr/>
            <p:nvPr/>
          </p:nvSpPr>
          <p:spPr>
            <a:xfrm>
              <a:off x="457632" y="1269881"/>
              <a:ext cx="1207008" cy="1404000"/>
            </a:xfrm>
            <a:prstGeom prst="rect">
              <a:avLst/>
            </a:prstGeom>
            <a:solidFill>
              <a:srgbClr val="FCEBEB"/>
            </a:solidFill>
            <a:ln w="12700">
              <a:solidFill>
                <a:srgbClr val="E24B4A"/>
              </a:solidFill>
              <a:prstDash val="solid"/>
            </a:ln>
          </p:spPr>
        </p:sp>
        <p:sp>
          <p:nvSpPr>
            <p:cNvPr id="7" name="Text 4"/>
            <p:cNvSpPr/>
            <p:nvPr/>
          </p:nvSpPr>
          <p:spPr>
            <a:xfrm>
              <a:off x="503352" y="1333889"/>
              <a:ext cx="1115568" cy="438912"/>
            </a:xfrm>
            <a:prstGeom prst="rect">
              <a:avLst/>
            </a:prstGeom>
            <a:noFill/>
            <a:ln/>
          </p:spPr>
          <p:txBody>
            <a:bodyPr wrap="square" rtlCol="0" anchor="ctr"/>
            <a:lstStyle/>
            <a:p>
              <a:pPr marL="0" indent="0" algn="ctr">
                <a:buNone/>
              </a:pPr>
              <a:r>
                <a:rPr lang="en-US" sz="2400" b="1" dirty="0">
                  <a:solidFill>
                    <a:srgbClr val="E24B4A"/>
                  </a:solidFill>
                  <a:latin typeface="Calibri" pitchFamily="34" charset="0"/>
                  <a:ea typeface="Calibri" pitchFamily="34" charset="-122"/>
                  <a:cs typeface="Calibri" pitchFamily="34" charset="-120"/>
                </a:rPr>
                <a:t>21%</a:t>
              </a:r>
              <a:endParaRPr lang="en-US" sz="2400" dirty="0"/>
            </a:p>
          </p:txBody>
        </p:sp>
        <p:sp>
          <p:nvSpPr>
            <p:cNvPr id="8" name="Text 5"/>
            <p:cNvSpPr/>
            <p:nvPr/>
          </p:nvSpPr>
          <p:spPr>
            <a:xfrm>
              <a:off x="503352" y="1791089"/>
              <a:ext cx="1115568" cy="320040"/>
            </a:xfrm>
            <a:prstGeom prst="rect">
              <a:avLst/>
            </a:prstGeom>
            <a:noFill/>
            <a:ln/>
          </p:spPr>
          <p:txBody>
            <a:bodyPr wrap="square" rtlCol="0" anchor="ctr"/>
            <a:lstStyle/>
            <a:p>
              <a:pPr marL="0" indent="0" algn="ctr">
                <a:buNone/>
              </a:pPr>
              <a:r>
                <a:rPr lang="en-US" sz="1000" dirty="0">
                  <a:solidFill>
                    <a:srgbClr val="1A1A2E"/>
                  </a:solidFill>
                  <a:latin typeface="Calibri" pitchFamily="34" charset="0"/>
                  <a:ea typeface="Calibri" pitchFamily="34" charset="-122"/>
                  <a:cs typeface="Calibri" pitchFamily="34" charset="-120"/>
                </a:rPr>
                <a:t>शहरी युवा बेरोज़गारी</a:t>
              </a:r>
              <a:endParaRPr lang="en-US" sz="1000" dirty="0"/>
            </a:p>
          </p:txBody>
        </p:sp>
        <p:sp>
          <p:nvSpPr>
            <p:cNvPr id="9" name="Text 6"/>
            <p:cNvSpPr/>
            <p:nvPr/>
          </p:nvSpPr>
          <p:spPr>
            <a:xfrm>
              <a:off x="503352" y="2189098"/>
              <a:ext cx="1116000" cy="432000"/>
            </a:xfrm>
            <a:prstGeom prst="rect">
              <a:avLst/>
            </a:prstGeom>
            <a:noFill/>
            <a:ln/>
          </p:spPr>
          <p:txBody>
            <a:bodyPr wrap="square" rtlCol="0" anchor="ctr"/>
            <a:lstStyle/>
            <a:p>
              <a:pPr marL="0" indent="0" algn="ctr">
                <a:buNone/>
              </a:pPr>
              <a:r>
                <a:rPr lang="en-US" sz="900" i="1" dirty="0">
                  <a:solidFill>
                    <a:srgbClr val="64748B"/>
                  </a:solidFill>
                  <a:latin typeface="Calibri" pitchFamily="34" charset="0"/>
                  <a:ea typeface="Calibri" pitchFamily="34" charset="-122"/>
                  <a:cs typeface="Calibri" pitchFamily="34" charset="-120"/>
                </a:rPr>
                <a:t>15–29 आयु वर्ग, CG शहरी क्षेत्र</a:t>
              </a:r>
              <a:endParaRPr lang="en-US" sz="900" dirty="0"/>
            </a:p>
          </p:txBody>
        </p:sp>
      </p:grpSp>
      <p:grpSp>
        <p:nvGrpSpPr>
          <p:cNvPr id="50" name="Group 49">
            <a:extLst>
              <a:ext uri="{FF2B5EF4-FFF2-40B4-BE49-F238E27FC236}">
                <a16:creationId xmlns:a16="http://schemas.microsoft.com/office/drawing/2014/main" id="{45A5FFE4-4261-5A1D-9787-0B7D6CA6AF50}"/>
              </a:ext>
            </a:extLst>
          </p:cNvPr>
          <p:cNvGrpSpPr/>
          <p:nvPr/>
        </p:nvGrpSpPr>
        <p:grpSpPr>
          <a:xfrm>
            <a:off x="1865343" y="1269881"/>
            <a:ext cx="1207008" cy="1404000"/>
            <a:chOff x="1819656" y="1269881"/>
            <a:chExt cx="1207008" cy="1404000"/>
          </a:xfrm>
        </p:grpSpPr>
        <p:sp>
          <p:nvSpPr>
            <p:cNvPr id="10" name="Shape 7"/>
            <p:cNvSpPr/>
            <p:nvPr/>
          </p:nvSpPr>
          <p:spPr>
            <a:xfrm>
              <a:off x="1819656" y="1269881"/>
              <a:ext cx="1207008" cy="1404000"/>
            </a:xfrm>
            <a:prstGeom prst="rect">
              <a:avLst/>
            </a:prstGeom>
            <a:solidFill>
              <a:srgbClr val="FCEBEB"/>
            </a:solidFill>
            <a:ln w="12700">
              <a:solidFill>
                <a:srgbClr val="E24B4A"/>
              </a:solidFill>
              <a:prstDash val="solid"/>
            </a:ln>
          </p:spPr>
        </p:sp>
        <p:sp>
          <p:nvSpPr>
            <p:cNvPr id="11" name="Text 8"/>
            <p:cNvSpPr/>
            <p:nvPr/>
          </p:nvSpPr>
          <p:spPr>
            <a:xfrm>
              <a:off x="1865376" y="1333889"/>
              <a:ext cx="1115568" cy="438912"/>
            </a:xfrm>
            <a:prstGeom prst="rect">
              <a:avLst/>
            </a:prstGeom>
            <a:noFill/>
            <a:ln/>
          </p:spPr>
          <p:txBody>
            <a:bodyPr wrap="square" rtlCol="0" anchor="ctr"/>
            <a:lstStyle/>
            <a:p>
              <a:pPr marL="0" indent="0" algn="ctr">
                <a:buNone/>
              </a:pPr>
              <a:r>
                <a:rPr lang="en-US" sz="2400" b="1" dirty="0">
                  <a:solidFill>
                    <a:srgbClr val="E24B4A"/>
                  </a:solidFill>
                  <a:latin typeface="Calibri" pitchFamily="34" charset="0"/>
                  <a:ea typeface="Calibri" pitchFamily="34" charset="-122"/>
                  <a:cs typeface="Calibri" pitchFamily="34" charset="-120"/>
                </a:rPr>
                <a:t>67%</a:t>
              </a:r>
              <a:endParaRPr lang="en-US" sz="2400" dirty="0"/>
            </a:p>
          </p:txBody>
        </p:sp>
        <p:sp>
          <p:nvSpPr>
            <p:cNvPr id="12" name="Text 9"/>
            <p:cNvSpPr/>
            <p:nvPr/>
          </p:nvSpPr>
          <p:spPr>
            <a:xfrm>
              <a:off x="1865376" y="1791089"/>
              <a:ext cx="1115568" cy="320040"/>
            </a:xfrm>
            <a:prstGeom prst="rect">
              <a:avLst/>
            </a:prstGeom>
            <a:noFill/>
            <a:ln/>
          </p:spPr>
          <p:txBody>
            <a:bodyPr wrap="square" rtlCol="0" anchor="ctr"/>
            <a:lstStyle/>
            <a:p>
              <a:pPr marL="0" indent="0" algn="ctr">
                <a:buNone/>
              </a:pPr>
              <a:r>
                <a:rPr lang="en-US" sz="1000" dirty="0">
                  <a:solidFill>
                    <a:srgbClr val="1A1A2E"/>
                  </a:solidFill>
                  <a:latin typeface="Calibri" pitchFamily="34" charset="0"/>
                  <a:ea typeface="Calibri" pitchFamily="34" charset="-122"/>
                  <a:cs typeface="Calibri" pitchFamily="34" charset="-120"/>
                </a:rPr>
                <a:t>कृषि में कार्यबल</a:t>
              </a:r>
              <a:endParaRPr lang="en-US" sz="1000" dirty="0"/>
            </a:p>
          </p:txBody>
        </p:sp>
        <p:sp>
          <p:nvSpPr>
            <p:cNvPr id="13" name="Text 10"/>
            <p:cNvSpPr/>
            <p:nvPr/>
          </p:nvSpPr>
          <p:spPr>
            <a:xfrm>
              <a:off x="1865376" y="2189098"/>
              <a:ext cx="1116000" cy="432000"/>
            </a:xfrm>
            <a:prstGeom prst="rect">
              <a:avLst/>
            </a:prstGeom>
            <a:noFill/>
            <a:ln/>
          </p:spPr>
          <p:txBody>
            <a:bodyPr wrap="square" rtlCol="0" anchor="ctr"/>
            <a:lstStyle/>
            <a:p>
              <a:pPr marL="0" indent="0" algn="ctr">
                <a:buNone/>
              </a:pPr>
              <a:r>
                <a:rPr lang="en-US" sz="900" i="1" dirty="0">
                  <a:solidFill>
                    <a:srgbClr val="64748B"/>
                  </a:solidFill>
                  <a:latin typeface="Calibri" pitchFamily="34" charset="0"/>
                  <a:ea typeface="Calibri" pitchFamily="34" charset="-122"/>
                  <a:cs typeface="Calibri" pitchFamily="34" charset="-120"/>
                </a:rPr>
                <a:t>निजी क्षेत्र से सीमित जुड़ाव</a:t>
              </a:r>
              <a:endParaRPr lang="en-US" sz="900" dirty="0"/>
            </a:p>
          </p:txBody>
        </p:sp>
      </p:grpSp>
      <p:grpSp>
        <p:nvGrpSpPr>
          <p:cNvPr id="51" name="Group 50">
            <a:extLst>
              <a:ext uri="{FF2B5EF4-FFF2-40B4-BE49-F238E27FC236}">
                <a16:creationId xmlns:a16="http://schemas.microsoft.com/office/drawing/2014/main" id="{B92A7AA4-CAE5-CACB-FB59-4DCB236844D2}"/>
              </a:ext>
            </a:extLst>
          </p:cNvPr>
          <p:cNvGrpSpPr/>
          <p:nvPr/>
        </p:nvGrpSpPr>
        <p:grpSpPr>
          <a:xfrm>
            <a:off x="3273054" y="1269881"/>
            <a:ext cx="1207008" cy="1404000"/>
            <a:chOff x="3273054" y="1269881"/>
            <a:chExt cx="1207008" cy="1404000"/>
          </a:xfrm>
        </p:grpSpPr>
        <p:sp>
          <p:nvSpPr>
            <p:cNvPr id="14" name="Shape 11"/>
            <p:cNvSpPr/>
            <p:nvPr/>
          </p:nvSpPr>
          <p:spPr>
            <a:xfrm>
              <a:off x="3273054" y="1269881"/>
              <a:ext cx="1207008" cy="1404000"/>
            </a:xfrm>
            <a:prstGeom prst="rect">
              <a:avLst/>
            </a:prstGeom>
            <a:solidFill>
              <a:srgbClr val="FCEBEB"/>
            </a:solidFill>
            <a:ln w="12700">
              <a:solidFill>
                <a:srgbClr val="E24B4A"/>
              </a:solidFill>
              <a:prstDash val="solid"/>
            </a:ln>
          </p:spPr>
        </p:sp>
        <p:sp>
          <p:nvSpPr>
            <p:cNvPr id="15" name="Text 12"/>
            <p:cNvSpPr/>
            <p:nvPr/>
          </p:nvSpPr>
          <p:spPr>
            <a:xfrm>
              <a:off x="3318774" y="1333889"/>
              <a:ext cx="1115568" cy="438912"/>
            </a:xfrm>
            <a:prstGeom prst="rect">
              <a:avLst/>
            </a:prstGeom>
            <a:noFill/>
            <a:ln/>
          </p:spPr>
          <p:txBody>
            <a:bodyPr wrap="square" rtlCol="0" anchor="ctr"/>
            <a:lstStyle/>
            <a:p>
              <a:pPr marL="0" indent="0" algn="ctr">
                <a:buNone/>
              </a:pPr>
              <a:r>
                <a:rPr lang="en-US" sz="2400" b="1" dirty="0">
                  <a:solidFill>
                    <a:srgbClr val="E24B4A"/>
                  </a:solidFill>
                  <a:latin typeface="Calibri" pitchFamily="34" charset="0"/>
                  <a:ea typeface="Calibri" pitchFamily="34" charset="-122"/>
                  <a:cs typeface="Calibri" pitchFamily="34" charset="-120"/>
                </a:rPr>
                <a:t>10.2%</a:t>
              </a:r>
              <a:endParaRPr lang="en-US" sz="2400" dirty="0"/>
            </a:p>
          </p:txBody>
        </p:sp>
        <p:sp>
          <p:nvSpPr>
            <p:cNvPr id="16" name="Text 13"/>
            <p:cNvSpPr/>
            <p:nvPr/>
          </p:nvSpPr>
          <p:spPr>
            <a:xfrm>
              <a:off x="3318774" y="1791089"/>
              <a:ext cx="1115568" cy="320040"/>
            </a:xfrm>
            <a:prstGeom prst="rect">
              <a:avLst/>
            </a:prstGeom>
            <a:noFill/>
            <a:ln/>
          </p:spPr>
          <p:txBody>
            <a:bodyPr wrap="square" rtlCol="0" anchor="ctr"/>
            <a:lstStyle/>
            <a:p>
              <a:pPr marL="0" indent="0" algn="ctr">
                <a:buNone/>
              </a:pPr>
              <a:r>
                <a:rPr lang="en-US" sz="1000" dirty="0">
                  <a:solidFill>
                    <a:srgbClr val="1A1A2E"/>
                  </a:solidFill>
                  <a:latin typeface="Calibri" pitchFamily="34" charset="0"/>
                  <a:ea typeface="Calibri" pitchFamily="34" charset="-122"/>
                  <a:cs typeface="Calibri" pitchFamily="34" charset="-120"/>
                </a:rPr>
                <a:t>स्नातक बेरोज़गारी</a:t>
              </a:r>
              <a:endParaRPr lang="en-US" sz="1000" dirty="0"/>
            </a:p>
          </p:txBody>
        </p:sp>
        <p:sp>
          <p:nvSpPr>
            <p:cNvPr id="17" name="Text 14"/>
            <p:cNvSpPr/>
            <p:nvPr/>
          </p:nvSpPr>
          <p:spPr>
            <a:xfrm>
              <a:off x="3318774" y="2189098"/>
              <a:ext cx="1116000" cy="432000"/>
            </a:xfrm>
            <a:prstGeom prst="rect">
              <a:avLst/>
            </a:prstGeom>
            <a:noFill/>
            <a:ln/>
          </p:spPr>
          <p:txBody>
            <a:bodyPr wrap="square" rtlCol="0" anchor="ctr"/>
            <a:lstStyle/>
            <a:p>
              <a:pPr marL="0" indent="0" algn="ctr">
                <a:buNone/>
              </a:pPr>
              <a:r>
                <a:rPr lang="en-US" sz="900" i="1" dirty="0">
                  <a:solidFill>
                    <a:srgbClr val="64748B"/>
                  </a:solidFill>
                  <a:latin typeface="Calibri" pitchFamily="34" charset="0"/>
                  <a:ea typeface="Calibri" pitchFamily="34" charset="-122"/>
                  <a:cs typeface="Calibri" pitchFamily="34" charset="-120"/>
                </a:rPr>
                <a:t>भारत औसत — पढ़े-लिखों में सबसे ज़्यादा</a:t>
              </a:r>
              <a:endParaRPr lang="en-US" sz="900" dirty="0"/>
            </a:p>
          </p:txBody>
        </p:sp>
      </p:grpSp>
      <p:sp>
        <p:nvSpPr>
          <p:cNvPr id="18" name="Shape 15"/>
          <p:cNvSpPr/>
          <p:nvPr/>
        </p:nvSpPr>
        <p:spPr>
          <a:xfrm>
            <a:off x="457632" y="2911329"/>
            <a:ext cx="3976710" cy="420624"/>
          </a:xfrm>
          <a:prstGeom prst="rect">
            <a:avLst/>
          </a:prstGeom>
          <a:solidFill>
            <a:srgbClr val="FAEEDA"/>
          </a:solidFill>
          <a:ln w="12700">
            <a:solidFill>
              <a:srgbClr val="EF9F27"/>
            </a:solidFill>
            <a:prstDash val="solid"/>
          </a:ln>
        </p:spPr>
      </p:sp>
      <p:sp>
        <p:nvSpPr>
          <p:cNvPr id="19" name="Text 16"/>
          <p:cNvSpPr/>
          <p:nvPr/>
        </p:nvSpPr>
        <p:spPr>
          <a:xfrm>
            <a:off x="457200" y="2947905"/>
            <a:ext cx="3977573" cy="347472"/>
          </a:xfrm>
          <a:prstGeom prst="rect">
            <a:avLst/>
          </a:prstGeom>
          <a:noFill/>
          <a:ln/>
        </p:spPr>
        <p:txBody>
          <a:bodyPr wrap="square" rtlCol="0" anchor="ctr"/>
          <a:lstStyle/>
          <a:p>
            <a:pPr marL="0" indent="0">
              <a:buNone/>
            </a:pPr>
            <a:r>
              <a:rPr lang="en-US" sz="1000" dirty="0">
                <a:solidFill>
                  <a:srgbClr val="633806"/>
                </a:solidFill>
                <a:latin typeface="Calibri" pitchFamily="34" charset="0"/>
                <a:ea typeface="Calibri" pitchFamily="34" charset="-122"/>
                <a:cs typeface="Calibri" pitchFamily="34" charset="-120"/>
              </a:rPr>
              <a:t>CG में उच्च स्तरीय निजी नौकरियाँ दूसरे राज्यों के लोग भर रहे हैं — क्योंकि यहाँ के युवा उनके लिए तैयार नहीं हैं।</a:t>
            </a:r>
            <a:endParaRPr lang="en-US" sz="1000" dirty="0"/>
          </a:p>
        </p:txBody>
      </p:sp>
      <p:sp>
        <p:nvSpPr>
          <p:cNvPr id="20" name="Shape 17"/>
          <p:cNvSpPr/>
          <p:nvPr/>
        </p:nvSpPr>
        <p:spPr>
          <a:xfrm>
            <a:off x="4754880" y="804672"/>
            <a:ext cx="3931920" cy="347472"/>
          </a:xfrm>
          <a:prstGeom prst="rect">
            <a:avLst/>
          </a:prstGeom>
          <a:solidFill>
            <a:srgbClr val="1D9E75"/>
          </a:solidFill>
          <a:ln w="12700">
            <a:solidFill>
              <a:srgbClr val="1D9E75"/>
            </a:solidFill>
            <a:prstDash val="solid"/>
          </a:ln>
        </p:spPr>
      </p:sp>
      <p:sp>
        <p:nvSpPr>
          <p:cNvPr id="21" name="Text 18"/>
          <p:cNvSpPr/>
          <p:nvPr/>
        </p:nvSpPr>
        <p:spPr>
          <a:xfrm>
            <a:off x="4754880" y="804672"/>
            <a:ext cx="3931920" cy="347472"/>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निजी क्षेत्र — अभी खुली नौकरियाँ</a:t>
            </a:r>
            <a:endParaRPr lang="en-US" sz="1200" dirty="0"/>
          </a:p>
        </p:txBody>
      </p:sp>
      <p:sp>
        <p:nvSpPr>
          <p:cNvPr id="22" name="Shape 19"/>
          <p:cNvSpPr/>
          <p:nvPr/>
        </p:nvSpPr>
        <p:spPr>
          <a:xfrm>
            <a:off x="4754880" y="1269881"/>
            <a:ext cx="3931920" cy="475488"/>
          </a:xfrm>
          <a:prstGeom prst="rect">
            <a:avLst/>
          </a:prstGeom>
          <a:solidFill>
            <a:srgbClr val="F8FAFC"/>
          </a:solidFill>
          <a:ln w="12700">
            <a:solidFill>
              <a:srgbClr val="E2E8F0"/>
            </a:solidFill>
            <a:prstDash val="solid"/>
          </a:ln>
        </p:spPr>
      </p:sp>
      <p:sp>
        <p:nvSpPr>
          <p:cNvPr id="23" name="Shape 20"/>
          <p:cNvSpPr/>
          <p:nvPr/>
        </p:nvSpPr>
        <p:spPr>
          <a:xfrm>
            <a:off x="4754880" y="1269881"/>
            <a:ext cx="91440" cy="475488"/>
          </a:xfrm>
          <a:prstGeom prst="rect">
            <a:avLst/>
          </a:prstGeom>
          <a:solidFill>
            <a:srgbClr val="1D9E75"/>
          </a:solidFill>
          <a:ln w="12700">
            <a:solidFill>
              <a:srgbClr val="1D9E75"/>
            </a:solidFill>
            <a:prstDash val="solid"/>
          </a:ln>
        </p:spPr>
      </p:sp>
      <p:sp>
        <p:nvSpPr>
          <p:cNvPr id="24" name="Text 21"/>
          <p:cNvSpPr/>
          <p:nvPr/>
        </p:nvSpPr>
        <p:spPr>
          <a:xfrm>
            <a:off x="4919472" y="1297313"/>
            <a:ext cx="1097280" cy="219456"/>
          </a:xfrm>
          <a:prstGeom prst="rect">
            <a:avLst/>
          </a:prstGeom>
          <a:noFill/>
          <a:ln/>
        </p:spPr>
        <p:txBody>
          <a:bodyPr wrap="square" rtlCol="0" anchor="ctr"/>
          <a:lstStyle/>
          <a:p>
            <a:pPr marL="0" indent="0">
              <a:buNone/>
            </a:pPr>
            <a:r>
              <a:rPr lang="en-US" sz="1200" b="1" dirty="0">
                <a:solidFill>
                  <a:srgbClr val="1A1A2E"/>
                </a:solidFill>
                <a:latin typeface="Calibri" pitchFamily="34" charset="0"/>
                <a:ea typeface="Calibri" pitchFamily="34" charset="-122"/>
                <a:cs typeface="Calibri" pitchFamily="34" charset="-120"/>
              </a:rPr>
              <a:t>Bangalore</a:t>
            </a:r>
            <a:endParaRPr lang="en-US" sz="1200" dirty="0"/>
          </a:p>
        </p:txBody>
      </p:sp>
      <p:sp>
        <p:nvSpPr>
          <p:cNvPr id="25" name="Text 22"/>
          <p:cNvSpPr/>
          <p:nvPr/>
        </p:nvSpPr>
        <p:spPr>
          <a:xfrm>
            <a:off x="7271101" y="1339841"/>
            <a:ext cx="1152000" cy="292608"/>
          </a:xfrm>
          <a:prstGeom prst="rect">
            <a:avLst/>
          </a:prstGeom>
          <a:noFill/>
          <a:ln/>
        </p:spPr>
        <p:txBody>
          <a:bodyPr wrap="square" rtlCol="0" anchor="ctr"/>
          <a:lstStyle/>
          <a:p>
            <a:pPr marL="0" indent="0">
              <a:buNone/>
            </a:pPr>
            <a:r>
              <a:rPr lang="en-US" sz="1200" b="1" dirty="0">
                <a:solidFill>
                  <a:srgbClr val="1D9E75"/>
                </a:solidFill>
                <a:latin typeface="Calibri" pitchFamily="34" charset="0"/>
                <a:ea typeface="Calibri" pitchFamily="34" charset="-122"/>
                <a:cs typeface="Calibri" pitchFamily="34" charset="-120"/>
              </a:rPr>
              <a:t>44,000+</a:t>
            </a:r>
            <a:endParaRPr lang="en-US" sz="1200" dirty="0"/>
          </a:p>
        </p:txBody>
      </p:sp>
      <p:sp>
        <p:nvSpPr>
          <p:cNvPr id="26" name="Text 23"/>
          <p:cNvSpPr/>
          <p:nvPr/>
        </p:nvSpPr>
        <p:spPr>
          <a:xfrm>
            <a:off x="4919472" y="1525913"/>
            <a:ext cx="3566160" cy="182880"/>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IT और बिज़नेस सेवाएँ</a:t>
            </a:r>
            <a:endParaRPr lang="en-US" sz="1000" dirty="0"/>
          </a:p>
        </p:txBody>
      </p:sp>
      <p:sp>
        <p:nvSpPr>
          <p:cNvPr id="27" name="Shape 24"/>
          <p:cNvSpPr/>
          <p:nvPr/>
        </p:nvSpPr>
        <p:spPr>
          <a:xfrm>
            <a:off x="4754880" y="1800233"/>
            <a:ext cx="3931920" cy="475488"/>
          </a:xfrm>
          <a:prstGeom prst="rect">
            <a:avLst/>
          </a:prstGeom>
          <a:solidFill>
            <a:srgbClr val="F8FAFC"/>
          </a:solidFill>
          <a:ln w="12700">
            <a:solidFill>
              <a:srgbClr val="E2E8F0"/>
            </a:solidFill>
            <a:prstDash val="solid"/>
          </a:ln>
        </p:spPr>
      </p:sp>
      <p:sp>
        <p:nvSpPr>
          <p:cNvPr id="28" name="Shape 25"/>
          <p:cNvSpPr/>
          <p:nvPr/>
        </p:nvSpPr>
        <p:spPr>
          <a:xfrm>
            <a:off x="4754880" y="1800233"/>
            <a:ext cx="91440" cy="475488"/>
          </a:xfrm>
          <a:prstGeom prst="rect">
            <a:avLst/>
          </a:prstGeom>
          <a:solidFill>
            <a:srgbClr val="533AB7"/>
          </a:solidFill>
          <a:ln w="12700">
            <a:solidFill>
              <a:srgbClr val="533AB7"/>
            </a:solidFill>
            <a:prstDash val="solid"/>
          </a:ln>
        </p:spPr>
      </p:sp>
      <p:sp>
        <p:nvSpPr>
          <p:cNvPr id="29" name="Text 26"/>
          <p:cNvSpPr/>
          <p:nvPr/>
        </p:nvSpPr>
        <p:spPr>
          <a:xfrm>
            <a:off x="4919472" y="1827665"/>
            <a:ext cx="1097280" cy="219456"/>
          </a:xfrm>
          <a:prstGeom prst="rect">
            <a:avLst/>
          </a:prstGeom>
          <a:noFill/>
          <a:ln/>
        </p:spPr>
        <p:txBody>
          <a:bodyPr wrap="square" rtlCol="0" anchor="ctr"/>
          <a:lstStyle/>
          <a:p>
            <a:pPr marL="0" indent="0">
              <a:buNone/>
            </a:pPr>
            <a:r>
              <a:rPr lang="en-US" sz="1200" b="1" dirty="0">
                <a:solidFill>
                  <a:srgbClr val="1A1A2E"/>
                </a:solidFill>
                <a:latin typeface="Calibri" pitchFamily="34" charset="0"/>
                <a:ea typeface="Calibri" pitchFamily="34" charset="-122"/>
                <a:cs typeface="Calibri" pitchFamily="34" charset="-120"/>
              </a:rPr>
              <a:t>NCR</a:t>
            </a:r>
            <a:endParaRPr lang="en-US" sz="1200" dirty="0"/>
          </a:p>
        </p:txBody>
      </p:sp>
      <p:sp>
        <p:nvSpPr>
          <p:cNvPr id="30" name="Text 27"/>
          <p:cNvSpPr/>
          <p:nvPr/>
        </p:nvSpPr>
        <p:spPr>
          <a:xfrm>
            <a:off x="7271101" y="1870193"/>
            <a:ext cx="1152000" cy="301752"/>
          </a:xfrm>
          <a:prstGeom prst="rect">
            <a:avLst/>
          </a:prstGeom>
          <a:noFill/>
          <a:ln/>
        </p:spPr>
        <p:txBody>
          <a:bodyPr wrap="square" rtlCol="0" anchor="ctr"/>
          <a:lstStyle/>
          <a:p>
            <a:pPr marL="0" indent="0">
              <a:buNone/>
            </a:pPr>
            <a:r>
              <a:rPr lang="en-US" sz="1200" b="1" dirty="0">
                <a:solidFill>
                  <a:srgbClr val="533AB7"/>
                </a:solidFill>
                <a:latin typeface="Calibri" pitchFamily="34" charset="0"/>
                <a:ea typeface="Calibri" pitchFamily="34" charset="-122"/>
                <a:cs typeface="Calibri" pitchFamily="34" charset="-120"/>
              </a:rPr>
              <a:t>30,000+</a:t>
            </a:r>
            <a:endParaRPr lang="en-US" sz="1200" dirty="0"/>
          </a:p>
        </p:txBody>
      </p:sp>
      <p:sp>
        <p:nvSpPr>
          <p:cNvPr id="31" name="Text 28"/>
          <p:cNvSpPr/>
          <p:nvPr/>
        </p:nvSpPr>
        <p:spPr>
          <a:xfrm>
            <a:off x="4919472" y="2056265"/>
            <a:ext cx="3566160" cy="182880"/>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ऑपरेशंस, फाइनेंस, सेल्स</a:t>
            </a:r>
            <a:endParaRPr lang="en-US" sz="1000" dirty="0"/>
          </a:p>
        </p:txBody>
      </p:sp>
      <p:sp>
        <p:nvSpPr>
          <p:cNvPr id="32" name="Shape 29"/>
          <p:cNvSpPr/>
          <p:nvPr/>
        </p:nvSpPr>
        <p:spPr>
          <a:xfrm>
            <a:off x="4754880" y="2330585"/>
            <a:ext cx="3931920" cy="475488"/>
          </a:xfrm>
          <a:prstGeom prst="rect">
            <a:avLst/>
          </a:prstGeom>
          <a:solidFill>
            <a:srgbClr val="F8FAFC"/>
          </a:solidFill>
          <a:ln w="12700">
            <a:solidFill>
              <a:srgbClr val="E2E8F0"/>
            </a:solidFill>
            <a:prstDash val="solid"/>
          </a:ln>
        </p:spPr>
      </p:sp>
      <p:sp>
        <p:nvSpPr>
          <p:cNvPr id="33" name="Shape 30"/>
          <p:cNvSpPr/>
          <p:nvPr/>
        </p:nvSpPr>
        <p:spPr>
          <a:xfrm>
            <a:off x="4754880" y="2330585"/>
            <a:ext cx="91440" cy="475488"/>
          </a:xfrm>
          <a:prstGeom prst="rect">
            <a:avLst/>
          </a:prstGeom>
          <a:solidFill>
            <a:srgbClr val="EF9F27"/>
          </a:solidFill>
          <a:ln w="12700">
            <a:solidFill>
              <a:srgbClr val="EF9F27"/>
            </a:solidFill>
            <a:prstDash val="solid"/>
          </a:ln>
        </p:spPr>
      </p:sp>
      <p:sp>
        <p:nvSpPr>
          <p:cNvPr id="34" name="Text 31"/>
          <p:cNvSpPr/>
          <p:nvPr/>
        </p:nvSpPr>
        <p:spPr>
          <a:xfrm>
            <a:off x="4919472" y="2358017"/>
            <a:ext cx="1097280" cy="219456"/>
          </a:xfrm>
          <a:prstGeom prst="rect">
            <a:avLst/>
          </a:prstGeom>
          <a:noFill/>
          <a:ln/>
        </p:spPr>
        <p:txBody>
          <a:bodyPr wrap="square" rtlCol="0" anchor="ctr"/>
          <a:lstStyle/>
          <a:p>
            <a:pPr marL="0" indent="0">
              <a:buNone/>
            </a:pPr>
            <a:r>
              <a:rPr lang="en-US" sz="1200" b="1" dirty="0">
                <a:solidFill>
                  <a:srgbClr val="1A1A2E"/>
                </a:solidFill>
                <a:latin typeface="Calibri" pitchFamily="34" charset="0"/>
                <a:ea typeface="Calibri" pitchFamily="34" charset="-122"/>
                <a:cs typeface="Calibri" pitchFamily="34" charset="-120"/>
              </a:rPr>
              <a:t>Pune</a:t>
            </a:r>
            <a:endParaRPr lang="en-US" sz="1200" dirty="0"/>
          </a:p>
        </p:txBody>
      </p:sp>
      <p:sp>
        <p:nvSpPr>
          <p:cNvPr id="35" name="Text 32"/>
          <p:cNvSpPr/>
          <p:nvPr/>
        </p:nvSpPr>
        <p:spPr>
          <a:xfrm>
            <a:off x="7271100" y="2400545"/>
            <a:ext cx="1152000" cy="301752"/>
          </a:xfrm>
          <a:prstGeom prst="rect">
            <a:avLst/>
          </a:prstGeom>
          <a:noFill/>
          <a:ln/>
        </p:spPr>
        <p:txBody>
          <a:bodyPr wrap="square" rtlCol="0" anchor="ctr"/>
          <a:lstStyle/>
          <a:p>
            <a:pPr marL="0" indent="0">
              <a:buNone/>
            </a:pPr>
            <a:r>
              <a:rPr lang="en-US" sz="1200" b="1" dirty="0">
                <a:solidFill>
                  <a:srgbClr val="EF9F27"/>
                </a:solidFill>
                <a:latin typeface="Calibri" pitchFamily="34" charset="0"/>
                <a:ea typeface="Calibri" pitchFamily="34" charset="-122"/>
                <a:cs typeface="Calibri" pitchFamily="34" charset="-120"/>
              </a:rPr>
              <a:t>18,000+</a:t>
            </a:r>
            <a:endParaRPr lang="en-US" sz="1200" dirty="0"/>
          </a:p>
        </p:txBody>
      </p:sp>
      <p:sp>
        <p:nvSpPr>
          <p:cNvPr id="36" name="Text 33"/>
          <p:cNvSpPr/>
          <p:nvPr/>
        </p:nvSpPr>
        <p:spPr>
          <a:xfrm>
            <a:off x="4919472" y="2586617"/>
            <a:ext cx="3566160" cy="182880"/>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IT, मैन्युफैक्चरिंग, एनालिटिक्स</a:t>
            </a:r>
            <a:endParaRPr lang="en-US" sz="1000" dirty="0"/>
          </a:p>
        </p:txBody>
      </p:sp>
      <p:sp>
        <p:nvSpPr>
          <p:cNvPr id="37" name="Shape 34"/>
          <p:cNvSpPr/>
          <p:nvPr/>
        </p:nvSpPr>
        <p:spPr>
          <a:xfrm>
            <a:off x="4754880" y="2860937"/>
            <a:ext cx="3931920" cy="475488"/>
          </a:xfrm>
          <a:prstGeom prst="rect">
            <a:avLst/>
          </a:prstGeom>
          <a:solidFill>
            <a:srgbClr val="F8FAFC"/>
          </a:solidFill>
          <a:ln w="12700">
            <a:solidFill>
              <a:srgbClr val="E2E8F0"/>
            </a:solidFill>
            <a:prstDash val="solid"/>
          </a:ln>
        </p:spPr>
      </p:sp>
      <p:sp>
        <p:nvSpPr>
          <p:cNvPr id="38" name="Shape 35"/>
          <p:cNvSpPr/>
          <p:nvPr/>
        </p:nvSpPr>
        <p:spPr>
          <a:xfrm>
            <a:off x="4754880" y="2860937"/>
            <a:ext cx="91440" cy="475488"/>
          </a:xfrm>
          <a:prstGeom prst="rect">
            <a:avLst/>
          </a:prstGeom>
          <a:solidFill>
            <a:srgbClr val="378ADD"/>
          </a:solidFill>
          <a:ln w="12700">
            <a:solidFill>
              <a:srgbClr val="378ADD"/>
            </a:solidFill>
            <a:prstDash val="solid"/>
          </a:ln>
        </p:spPr>
      </p:sp>
      <p:sp>
        <p:nvSpPr>
          <p:cNvPr id="39" name="Text 36"/>
          <p:cNvSpPr/>
          <p:nvPr/>
        </p:nvSpPr>
        <p:spPr>
          <a:xfrm>
            <a:off x="4919472" y="2888369"/>
            <a:ext cx="1097280" cy="219456"/>
          </a:xfrm>
          <a:prstGeom prst="rect">
            <a:avLst/>
          </a:prstGeom>
          <a:noFill/>
          <a:ln/>
        </p:spPr>
        <p:txBody>
          <a:bodyPr wrap="square" rtlCol="0" anchor="ctr"/>
          <a:lstStyle/>
          <a:p>
            <a:pPr marL="0" indent="0">
              <a:buNone/>
            </a:pPr>
            <a:r>
              <a:rPr lang="en-US" sz="1200" b="1" dirty="0">
                <a:solidFill>
                  <a:srgbClr val="1A1A2E"/>
                </a:solidFill>
                <a:latin typeface="Calibri" pitchFamily="34" charset="0"/>
                <a:ea typeface="Calibri" pitchFamily="34" charset="-122"/>
                <a:cs typeface="Calibri" pitchFamily="34" charset="-120"/>
              </a:rPr>
              <a:t>Chennai</a:t>
            </a:r>
            <a:endParaRPr lang="en-US" sz="1200" dirty="0"/>
          </a:p>
        </p:txBody>
      </p:sp>
      <p:sp>
        <p:nvSpPr>
          <p:cNvPr id="40" name="Text 37"/>
          <p:cNvSpPr/>
          <p:nvPr/>
        </p:nvSpPr>
        <p:spPr>
          <a:xfrm>
            <a:off x="7271101" y="2973425"/>
            <a:ext cx="1152000" cy="269648"/>
          </a:xfrm>
          <a:prstGeom prst="rect">
            <a:avLst/>
          </a:prstGeom>
          <a:noFill/>
          <a:ln/>
        </p:spPr>
        <p:txBody>
          <a:bodyPr wrap="square" rtlCol="0" anchor="ctr"/>
          <a:lstStyle/>
          <a:p>
            <a:pPr marL="0" indent="0">
              <a:buNone/>
            </a:pPr>
            <a:r>
              <a:rPr lang="en-US" sz="1200" b="1" dirty="0">
                <a:solidFill>
                  <a:srgbClr val="378ADD"/>
                </a:solidFill>
                <a:latin typeface="Calibri" pitchFamily="34" charset="0"/>
                <a:ea typeface="Calibri" pitchFamily="34" charset="-122"/>
                <a:cs typeface="Calibri" pitchFamily="34" charset="-120"/>
              </a:rPr>
              <a:t>12,000+</a:t>
            </a:r>
            <a:endParaRPr lang="en-US" sz="1200" dirty="0"/>
          </a:p>
        </p:txBody>
      </p:sp>
      <p:sp>
        <p:nvSpPr>
          <p:cNvPr id="41" name="Text 38"/>
          <p:cNvSpPr/>
          <p:nvPr/>
        </p:nvSpPr>
        <p:spPr>
          <a:xfrm>
            <a:off x="4919472" y="3116969"/>
            <a:ext cx="3566160" cy="182880"/>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IT, BPO, इंजीनियरिंग सेवाएँ</a:t>
            </a:r>
            <a:endParaRPr lang="en-US" sz="1000" dirty="0"/>
          </a:p>
        </p:txBody>
      </p:sp>
      <p:sp>
        <p:nvSpPr>
          <p:cNvPr id="43" name="Shape 40"/>
          <p:cNvSpPr/>
          <p:nvPr/>
        </p:nvSpPr>
        <p:spPr>
          <a:xfrm>
            <a:off x="457200" y="3933191"/>
            <a:ext cx="8229600" cy="475488"/>
          </a:xfrm>
          <a:prstGeom prst="rect">
            <a:avLst/>
          </a:prstGeom>
          <a:solidFill>
            <a:srgbClr val="1D9E75"/>
          </a:solidFill>
          <a:ln w="12700">
            <a:solidFill>
              <a:srgbClr val="1D9E75"/>
            </a:solidFill>
            <a:prstDash val="solid"/>
          </a:ln>
        </p:spPr>
      </p:sp>
      <p:sp>
        <p:nvSpPr>
          <p:cNvPr id="44" name="Text 41"/>
          <p:cNvSpPr/>
          <p:nvPr/>
        </p:nvSpPr>
        <p:spPr>
          <a:xfrm>
            <a:off x="1345474" y="3955655"/>
            <a:ext cx="7001691" cy="420624"/>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नौकरियाँ हैं। </a:t>
            </a:r>
            <a:r>
              <a:rPr lang="en-US" sz="1200" dirty="0">
                <a:solidFill>
                  <a:srgbClr val="E1F5EE"/>
                </a:solidFill>
                <a:latin typeface="Calibri" pitchFamily="34" charset="0"/>
                <a:ea typeface="Calibri" pitchFamily="34" charset="-122"/>
                <a:cs typeface="Calibri" pitchFamily="34" charset="-120"/>
              </a:rPr>
              <a:t>जो कमी है वह है पुल — कौशल, मार्गदर्शन और उस पार जाने का हौसला। यही तो </a:t>
            </a:r>
            <a:r>
              <a:rPr lang="en-US" sz="1200" dirty="0" err="1">
                <a:solidFill>
                  <a:srgbClr val="E1F5EE"/>
                </a:solidFill>
                <a:latin typeface="Calibri" pitchFamily="34" charset="0"/>
                <a:ea typeface="Calibri" pitchFamily="34" charset="-122"/>
                <a:cs typeface="Calibri" pitchFamily="34" charset="-120"/>
              </a:rPr>
              <a:t>Pehchaan</a:t>
            </a:r>
            <a:r>
              <a:rPr lang="en-US" sz="1200" dirty="0">
                <a:solidFill>
                  <a:srgbClr val="E1F5EE"/>
                </a:solidFill>
                <a:latin typeface="Calibri" pitchFamily="34" charset="0"/>
                <a:ea typeface="Calibri" pitchFamily="34" charset="-122"/>
                <a:cs typeface="Calibri" pitchFamily="34" charset="-120"/>
              </a:rPr>
              <a:t> बनाता है।</a:t>
            </a:r>
            <a:endParaRPr lang="en-US" sz="1200" dirty="0"/>
          </a:p>
        </p:txBody>
      </p:sp>
      <p:sp>
        <p:nvSpPr>
          <p:cNvPr id="45" name="Text 42"/>
          <p:cNvSpPr/>
          <p:nvPr/>
        </p:nvSpPr>
        <p:spPr>
          <a:xfrm>
            <a:off x="548640" y="4553712"/>
            <a:ext cx="8229600" cy="201168"/>
          </a:xfrm>
          <a:prstGeom prst="rect">
            <a:avLst/>
          </a:prstGeom>
          <a:noFill/>
          <a:ln/>
        </p:spPr>
        <p:txBody>
          <a:bodyPr wrap="square" rtlCol="0" anchor="ctr"/>
          <a:lstStyle/>
          <a:p>
            <a:pPr marL="0" indent="0">
              <a:buNone/>
            </a:pPr>
            <a:r>
              <a:rPr lang="en-US" sz="800" i="1" dirty="0">
                <a:solidFill>
                  <a:srgbClr val="64748B"/>
                </a:solidFill>
                <a:latin typeface="Calibri" pitchFamily="34" charset="0"/>
                <a:ea typeface="Calibri" pitchFamily="34" charset="-122"/>
                <a:cs typeface="Calibri" pitchFamily="34" charset="-120"/>
              </a:rPr>
              <a:t>स्रोत: CMIE 2024 | PLFS 2023-24 | Foundit.in जॉब लिस्टिंग अप्रैल 2025 | Medium – Unemployment in Chhattisgarh 2024</a:t>
            </a:r>
            <a:endParaRPr lang="en-US" sz="800" dirty="0"/>
          </a:p>
        </p:txBody>
      </p:sp>
      <p:sp>
        <p:nvSpPr>
          <p:cNvPr id="46" name="Shape 43"/>
          <p:cNvSpPr/>
          <p:nvPr/>
        </p:nvSpPr>
        <p:spPr>
          <a:xfrm>
            <a:off x="0" y="4864608"/>
            <a:ext cx="9144000" cy="278892"/>
          </a:xfrm>
          <a:prstGeom prst="rect">
            <a:avLst/>
          </a:prstGeom>
          <a:solidFill>
            <a:srgbClr val="E1F5EE"/>
          </a:solidFill>
          <a:ln w="12700">
            <a:solidFill>
              <a:srgbClr val="E1F5EE"/>
            </a:solidFill>
            <a:prstDash val="solid"/>
          </a:ln>
        </p:spPr>
      </p:sp>
      <p:pic>
        <p:nvPicPr>
          <p:cNvPr id="47" name="Image 1" descr="preencoded.png"/>
          <p:cNvPicPr>
            <a:picLocks noChangeAspect="1"/>
          </p:cNvPicPr>
          <p:nvPr/>
        </p:nvPicPr>
        <p:blipFill>
          <a:blip r:embed="rId4"/>
          <a:stretch>
            <a:fillRect/>
          </a:stretch>
        </p:blipFill>
        <p:spPr>
          <a:xfrm>
            <a:off x="109728" y="4873752"/>
            <a:ext cx="1005840" cy="246888"/>
          </a:xfrm>
          <a:prstGeom prst="rect">
            <a:avLst/>
          </a:prstGeom>
        </p:spPr>
      </p:pic>
      <p:sp>
        <p:nvSpPr>
          <p:cNvPr id="48" name="Text 44"/>
          <p:cNvSpPr/>
          <p:nvPr/>
        </p:nvSpPr>
        <p:spPr>
          <a:xfrm>
            <a:off x="6858000" y="4882896"/>
            <a:ext cx="2176272" cy="219456"/>
          </a:xfrm>
          <a:prstGeom prst="rect">
            <a:avLst/>
          </a:prstGeom>
          <a:noFill/>
          <a:ln/>
        </p:spPr>
        <p:txBody>
          <a:bodyPr wrap="square" rtlCol="0" anchor="ctr"/>
          <a:lstStyle/>
          <a:p>
            <a:pPr marL="0" indent="0" algn="r">
              <a:buNone/>
            </a:pPr>
            <a:r>
              <a:rPr lang="en-US" sz="900" dirty="0">
                <a:solidFill>
                  <a:srgbClr val="085041"/>
                </a:solidFill>
                <a:latin typeface="Calibri" pitchFamily="34" charset="0"/>
                <a:ea typeface="Calibri" pitchFamily="34" charset="-122"/>
                <a:cs typeface="Calibri" pitchFamily="34" charset="-120"/>
              </a:rPr>
              <a:t>Pehchaancareers.in</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8503920" y="109728"/>
            <a:ext cx="384048" cy="384048"/>
          </a:xfrm>
          <a:prstGeom prst="rect">
            <a:avLst/>
          </a:prstGeom>
        </p:spPr>
      </p:pic>
      <p:sp>
        <p:nvSpPr>
          <p:cNvPr id="3" name="Text 0"/>
          <p:cNvSpPr/>
          <p:nvPr/>
        </p:nvSpPr>
        <p:spPr>
          <a:xfrm>
            <a:off x="457200" y="201168"/>
            <a:ext cx="8046720" cy="475488"/>
          </a:xfrm>
          <a:prstGeom prst="rect">
            <a:avLst/>
          </a:prstGeom>
          <a:noFill/>
          <a:ln/>
        </p:spPr>
        <p:txBody>
          <a:bodyPr wrap="square" rtlCol="0" anchor="ctr"/>
          <a:lstStyle/>
          <a:p>
            <a:pPr marL="0" indent="0">
              <a:buNone/>
            </a:pPr>
            <a:r>
              <a:rPr lang="en-US" sz="2800" b="1" dirty="0">
                <a:solidFill>
                  <a:srgbClr val="1A1A2E"/>
                </a:solidFill>
                <a:latin typeface="Calibri" pitchFamily="34" charset="0"/>
                <a:ea typeface="Calibri" pitchFamily="34" charset="-122"/>
                <a:cs typeface="Calibri" pitchFamily="34" charset="-120"/>
              </a:rPr>
              <a:t>मार्केट को आपसे असल में क्या चाहिए</a:t>
            </a:r>
            <a:endParaRPr lang="en-US" sz="2800" dirty="0"/>
          </a:p>
        </p:txBody>
      </p:sp>
      <p:sp>
        <p:nvSpPr>
          <p:cNvPr id="4" name="Text 1"/>
          <p:cNvSpPr/>
          <p:nvPr/>
        </p:nvSpPr>
        <p:spPr>
          <a:xfrm>
            <a:off x="457200" y="731520"/>
            <a:ext cx="8046720" cy="329184"/>
          </a:xfrm>
          <a:prstGeom prst="rect">
            <a:avLst/>
          </a:prstGeom>
          <a:noFill/>
          <a:ln/>
        </p:spPr>
        <p:txBody>
          <a:bodyPr wrap="square" rtlCol="0" anchor="ctr"/>
          <a:lstStyle/>
          <a:p>
            <a:pPr marL="0" indent="0">
              <a:buNone/>
            </a:pPr>
            <a:r>
              <a:rPr lang="en-US" sz="1300" i="1" dirty="0">
                <a:solidFill>
                  <a:srgbClr val="64748B"/>
                </a:solidFill>
                <a:latin typeface="Calibri" pitchFamily="34" charset="0"/>
                <a:ea typeface="Calibri" pitchFamily="34" charset="-122"/>
                <a:cs typeface="Calibri" pitchFamily="34" charset="-120"/>
              </a:rPr>
              <a:t>चाहे आपका रास्ता कॉर्पोरेट हो, क्रिएटिव, सरकारी, MBA या विदेश — ये 12 कौशल तय करते हैं आप कहाँ तक जाएंगे।</a:t>
            </a:r>
            <a:endParaRPr lang="en-US" sz="1300" dirty="0"/>
          </a:p>
        </p:txBody>
      </p:sp>
      <p:sp>
        <p:nvSpPr>
          <p:cNvPr id="5" name="Shape 2"/>
          <p:cNvSpPr/>
          <p:nvPr/>
        </p:nvSpPr>
        <p:spPr>
          <a:xfrm>
            <a:off x="457200" y="1117092"/>
            <a:ext cx="2651760" cy="738000"/>
          </a:xfrm>
          <a:prstGeom prst="rect">
            <a:avLst/>
          </a:prstGeom>
          <a:solidFill>
            <a:srgbClr val="F8FAFC"/>
          </a:solidFill>
          <a:ln w="12700">
            <a:solidFill>
              <a:srgbClr val="E2E8F0"/>
            </a:solidFill>
            <a:prstDash val="solid"/>
          </a:ln>
        </p:spPr>
      </p:sp>
      <p:sp>
        <p:nvSpPr>
          <p:cNvPr id="6" name="Shape 3"/>
          <p:cNvSpPr/>
          <p:nvPr/>
        </p:nvSpPr>
        <p:spPr>
          <a:xfrm>
            <a:off x="457200" y="1117092"/>
            <a:ext cx="73152" cy="738000"/>
          </a:xfrm>
          <a:prstGeom prst="rect">
            <a:avLst/>
          </a:prstGeom>
          <a:solidFill>
            <a:srgbClr val="1D9E75"/>
          </a:solidFill>
          <a:ln w="12700">
            <a:solidFill>
              <a:srgbClr val="1D9E75"/>
            </a:solidFill>
            <a:prstDash val="solid"/>
          </a:ln>
        </p:spPr>
      </p:sp>
      <p:sp>
        <p:nvSpPr>
          <p:cNvPr id="7" name="Text 4"/>
          <p:cNvSpPr/>
          <p:nvPr/>
        </p:nvSpPr>
        <p:spPr>
          <a:xfrm>
            <a:off x="2822904" y="1171956"/>
            <a:ext cx="274320" cy="182880"/>
          </a:xfrm>
          <a:prstGeom prst="rect">
            <a:avLst/>
          </a:prstGeom>
          <a:noFill/>
          <a:ln/>
        </p:spPr>
        <p:txBody>
          <a:bodyPr wrap="square" rtlCol="0" anchor="ctr"/>
          <a:lstStyle/>
          <a:p>
            <a:pPr marL="0" indent="0" algn="r">
              <a:buNone/>
            </a:pPr>
            <a:r>
              <a:rPr lang="en-US" sz="900" b="1" dirty="0">
                <a:solidFill>
                  <a:srgbClr val="1D9E75"/>
                </a:solidFill>
                <a:latin typeface="Calibri" pitchFamily="34" charset="0"/>
                <a:ea typeface="Calibri" pitchFamily="34" charset="-122"/>
                <a:cs typeface="Calibri" pitchFamily="34" charset="-120"/>
              </a:rPr>
              <a:t>1</a:t>
            </a:r>
            <a:endParaRPr lang="en-US" sz="900" dirty="0"/>
          </a:p>
        </p:txBody>
      </p:sp>
      <p:sp>
        <p:nvSpPr>
          <p:cNvPr id="8" name="Text 5"/>
          <p:cNvSpPr/>
          <p:nvPr/>
        </p:nvSpPr>
        <p:spPr>
          <a:xfrm>
            <a:off x="621792" y="1162812"/>
            <a:ext cx="2103120" cy="256032"/>
          </a:xfrm>
          <a:prstGeom prst="rect">
            <a:avLst/>
          </a:prstGeom>
          <a:noFill/>
          <a:ln/>
        </p:spPr>
        <p:txBody>
          <a:bodyPr wrap="square" rtlCol="0" anchor="ctr"/>
          <a:lstStyle/>
          <a:p>
            <a:pPr marL="0" indent="0">
              <a:buNone/>
            </a:pPr>
            <a:r>
              <a:rPr lang="en-US" sz="1300" b="1" dirty="0">
                <a:solidFill>
                  <a:srgbClr val="1A1A2E"/>
                </a:solidFill>
                <a:latin typeface="Calibri" pitchFamily="34" charset="0"/>
                <a:ea typeface="Calibri" pitchFamily="34" charset="-122"/>
                <a:cs typeface="Calibri" pitchFamily="34" charset="-120"/>
              </a:rPr>
              <a:t>संवाद कौशल</a:t>
            </a:r>
            <a:endParaRPr lang="en-US" sz="1300" dirty="0"/>
          </a:p>
        </p:txBody>
      </p:sp>
      <p:sp>
        <p:nvSpPr>
          <p:cNvPr id="9" name="Text 6"/>
          <p:cNvSpPr/>
          <p:nvPr/>
        </p:nvSpPr>
        <p:spPr>
          <a:xfrm>
            <a:off x="621792" y="1437132"/>
            <a:ext cx="2520000" cy="438912"/>
          </a:xfrm>
          <a:prstGeom prst="rect">
            <a:avLst/>
          </a:prstGeom>
          <a:noFill/>
          <a:ln/>
        </p:spPr>
        <p:txBody>
          <a:bodyPr wrap="square" rtlCol="0" anchor="t"/>
          <a:lstStyle/>
          <a:p>
            <a:pPr marL="0" indent="0">
              <a:buNone/>
            </a:pPr>
            <a:r>
              <a:rPr lang="en-US" sz="1050" dirty="0">
                <a:solidFill>
                  <a:srgbClr val="64748B"/>
                </a:solidFill>
                <a:latin typeface="Calibri" pitchFamily="34" charset="0"/>
                <a:ea typeface="Calibri" pitchFamily="34" charset="-122"/>
                <a:cs typeface="Calibri" pitchFamily="34" charset="-120"/>
              </a:rPr>
              <a:t>खुद को साफ-साफ समझाएँ। आमने-सामने, कागज़ पर, या फोन पर।</a:t>
            </a:r>
            <a:endParaRPr lang="en-US" sz="1050" dirty="0"/>
          </a:p>
        </p:txBody>
      </p:sp>
      <p:sp>
        <p:nvSpPr>
          <p:cNvPr id="10" name="Shape 7"/>
          <p:cNvSpPr/>
          <p:nvPr/>
        </p:nvSpPr>
        <p:spPr>
          <a:xfrm>
            <a:off x="3355848" y="1117092"/>
            <a:ext cx="2651760" cy="738000"/>
          </a:xfrm>
          <a:prstGeom prst="rect">
            <a:avLst/>
          </a:prstGeom>
          <a:solidFill>
            <a:srgbClr val="F8FAFC"/>
          </a:solidFill>
          <a:ln w="12700">
            <a:solidFill>
              <a:srgbClr val="E2E8F0"/>
            </a:solidFill>
            <a:prstDash val="solid"/>
          </a:ln>
        </p:spPr>
      </p:sp>
      <p:sp>
        <p:nvSpPr>
          <p:cNvPr id="11" name="Shape 8"/>
          <p:cNvSpPr/>
          <p:nvPr/>
        </p:nvSpPr>
        <p:spPr>
          <a:xfrm>
            <a:off x="3355848" y="1117092"/>
            <a:ext cx="73152" cy="738000"/>
          </a:xfrm>
          <a:prstGeom prst="rect">
            <a:avLst/>
          </a:prstGeom>
          <a:solidFill>
            <a:srgbClr val="1D9E75"/>
          </a:solidFill>
          <a:ln w="12700">
            <a:solidFill>
              <a:srgbClr val="1D9E75"/>
            </a:solidFill>
            <a:prstDash val="solid"/>
          </a:ln>
        </p:spPr>
      </p:sp>
      <p:sp>
        <p:nvSpPr>
          <p:cNvPr id="12" name="Text 9"/>
          <p:cNvSpPr/>
          <p:nvPr/>
        </p:nvSpPr>
        <p:spPr>
          <a:xfrm>
            <a:off x="5721552" y="1171956"/>
            <a:ext cx="274320" cy="182880"/>
          </a:xfrm>
          <a:prstGeom prst="rect">
            <a:avLst/>
          </a:prstGeom>
          <a:noFill/>
          <a:ln/>
        </p:spPr>
        <p:txBody>
          <a:bodyPr wrap="square" rtlCol="0" anchor="ctr"/>
          <a:lstStyle/>
          <a:p>
            <a:pPr marL="0" indent="0" algn="r">
              <a:buNone/>
            </a:pPr>
            <a:r>
              <a:rPr lang="en-US" sz="900" b="1" dirty="0">
                <a:solidFill>
                  <a:srgbClr val="1D9E75"/>
                </a:solidFill>
                <a:latin typeface="Calibri" pitchFamily="34" charset="0"/>
                <a:ea typeface="Calibri" pitchFamily="34" charset="-122"/>
                <a:cs typeface="Calibri" pitchFamily="34" charset="-120"/>
              </a:rPr>
              <a:t>2</a:t>
            </a:r>
            <a:endParaRPr lang="en-US" sz="900" dirty="0"/>
          </a:p>
        </p:txBody>
      </p:sp>
      <p:sp>
        <p:nvSpPr>
          <p:cNvPr id="13" name="Text 10"/>
          <p:cNvSpPr/>
          <p:nvPr/>
        </p:nvSpPr>
        <p:spPr>
          <a:xfrm>
            <a:off x="3520440" y="1162812"/>
            <a:ext cx="2103120" cy="256032"/>
          </a:xfrm>
          <a:prstGeom prst="rect">
            <a:avLst/>
          </a:prstGeom>
          <a:noFill/>
          <a:ln/>
        </p:spPr>
        <p:txBody>
          <a:bodyPr wrap="square" rtlCol="0" anchor="ctr"/>
          <a:lstStyle/>
          <a:p>
            <a:pPr marL="0" indent="0">
              <a:buNone/>
            </a:pPr>
            <a:r>
              <a:rPr lang="en-US" sz="1300" b="1" dirty="0">
                <a:solidFill>
                  <a:srgbClr val="1A1A2E"/>
                </a:solidFill>
                <a:latin typeface="Calibri" pitchFamily="34" charset="0"/>
                <a:ea typeface="Calibri" pitchFamily="34" charset="-122"/>
                <a:cs typeface="Calibri" pitchFamily="34" charset="-120"/>
              </a:rPr>
              <a:t>डिजिटल साक्षरता</a:t>
            </a:r>
            <a:endParaRPr lang="en-US" sz="1300" dirty="0"/>
          </a:p>
        </p:txBody>
      </p:sp>
      <p:sp>
        <p:nvSpPr>
          <p:cNvPr id="14" name="Text 11"/>
          <p:cNvSpPr/>
          <p:nvPr/>
        </p:nvSpPr>
        <p:spPr>
          <a:xfrm>
            <a:off x="3520440" y="1437132"/>
            <a:ext cx="2520000" cy="438912"/>
          </a:xfrm>
          <a:prstGeom prst="rect">
            <a:avLst/>
          </a:prstGeom>
          <a:noFill/>
          <a:ln/>
        </p:spPr>
        <p:txBody>
          <a:bodyPr wrap="square" rtlCol="0" anchor="t"/>
          <a:lstStyle/>
          <a:p>
            <a:pPr marL="0" indent="0">
              <a:buNone/>
            </a:pPr>
            <a:r>
              <a:rPr lang="en-US" sz="1050" dirty="0">
                <a:solidFill>
                  <a:srgbClr val="64748B"/>
                </a:solidFill>
                <a:latin typeface="Calibri" pitchFamily="34" charset="0"/>
                <a:ea typeface="Calibri" pitchFamily="34" charset="-122"/>
                <a:cs typeface="Calibri" pitchFamily="34" charset="-120"/>
              </a:rPr>
              <a:t>Excel, ईमेल, Google टूल्स, बेसिक सोशल — हर नौकरी में यह ज़रूरी है।</a:t>
            </a:r>
            <a:endParaRPr lang="en-US" sz="1050" dirty="0"/>
          </a:p>
        </p:txBody>
      </p:sp>
      <p:sp>
        <p:nvSpPr>
          <p:cNvPr id="15" name="Shape 12"/>
          <p:cNvSpPr/>
          <p:nvPr/>
        </p:nvSpPr>
        <p:spPr>
          <a:xfrm>
            <a:off x="6254496" y="1117092"/>
            <a:ext cx="2651760" cy="738000"/>
          </a:xfrm>
          <a:prstGeom prst="rect">
            <a:avLst/>
          </a:prstGeom>
          <a:solidFill>
            <a:srgbClr val="F8FAFC"/>
          </a:solidFill>
          <a:ln w="12700">
            <a:solidFill>
              <a:srgbClr val="E2E8F0"/>
            </a:solidFill>
            <a:prstDash val="solid"/>
          </a:ln>
        </p:spPr>
      </p:sp>
      <p:sp>
        <p:nvSpPr>
          <p:cNvPr id="16" name="Shape 13"/>
          <p:cNvSpPr/>
          <p:nvPr/>
        </p:nvSpPr>
        <p:spPr>
          <a:xfrm>
            <a:off x="6254496" y="1117092"/>
            <a:ext cx="73152" cy="738000"/>
          </a:xfrm>
          <a:prstGeom prst="rect">
            <a:avLst/>
          </a:prstGeom>
          <a:solidFill>
            <a:srgbClr val="1D9E75"/>
          </a:solidFill>
          <a:ln w="12700">
            <a:solidFill>
              <a:srgbClr val="1D9E75"/>
            </a:solidFill>
            <a:prstDash val="solid"/>
          </a:ln>
        </p:spPr>
      </p:sp>
      <p:sp>
        <p:nvSpPr>
          <p:cNvPr id="17" name="Text 14"/>
          <p:cNvSpPr/>
          <p:nvPr/>
        </p:nvSpPr>
        <p:spPr>
          <a:xfrm>
            <a:off x="8620200" y="1171956"/>
            <a:ext cx="274320" cy="182880"/>
          </a:xfrm>
          <a:prstGeom prst="rect">
            <a:avLst/>
          </a:prstGeom>
          <a:noFill/>
          <a:ln/>
        </p:spPr>
        <p:txBody>
          <a:bodyPr wrap="square" rtlCol="0" anchor="ctr"/>
          <a:lstStyle/>
          <a:p>
            <a:pPr marL="0" indent="0" algn="r">
              <a:buNone/>
            </a:pPr>
            <a:r>
              <a:rPr lang="en-US" sz="900" b="1" dirty="0">
                <a:solidFill>
                  <a:srgbClr val="1D9E75"/>
                </a:solidFill>
                <a:latin typeface="Calibri" pitchFamily="34" charset="0"/>
                <a:ea typeface="Calibri" pitchFamily="34" charset="-122"/>
                <a:cs typeface="Calibri" pitchFamily="34" charset="-120"/>
              </a:rPr>
              <a:t>3</a:t>
            </a:r>
            <a:endParaRPr lang="en-US" sz="900" dirty="0"/>
          </a:p>
        </p:txBody>
      </p:sp>
      <p:sp>
        <p:nvSpPr>
          <p:cNvPr id="18" name="Text 15"/>
          <p:cNvSpPr/>
          <p:nvPr/>
        </p:nvSpPr>
        <p:spPr>
          <a:xfrm>
            <a:off x="6419088" y="1162812"/>
            <a:ext cx="2103120" cy="256032"/>
          </a:xfrm>
          <a:prstGeom prst="rect">
            <a:avLst/>
          </a:prstGeom>
          <a:noFill/>
          <a:ln/>
        </p:spPr>
        <p:txBody>
          <a:bodyPr wrap="square" rtlCol="0" anchor="ctr"/>
          <a:lstStyle/>
          <a:p>
            <a:pPr marL="0" indent="0">
              <a:buNone/>
            </a:pPr>
            <a:r>
              <a:rPr lang="en-US" sz="1300" b="1" dirty="0">
                <a:solidFill>
                  <a:srgbClr val="1A1A2E"/>
                </a:solidFill>
                <a:latin typeface="Calibri" pitchFamily="34" charset="0"/>
                <a:ea typeface="Calibri" pitchFamily="34" charset="-122"/>
                <a:cs typeface="Calibri" pitchFamily="34" charset="-120"/>
              </a:rPr>
              <a:t>डेटा सोच</a:t>
            </a:r>
            <a:endParaRPr lang="en-US" sz="1300" dirty="0"/>
          </a:p>
        </p:txBody>
      </p:sp>
      <p:sp>
        <p:nvSpPr>
          <p:cNvPr id="19" name="Text 16"/>
          <p:cNvSpPr/>
          <p:nvPr/>
        </p:nvSpPr>
        <p:spPr>
          <a:xfrm>
            <a:off x="6419088" y="1437132"/>
            <a:ext cx="2520000" cy="438912"/>
          </a:xfrm>
          <a:prstGeom prst="rect">
            <a:avLst/>
          </a:prstGeom>
          <a:noFill/>
          <a:ln/>
        </p:spPr>
        <p:txBody>
          <a:bodyPr wrap="square" rtlCol="0" anchor="t"/>
          <a:lstStyle/>
          <a:p>
            <a:pPr marL="0" indent="0">
              <a:buNone/>
            </a:pPr>
            <a:r>
              <a:rPr lang="en-US" sz="1050" dirty="0">
                <a:solidFill>
                  <a:srgbClr val="64748B"/>
                </a:solidFill>
                <a:latin typeface="Calibri" pitchFamily="34" charset="0"/>
                <a:ea typeface="Calibri" pitchFamily="34" charset="-122"/>
                <a:cs typeface="Calibri" pitchFamily="34" charset="-120"/>
              </a:rPr>
              <a:t>नंबर देखें। उनका मतलब समझें। क्या करना है यह सुझाएँ।</a:t>
            </a:r>
            <a:endParaRPr lang="en-US" sz="1050" dirty="0"/>
          </a:p>
        </p:txBody>
      </p:sp>
      <p:sp>
        <p:nvSpPr>
          <p:cNvPr id="20" name="Shape 17"/>
          <p:cNvSpPr/>
          <p:nvPr/>
        </p:nvSpPr>
        <p:spPr>
          <a:xfrm>
            <a:off x="457200" y="1936615"/>
            <a:ext cx="2651760" cy="738000"/>
          </a:xfrm>
          <a:prstGeom prst="rect">
            <a:avLst/>
          </a:prstGeom>
          <a:solidFill>
            <a:srgbClr val="F8FAFC"/>
          </a:solidFill>
          <a:ln w="12700">
            <a:solidFill>
              <a:srgbClr val="E2E8F0"/>
            </a:solidFill>
            <a:prstDash val="solid"/>
          </a:ln>
        </p:spPr>
      </p:sp>
      <p:sp>
        <p:nvSpPr>
          <p:cNvPr id="21" name="Shape 18"/>
          <p:cNvSpPr/>
          <p:nvPr/>
        </p:nvSpPr>
        <p:spPr>
          <a:xfrm>
            <a:off x="457200" y="1936615"/>
            <a:ext cx="73152" cy="738000"/>
          </a:xfrm>
          <a:prstGeom prst="rect">
            <a:avLst/>
          </a:prstGeom>
          <a:solidFill>
            <a:srgbClr val="EF9F27"/>
          </a:solidFill>
          <a:ln w="12700">
            <a:solidFill>
              <a:srgbClr val="EF9F27"/>
            </a:solidFill>
            <a:prstDash val="solid"/>
          </a:ln>
        </p:spPr>
      </p:sp>
      <p:sp>
        <p:nvSpPr>
          <p:cNvPr id="22" name="Text 19"/>
          <p:cNvSpPr/>
          <p:nvPr/>
        </p:nvSpPr>
        <p:spPr>
          <a:xfrm>
            <a:off x="2822904" y="1991479"/>
            <a:ext cx="274320" cy="182880"/>
          </a:xfrm>
          <a:prstGeom prst="rect">
            <a:avLst/>
          </a:prstGeom>
          <a:noFill/>
          <a:ln/>
        </p:spPr>
        <p:txBody>
          <a:bodyPr wrap="square" rtlCol="0" anchor="ctr"/>
          <a:lstStyle/>
          <a:p>
            <a:pPr marL="0" indent="0" algn="r">
              <a:buNone/>
            </a:pPr>
            <a:r>
              <a:rPr lang="en-US" sz="900" b="1" dirty="0">
                <a:solidFill>
                  <a:srgbClr val="EF9F27"/>
                </a:solidFill>
                <a:latin typeface="Calibri" pitchFamily="34" charset="0"/>
                <a:ea typeface="Calibri" pitchFamily="34" charset="-122"/>
                <a:cs typeface="Calibri" pitchFamily="34" charset="-120"/>
              </a:rPr>
              <a:t>4</a:t>
            </a:r>
            <a:endParaRPr lang="en-US" sz="900" dirty="0"/>
          </a:p>
        </p:txBody>
      </p:sp>
      <p:sp>
        <p:nvSpPr>
          <p:cNvPr id="23" name="Text 20"/>
          <p:cNvSpPr/>
          <p:nvPr/>
        </p:nvSpPr>
        <p:spPr>
          <a:xfrm>
            <a:off x="621792" y="1982335"/>
            <a:ext cx="2103120" cy="256032"/>
          </a:xfrm>
          <a:prstGeom prst="rect">
            <a:avLst/>
          </a:prstGeom>
          <a:noFill/>
          <a:ln/>
        </p:spPr>
        <p:txBody>
          <a:bodyPr wrap="square" rtlCol="0" anchor="ctr"/>
          <a:lstStyle/>
          <a:p>
            <a:pPr marL="0" indent="0">
              <a:buNone/>
            </a:pPr>
            <a:r>
              <a:rPr lang="en-US" sz="1300" b="1" dirty="0">
                <a:solidFill>
                  <a:srgbClr val="1A1A2E"/>
                </a:solidFill>
                <a:latin typeface="Calibri" pitchFamily="34" charset="0"/>
                <a:ea typeface="Calibri" pitchFamily="34" charset="-122"/>
                <a:cs typeface="Calibri" pitchFamily="34" charset="-120"/>
              </a:rPr>
              <a:t>अंग्रेज़ी में सहजता</a:t>
            </a:r>
            <a:endParaRPr lang="en-US" sz="1300" dirty="0"/>
          </a:p>
        </p:txBody>
      </p:sp>
      <p:sp>
        <p:nvSpPr>
          <p:cNvPr id="24" name="Text 21"/>
          <p:cNvSpPr/>
          <p:nvPr/>
        </p:nvSpPr>
        <p:spPr>
          <a:xfrm>
            <a:off x="621792" y="2256655"/>
            <a:ext cx="2520000" cy="438912"/>
          </a:xfrm>
          <a:prstGeom prst="rect">
            <a:avLst/>
          </a:prstGeom>
          <a:noFill/>
          <a:ln/>
        </p:spPr>
        <p:txBody>
          <a:bodyPr wrap="square" rtlCol="0" anchor="t"/>
          <a:lstStyle/>
          <a:p>
            <a:pPr marL="0" indent="0">
              <a:buNone/>
            </a:pPr>
            <a:r>
              <a:rPr lang="en-US" sz="1050" dirty="0">
                <a:solidFill>
                  <a:srgbClr val="64748B"/>
                </a:solidFill>
                <a:latin typeface="Calibri" pitchFamily="34" charset="0"/>
                <a:ea typeface="Calibri" pitchFamily="34" charset="-122"/>
                <a:cs typeface="Calibri" pitchFamily="34" charset="-120"/>
              </a:rPr>
              <a:t>फर्राटेदार नहीं। बोलने की हिम्मत चाहिए। बस यही आपको अलग करता है।</a:t>
            </a:r>
            <a:endParaRPr lang="en-US" sz="1050" dirty="0"/>
          </a:p>
        </p:txBody>
      </p:sp>
      <p:sp>
        <p:nvSpPr>
          <p:cNvPr id="25" name="Shape 22"/>
          <p:cNvSpPr/>
          <p:nvPr/>
        </p:nvSpPr>
        <p:spPr>
          <a:xfrm>
            <a:off x="3355848" y="1936615"/>
            <a:ext cx="2651760" cy="738000"/>
          </a:xfrm>
          <a:prstGeom prst="rect">
            <a:avLst/>
          </a:prstGeom>
          <a:solidFill>
            <a:srgbClr val="F8FAFC"/>
          </a:solidFill>
          <a:ln w="12700">
            <a:solidFill>
              <a:srgbClr val="E2E8F0"/>
            </a:solidFill>
            <a:prstDash val="solid"/>
          </a:ln>
        </p:spPr>
      </p:sp>
      <p:sp>
        <p:nvSpPr>
          <p:cNvPr id="26" name="Shape 23"/>
          <p:cNvSpPr/>
          <p:nvPr/>
        </p:nvSpPr>
        <p:spPr>
          <a:xfrm>
            <a:off x="3355848" y="1936615"/>
            <a:ext cx="73152" cy="738000"/>
          </a:xfrm>
          <a:prstGeom prst="rect">
            <a:avLst/>
          </a:prstGeom>
          <a:solidFill>
            <a:srgbClr val="EF9F27"/>
          </a:solidFill>
          <a:ln w="12700">
            <a:solidFill>
              <a:srgbClr val="EF9F27"/>
            </a:solidFill>
            <a:prstDash val="solid"/>
          </a:ln>
        </p:spPr>
      </p:sp>
      <p:sp>
        <p:nvSpPr>
          <p:cNvPr id="27" name="Text 24"/>
          <p:cNvSpPr/>
          <p:nvPr/>
        </p:nvSpPr>
        <p:spPr>
          <a:xfrm>
            <a:off x="5721552" y="1991479"/>
            <a:ext cx="274320" cy="182880"/>
          </a:xfrm>
          <a:prstGeom prst="rect">
            <a:avLst/>
          </a:prstGeom>
          <a:noFill/>
          <a:ln/>
        </p:spPr>
        <p:txBody>
          <a:bodyPr wrap="square" rtlCol="0" anchor="ctr"/>
          <a:lstStyle/>
          <a:p>
            <a:pPr marL="0" indent="0" algn="r">
              <a:buNone/>
            </a:pPr>
            <a:r>
              <a:rPr lang="en-US" sz="900" b="1" dirty="0">
                <a:solidFill>
                  <a:srgbClr val="EF9F27"/>
                </a:solidFill>
                <a:latin typeface="Calibri" pitchFamily="34" charset="0"/>
                <a:ea typeface="Calibri" pitchFamily="34" charset="-122"/>
                <a:cs typeface="Calibri" pitchFamily="34" charset="-120"/>
              </a:rPr>
              <a:t>5</a:t>
            </a:r>
            <a:endParaRPr lang="en-US" sz="900" dirty="0"/>
          </a:p>
        </p:txBody>
      </p:sp>
      <p:sp>
        <p:nvSpPr>
          <p:cNvPr id="28" name="Text 25"/>
          <p:cNvSpPr/>
          <p:nvPr/>
        </p:nvSpPr>
        <p:spPr>
          <a:xfrm>
            <a:off x="3520440" y="1982335"/>
            <a:ext cx="2103120" cy="256032"/>
          </a:xfrm>
          <a:prstGeom prst="rect">
            <a:avLst/>
          </a:prstGeom>
          <a:noFill/>
          <a:ln/>
        </p:spPr>
        <p:txBody>
          <a:bodyPr wrap="square" rtlCol="0" anchor="ctr"/>
          <a:lstStyle/>
          <a:p>
            <a:pPr marL="0" indent="0">
              <a:buNone/>
            </a:pPr>
            <a:r>
              <a:rPr lang="en-US" sz="1300" b="1" dirty="0">
                <a:solidFill>
                  <a:srgbClr val="1A1A2E"/>
                </a:solidFill>
                <a:latin typeface="Calibri" pitchFamily="34" charset="0"/>
                <a:ea typeface="Calibri" pitchFamily="34" charset="-122"/>
                <a:cs typeface="Calibri" pitchFamily="34" charset="-120"/>
              </a:rPr>
              <a:t>खुद को पेश करना</a:t>
            </a:r>
            <a:endParaRPr lang="en-US" sz="1300" dirty="0"/>
          </a:p>
        </p:txBody>
      </p:sp>
      <p:sp>
        <p:nvSpPr>
          <p:cNvPr id="29" name="Text 26"/>
          <p:cNvSpPr/>
          <p:nvPr/>
        </p:nvSpPr>
        <p:spPr>
          <a:xfrm>
            <a:off x="3520440" y="2256655"/>
            <a:ext cx="2520000" cy="438912"/>
          </a:xfrm>
          <a:prstGeom prst="rect">
            <a:avLst/>
          </a:prstGeom>
          <a:noFill/>
          <a:ln/>
        </p:spPr>
        <p:txBody>
          <a:bodyPr wrap="square" rtlCol="0" anchor="t"/>
          <a:lstStyle/>
          <a:p>
            <a:pPr marL="0" indent="0">
              <a:buNone/>
            </a:pPr>
            <a:r>
              <a:rPr lang="en-US" sz="1050" dirty="0">
                <a:solidFill>
                  <a:srgbClr val="64748B"/>
                </a:solidFill>
                <a:latin typeface="Calibri" pitchFamily="34" charset="0"/>
                <a:ea typeface="Calibri" pitchFamily="34" charset="-122"/>
                <a:cs typeface="Calibri" pitchFamily="34" charset="-120"/>
              </a:rPr>
              <a:t>आप कैसे दिखते हैं — इंटरव्यू में, मीटिंग में और ऑनलाइन प्रोफाइल में।</a:t>
            </a:r>
            <a:endParaRPr lang="en-US" sz="1050" dirty="0"/>
          </a:p>
        </p:txBody>
      </p:sp>
      <p:sp>
        <p:nvSpPr>
          <p:cNvPr id="30" name="Shape 27"/>
          <p:cNvSpPr/>
          <p:nvPr/>
        </p:nvSpPr>
        <p:spPr>
          <a:xfrm>
            <a:off x="6254496" y="1936615"/>
            <a:ext cx="2651760" cy="738000"/>
          </a:xfrm>
          <a:prstGeom prst="rect">
            <a:avLst/>
          </a:prstGeom>
          <a:solidFill>
            <a:srgbClr val="F8FAFC"/>
          </a:solidFill>
          <a:ln w="12700">
            <a:solidFill>
              <a:srgbClr val="E2E8F0"/>
            </a:solidFill>
            <a:prstDash val="solid"/>
          </a:ln>
        </p:spPr>
      </p:sp>
      <p:sp>
        <p:nvSpPr>
          <p:cNvPr id="31" name="Shape 28"/>
          <p:cNvSpPr/>
          <p:nvPr/>
        </p:nvSpPr>
        <p:spPr>
          <a:xfrm>
            <a:off x="6254496" y="1936615"/>
            <a:ext cx="73152" cy="738000"/>
          </a:xfrm>
          <a:prstGeom prst="rect">
            <a:avLst/>
          </a:prstGeom>
          <a:solidFill>
            <a:srgbClr val="EF9F27"/>
          </a:solidFill>
          <a:ln w="12700">
            <a:solidFill>
              <a:srgbClr val="EF9F27"/>
            </a:solidFill>
            <a:prstDash val="solid"/>
          </a:ln>
        </p:spPr>
      </p:sp>
      <p:sp>
        <p:nvSpPr>
          <p:cNvPr id="32" name="Text 29"/>
          <p:cNvSpPr/>
          <p:nvPr/>
        </p:nvSpPr>
        <p:spPr>
          <a:xfrm>
            <a:off x="8620200" y="1991479"/>
            <a:ext cx="274320" cy="182880"/>
          </a:xfrm>
          <a:prstGeom prst="rect">
            <a:avLst/>
          </a:prstGeom>
          <a:noFill/>
          <a:ln/>
        </p:spPr>
        <p:txBody>
          <a:bodyPr wrap="square" rtlCol="0" anchor="ctr"/>
          <a:lstStyle/>
          <a:p>
            <a:pPr marL="0" indent="0" algn="r">
              <a:buNone/>
            </a:pPr>
            <a:r>
              <a:rPr lang="en-US" sz="900" b="1" dirty="0">
                <a:solidFill>
                  <a:srgbClr val="EF9F27"/>
                </a:solidFill>
                <a:latin typeface="Calibri" pitchFamily="34" charset="0"/>
                <a:ea typeface="Calibri" pitchFamily="34" charset="-122"/>
                <a:cs typeface="Calibri" pitchFamily="34" charset="-120"/>
              </a:rPr>
              <a:t>6</a:t>
            </a:r>
            <a:endParaRPr lang="en-US" sz="900" dirty="0"/>
          </a:p>
        </p:txBody>
      </p:sp>
      <p:sp>
        <p:nvSpPr>
          <p:cNvPr id="33" name="Text 30"/>
          <p:cNvSpPr/>
          <p:nvPr/>
        </p:nvSpPr>
        <p:spPr>
          <a:xfrm>
            <a:off x="6419088" y="1982335"/>
            <a:ext cx="2103120" cy="256032"/>
          </a:xfrm>
          <a:prstGeom prst="rect">
            <a:avLst/>
          </a:prstGeom>
          <a:noFill/>
          <a:ln/>
        </p:spPr>
        <p:txBody>
          <a:bodyPr wrap="square" rtlCol="0" anchor="ctr"/>
          <a:lstStyle/>
          <a:p>
            <a:pPr marL="0" indent="0">
              <a:buNone/>
            </a:pPr>
            <a:r>
              <a:rPr lang="en-US" sz="1300" b="1" dirty="0">
                <a:solidFill>
                  <a:srgbClr val="1A1A2E"/>
                </a:solidFill>
                <a:latin typeface="Calibri" pitchFamily="34" charset="0"/>
                <a:ea typeface="Calibri" pitchFamily="34" charset="-122"/>
                <a:cs typeface="Calibri" pitchFamily="34" charset="-120"/>
              </a:rPr>
              <a:t>टीमवर्क</a:t>
            </a:r>
            <a:endParaRPr lang="en-US" sz="1300" dirty="0"/>
          </a:p>
        </p:txBody>
      </p:sp>
      <p:sp>
        <p:nvSpPr>
          <p:cNvPr id="34" name="Text 31"/>
          <p:cNvSpPr/>
          <p:nvPr/>
        </p:nvSpPr>
        <p:spPr>
          <a:xfrm>
            <a:off x="6419088" y="2256655"/>
            <a:ext cx="2520000" cy="438912"/>
          </a:xfrm>
          <a:prstGeom prst="rect">
            <a:avLst/>
          </a:prstGeom>
          <a:noFill/>
          <a:ln/>
        </p:spPr>
        <p:txBody>
          <a:bodyPr wrap="square" rtlCol="0" anchor="t"/>
          <a:lstStyle/>
          <a:p>
            <a:pPr marL="0" indent="0">
              <a:buNone/>
            </a:pPr>
            <a:r>
              <a:rPr lang="en-US" sz="1050" dirty="0">
                <a:solidFill>
                  <a:srgbClr val="64748B"/>
                </a:solidFill>
                <a:latin typeface="Calibri" pitchFamily="34" charset="0"/>
                <a:ea typeface="Calibri" pitchFamily="34" charset="-122"/>
                <a:cs typeface="Calibri" pitchFamily="34" charset="-120"/>
              </a:rPr>
              <a:t>हर रास्ता — कॉर्पोरेट, कला, सरकारी — लोगों के साथ काम करना होता है।</a:t>
            </a:r>
            <a:endParaRPr lang="en-US" sz="1050" dirty="0"/>
          </a:p>
        </p:txBody>
      </p:sp>
      <p:sp>
        <p:nvSpPr>
          <p:cNvPr id="35" name="Shape 32"/>
          <p:cNvSpPr/>
          <p:nvPr/>
        </p:nvSpPr>
        <p:spPr>
          <a:xfrm>
            <a:off x="457200" y="2758246"/>
            <a:ext cx="2651760" cy="738000"/>
          </a:xfrm>
          <a:prstGeom prst="rect">
            <a:avLst/>
          </a:prstGeom>
          <a:solidFill>
            <a:srgbClr val="F8FAFC"/>
          </a:solidFill>
          <a:ln w="12700">
            <a:solidFill>
              <a:srgbClr val="E2E8F0"/>
            </a:solidFill>
            <a:prstDash val="solid"/>
          </a:ln>
        </p:spPr>
      </p:sp>
      <p:sp>
        <p:nvSpPr>
          <p:cNvPr id="36" name="Shape 33"/>
          <p:cNvSpPr/>
          <p:nvPr/>
        </p:nvSpPr>
        <p:spPr>
          <a:xfrm>
            <a:off x="457200" y="2758246"/>
            <a:ext cx="73152" cy="738000"/>
          </a:xfrm>
          <a:prstGeom prst="rect">
            <a:avLst/>
          </a:prstGeom>
          <a:solidFill>
            <a:srgbClr val="7F77DD"/>
          </a:solidFill>
          <a:ln w="12700">
            <a:solidFill>
              <a:srgbClr val="7F77DD"/>
            </a:solidFill>
            <a:prstDash val="solid"/>
          </a:ln>
        </p:spPr>
      </p:sp>
      <p:sp>
        <p:nvSpPr>
          <p:cNvPr id="37" name="Text 34"/>
          <p:cNvSpPr/>
          <p:nvPr/>
        </p:nvSpPr>
        <p:spPr>
          <a:xfrm>
            <a:off x="2822904" y="2813110"/>
            <a:ext cx="274320" cy="182880"/>
          </a:xfrm>
          <a:prstGeom prst="rect">
            <a:avLst/>
          </a:prstGeom>
          <a:noFill/>
          <a:ln/>
        </p:spPr>
        <p:txBody>
          <a:bodyPr wrap="square" rtlCol="0" anchor="ctr"/>
          <a:lstStyle/>
          <a:p>
            <a:pPr marL="0" indent="0" algn="r">
              <a:buNone/>
            </a:pPr>
            <a:r>
              <a:rPr lang="en-US" sz="900" b="1" dirty="0">
                <a:solidFill>
                  <a:srgbClr val="7F77DD"/>
                </a:solidFill>
                <a:latin typeface="Calibri" pitchFamily="34" charset="0"/>
                <a:ea typeface="Calibri" pitchFamily="34" charset="-122"/>
                <a:cs typeface="Calibri" pitchFamily="34" charset="-120"/>
              </a:rPr>
              <a:t>7</a:t>
            </a:r>
            <a:endParaRPr lang="en-US" sz="900" dirty="0"/>
          </a:p>
        </p:txBody>
      </p:sp>
      <p:sp>
        <p:nvSpPr>
          <p:cNvPr id="38" name="Text 35"/>
          <p:cNvSpPr/>
          <p:nvPr/>
        </p:nvSpPr>
        <p:spPr>
          <a:xfrm>
            <a:off x="621792" y="2803966"/>
            <a:ext cx="2103120" cy="256032"/>
          </a:xfrm>
          <a:prstGeom prst="rect">
            <a:avLst/>
          </a:prstGeom>
          <a:noFill/>
          <a:ln/>
        </p:spPr>
        <p:txBody>
          <a:bodyPr wrap="square" rtlCol="0" anchor="ctr"/>
          <a:lstStyle/>
          <a:p>
            <a:pPr marL="0" indent="0">
              <a:buNone/>
            </a:pPr>
            <a:r>
              <a:rPr lang="en-US" sz="1300" b="1" dirty="0">
                <a:solidFill>
                  <a:srgbClr val="1A1A2E"/>
                </a:solidFill>
                <a:latin typeface="Calibri" pitchFamily="34" charset="0"/>
                <a:ea typeface="Calibri" pitchFamily="34" charset="-122"/>
                <a:cs typeface="Calibri" pitchFamily="34" charset="-120"/>
              </a:rPr>
              <a:t>समस्या सुलझाना</a:t>
            </a:r>
            <a:endParaRPr lang="en-US" sz="1300" dirty="0"/>
          </a:p>
        </p:txBody>
      </p:sp>
      <p:sp>
        <p:nvSpPr>
          <p:cNvPr id="39" name="Text 36"/>
          <p:cNvSpPr/>
          <p:nvPr/>
        </p:nvSpPr>
        <p:spPr>
          <a:xfrm>
            <a:off x="621792" y="3078286"/>
            <a:ext cx="2520000" cy="438912"/>
          </a:xfrm>
          <a:prstGeom prst="rect">
            <a:avLst/>
          </a:prstGeom>
          <a:noFill/>
          <a:ln/>
        </p:spPr>
        <p:txBody>
          <a:bodyPr wrap="square" rtlCol="0" anchor="t"/>
          <a:lstStyle/>
          <a:p>
            <a:pPr marL="0" indent="0">
              <a:buNone/>
            </a:pPr>
            <a:r>
              <a:rPr lang="en-US" sz="1050" dirty="0">
                <a:solidFill>
                  <a:srgbClr val="64748B"/>
                </a:solidFill>
                <a:latin typeface="Calibri" pitchFamily="34" charset="0"/>
                <a:ea typeface="Calibri" pitchFamily="34" charset="-122"/>
                <a:cs typeface="Calibri" pitchFamily="34" charset="-120"/>
              </a:rPr>
              <a:t>सिर्फ समस्या मत बताइए। एक संभावित हल भी लेकर आइए।</a:t>
            </a:r>
            <a:endParaRPr lang="en-US" sz="1050" dirty="0"/>
          </a:p>
        </p:txBody>
      </p:sp>
      <p:sp>
        <p:nvSpPr>
          <p:cNvPr id="40" name="Shape 37"/>
          <p:cNvSpPr/>
          <p:nvPr/>
        </p:nvSpPr>
        <p:spPr>
          <a:xfrm>
            <a:off x="3355848" y="2758246"/>
            <a:ext cx="2651760" cy="738000"/>
          </a:xfrm>
          <a:prstGeom prst="rect">
            <a:avLst/>
          </a:prstGeom>
          <a:solidFill>
            <a:srgbClr val="F8FAFC"/>
          </a:solidFill>
          <a:ln w="12700">
            <a:solidFill>
              <a:srgbClr val="E2E8F0"/>
            </a:solidFill>
            <a:prstDash val="solid"/>
          </a:ln>
        </p:spPr>
      </p:sp>
      <p:sp>
        <p:nvSpPr>
          <p:cNvPr id="41" name="Shape 38"/>
          <p:cNvSpPr/>
          <p:nvPr/>
        </p:nvSpPr>
        <p:spPr>
          <a:xfrm>
            <a:off x="3355848" y="2758246"/>
            <a:ext cx="73152" cy="738000"/>
          </a:xfrm>
          <a:prstGeom prst="rect">
            <a:avLst/>
          </a:prstGeom>
          <a:solidFill>
            <a:srgbClr val="7F77DD"/>
          </a:solidFill>
          <a:ln w="12700">
            <a:solidFill>
              <a:srgbClr val="7F77DD"/>
            </a:solidFill>
            <a:prstDash val="solid"/>
          </a:ln>
        </p:spPr>
      </p:sp>
      <p:sp>
        <p:nvSpPr>
          <p:cNvPr id="42" name="Text 39"/>
          <p:cNvSpPr/>
          <p:nvPr/>
        </p:nvSpPr>
        <p:spPr>
          <a:xfrm>
            <a:off x="5721552" y="2813110"/>
            <a:ext cx="274320" cy="182880"/>
          </a:xfrm>
          <a:prstGeom prst="rect">
            <a:avLst/>
          </a:prstGeom>
          <a:noFill/>
          <a:ln/>
        </p:spPr>
        <p:txBody>
          <a:bodyPr wrap="square" rtlCol="0" anchor="ctr"/>
          <a:lstStyle/>
          <a:p>
            <a:pPr marL="0" indent="0" algn="r">
              <a:buNone/>
            </a:pPr>
            <a:r>
              <a:rPr lang="en-US" sz="900" b="1" dirty="0">
                <a:solidFill>
                  <a:srgbClr val="7F77DD"/>
                </a:solidFill>
                <a:latin typeface="Calibri" pitchFamily="34" charset="0"/>
                <a:ea typeface="Calibri" pitchFamily="34" charset="-122"/>
                <a:cs typeface="Calibri" pitchFamily="34" charset="-120"/>
              </a:rPr>
              <a:t>8</a:t>
            </a:r>
            <a:endParaRPr lang="en-US" sz="900" dirty="0"/>
          </a:p>
        </p:txBody>
      </p:sp>
      <p:sp>
        <p:nvSpPr>
          <p:cNvPr id="43" name="Text 40"/>
          <p:cNvSpPr/>
          <p:nvPr/>
        </p:nvSpPr>
        <p:spPr>
          <a:xfrm>
            <a:off x="3520440" y="2803966"/>
            <a:ext cx="2103120" cy="256032"/>
          </a:xfrm>
          <a:prstGeom prst="rect">
            <a:avLst/>
          </a:prstGeom>
          <a:noFill/>
          <a:ln/>
        </p:spPr>
        <p:txBody>
          <a:bodyPr wrap="square" rtlCol="0" anchor="ctr"/>
          <a:lstStyle/>
          <a:p>
            <a:pPr marL="0" indent="0">
              <a:buNone/>
            </a:pPr>
            <a:r>
              <a:rPr lang="en-US" sz="1300" b="1" dirty="0">
                <a:solidFill>
                  <a:srgbClr val="1A1A2E"/>
                </a:solidFill>
                <a:latin typeface="Calibri" pitchFamily="34" charset="0"/>
                <a:ea typeface="Calibri" pitchFamily="34" charset="-122"/>
                <a:cs typeface="Calibri" pitchFamily="34" charset="-120"/>
              </a:rPr>
              <a:t>भरोसेमंदता</a:t>
            </a:r>
            <a:endParaRPr lang="en-US" sz="1300" dirty="0"/>
          </a:p>
        </p:txBody>
      </p:sp>
      <p:sp>
        <p:nvSpPr>
          <p:cNvPr id="44" name="Text 41"/>
          <p:cNvSpPr/>
          <p:nvPr/>
        </p:nvSpPr>
        <p:spPr>
          <a:xfrm>
            <a:off x="3520440" y="3078286"/>
            <a:ext cx="2520000" cy="438912"/>
          </a:xfrm>
          <a:prstGeom prst="rect">
            <a:avLst/>
          </a:prstGeom>
          <a:noFill/>
          <a:ln/>
        </p:spPr>
        <p:txBody>
          <a:bodyPr wrap="square" rtlCol="0" anchor="t"/>
          <a:lstStyle/>
          <a:p>
            <a:pPr marL="0" indent="0">
              <a:buNone/>
            </a:pPr>
            <a:r>
              <a:rPr lang="en-US" sz="1050" dirty="0">
                <a:solidFill>
                  <a:srgbClr val="64748B"/>
                </a:solidFill>
                <a:latin typeface="Calibri" pitchFamily="34" charset="0"/>
                <a:ea typeface="Calibri" pitchFamily="34" charset="-122"/>
                <a:cs typeface="Calibri" pitchFamily="34" charset="-120"/>
              </a:rPr>
              <a:t>जो कहा वो करें। जब कहा तब करें। यह किसी भी डिग्री से दुर्लभ है।</a:t>
            </a:r>
            <a:endParaRPr lang="en-US" sz="1050" dirty="0"/>
          </a:p>
        </p:txBody>
      </p:sp>
      <p:sp>
        <p:nvSpPr>
          <p:cNvPr id="45" name="Shape 42"/>
          <p:cNvSpPr/>
          <p:nvPr/>
        </p:nvSpPr>
        <p:spPr>
          <a:xfrm>
            <a:off x="6254496" y="2758246"/>
            <a:ext cx="2651760" cy="738000"/>
          </a:xfrm>
          <a:prstGeom prst="rect">
            <a:avLst/>
          </a:prstGeom>
          <a:solidFill>
            <a:srgbClr val="F8FAFC"/>
          </a:solidFill>
          <a:ln w="12700">
            <a:solidFill>
              <a:srgbClr val="E2E8F0"/>
            </a:solidFill>
            <a:prstDash val="solid"/>
          </a:ln>
        </p:spPr>
      </p:sp>
      <p:sp>
        <p:nvSpPr>
          <p:cNvPr id="46" name="Shape 43"/>
          <p:cNvSpPr/>
          <p:nvPr/>
        </p:nvSpPr>
        <p:spPr>
          <a:xfrm>
            <a:off x="6254496" y="2758246"/>
            <a:ext cx="73152" cy="738000"/>
          </a:xfrm>
          <a:prstGeom prst="rect">
            <a:avLst/>
          </a:prstGeom>
          <a:solidFill>
            <a:srgbClr val="7F77DD"/>
          </a:solidFill>
          <a:ln w="12700">
            <a:solidFill>
              <a:srgbClr val="7F77DD"/>
            </a:solidFill>
            <a:prstDash val="solid"/>
          </a:ln>
        </p:spPr>
      </p:sp>
      <p:sp>
        <p:nvSpPr>
          <p:cNvPr id="47" name="Text 44"/>
          <p:cNvSpPr/>
          <p:nvPr/>
        </p:nvSpPr>
        <p:spPr>
          <a:xfrm>
            <a:off x="8620200" y="2813110"/>
            <a:ext cx="274320" cy="182880"/>
          </a:xfrm>
          <a:prstGeom prst="rect">
            <a:avLst/>
          </a:prstGeom>
          <a:noFill/>
          <a:ln/>
        </p:spPr>
        <p:txBody>
          <a:bodyPr wrap="square" rtlCol="0" anchor="ctr"/>
          <a:lstStyle/>
          <a:p>
            <a:pPr marL="0" indent="0" algn="r">
              <a:buNone/>
            </a:pPr>
            <a:r>
              <a:rPr lang="en-US" sz="900" b="1" dirty="0">
                <a:solidFill>
                  <a:srgbClr val="7F77DD"/>
                </a:solidFill>
                <a:latin typeface="Calibri" pitchFamily="34" charset="0"/>
                <a:ea typeface="Calibri" pitchFamily="34" charset="-122"/>
                <a:cs typeface="Calibri" pitchFamily="34" charset="-120"/>
              </a:rPr>
              <a:t>9</a:t>
            </a:r>
            <a:endParaRPr lang="en-US" sz="900" dirty="0"/>
          </a:p>
        </p:txBody>
      </p:sp>
      <p:sp>
        <p:nvSpPr>
          <p:cNvPr id="48" name="Text 45"/>
          <p:cNvSpPr/>
          <p:nvPr/>
        </p:nvSpPr>
        <p:spPr>
          <a:xfrm>
            <a:off x="6419088" y="2803966"/>
            <a:ext cx="2103120" cy="256032"/>
          </a:xfrm>
          <a:prstGeom prst="rect">
            <a:avLst/>
          </a:prstGeom>
          <a:noFill/>
          <a:ln/>
        </p:spPr>
        <p:txBody>
          <a:bodyPr wrap="square" rtlCol="0" anchor="ctr"/>
          <a:lstStyle/>
          <a:p>
            <a:pPr marL="0" indent="0">
              <a:buNone/>
            </a:pPr>
            <a:r>
              <a:rPr lang="en-US" sz="1300" b="1" dirty="0">
                <a:solidFill>
                  <a:srgbClr val="1A1A2E"/>
                </a:solidFill>
                <a:latin typeface="Calibri" pitchFamily="34" charset="0"/>
                <a:ea typeface="Calibri" pitchFamily="34" charset="-122"/>
                <a:cs typeface="Calibri" pitchFamily="34" charset="-120"/>
              </a:rPr>
              <a:t>अनुकूलनशीलता</a:t>
            </a:r>
            <a:endParaRPr lang="en-US" sz="1300" dirty="0"/>
          </a:p>
        </p:txBody>
      </p:sp>
      <p:sp>
        <p:nvSpPr>
          <p:cNvPr id="49" name="Text 46"/>
          <p:cNvSpPr/>
          <p:nvPr/>
        </p:nvSpPr>
        <p:spPr>
          <a:xfrm>
            <a:off x="6419088" y="3078286"/>
            <a:ext cx="2520000" cy="438912"/>
          </a:xfrm>
          <a:prstGeom prst="rect">
            <a:avLst/>
          </a:prstGeom>
          <a:noFill/>
          <a:ln/>
        </p:spPr>
        <p:txBody>
          <a:bodyPr wrap="square" rtlCol="0" anchor="t"/>
          <a:lstStyle/>
          <a:p>
            <a:pPr marL="0" indent="0">
              <a:buNone/>
            </a:pPr>
            <a:r>
              <a:rPr lang="en-US" sz="1050" dirty="0">
                <a:solidFill>
                  <a:srgbClr val="64748B"/>
                </a:solidFill>
                <a:latin typeface="Calibri" pitchFamily="34" charset="0"/>
                <a:ea typeface="Calibri" pitchFamily="34" charset="-122"/>
                <a:cs typeface="Calibri" pitchFamily="34" charset="-120"/>
              </a:rPr>
              <a:t>मार्केट तेज़ी से बदलता है। जो जल्दी ढल जाते हैं, वे हमेशा जीतते हैं।</a:t>
            </a:r>
            <a:endParaRPr lang="en-US" sz="1050" dirty="0"/>
          </a:p>
        </p:txBody>
      </p:sp>
      <p:sp>
        <p:nvSpPr>
          <p:cNvPr id="50" name="Shape 47"/>
          <p:cNvSpPr/>
          <p:nvPr/>
        </p:nvSpPr>
        <p:spPr>
          <a:xfrm>
            <a:off x="457200" y="4673600"/>
            <a:ext cx="73152" cy="177800"/>
          </a:xfrm>
          <a:prstGeom prst="rect">
            <a:avLst/>
          </a:prstGeom>
          <a:solidFill>
            <a:srgbClr val="1D9E75"/>
          </a:solidFill>
          <a:ln w="12700">
            <a:solidFill>
              <a:srgbClr val="1D9E75"/>
            </a:solidFill>
            <a:prstDash val="solid"/>
          </a:ln>
        </p:spPr>
      </p:sp>
      <p:sp>
        <p:nvSpPr>
          <p:cNvPr id="51" name="Text 48"/>
          <p:cNvSpPr/>
          <p:nvPr/>
        </p:nvSpPr>
        <p:spPr>
          <a:xfrm>
            <a:off x="594360" y="4673600"/>
            <a:ext cx="1280160" cy="177800"/>
          </a:xfrm>
          <a:prstGeom prst="rect">
            <a:avLst/>
          </a:prstGeom>
          <a:noFill/>
          <a:ln/>
        </p:spPr>
        <p:txBody>
          <a:bodyPr wrap="square" rtlCol="0" anchor="ctr"/>
          <a:lstStyle/>
          <a:p>
            <a:pPr marL="0" indent="0">
              <a:buNone/>
            </a:pPr>
            <a:r>
              <a:rPr lang="en-US" sz="1000" b="1" dirty="0">
                <a:solidFill>
                  <a:srgbClr val="1D9E75"/>
                </a:solidFill>
                <a:latin typeface="Calibri" pitchFamily="34" charset="0"/>
                <a:ea typeface="Calibri" pitchFamily="34" charset="-122"/>
                <a:cs typeface="Calibri" pitchFamily="34" charset="-120"/>
              </a:rPr>
              <a:t>आधार</a:t>
            </a:r>
            <a:endParaRPr lang="en-US" sz="1000" dirty="0"/>
          </a:p>
        </p:txBody>
      </p:sp>
      <p:sp>
        <p:nvSpPr>
          <p:cNvPr id="52" name="Shape 49"/>
          <p:cNvSpPr/>
          <p:nvPr/>
        </p:nvSpPr>
        <p:spPr>
          <a:xfrm>
            <a:off x="2103120" y="4673600"/>
            <a:ext cx="73152" cy="177800"/>
          </a:xfrm>
          <a:prstGeom prst="rect">
            <a:avLst/>
          </a:prstGeom>
          <a:solidFill>
            <a:srgbClr val="EF9F27"/>
          </a:solidFill>
          <a:ln w="12700">
            <a:solidFill>
              <a:srgbClr val="EF9F27"/>
            </a:solidFill>
            <a:prstDash val="solid"/>
          </a:ln>
        </p:spPr>
      </p:sp>
      <p:sp>
        <p:nvSpPr>
          <p:cNvPr id="53" name="Text 50"/>
          <p:cNvSpPr/>
          <p:nvPr/>
        </p:nvSpPr>
        <p:spPr>
          <a:xfrm>
            <a:off x="2240280" y="4673600"/>
            <a:ext cx="1463040" cy="177800"/>
          </a:xfrm>
          <a:prstGeom prst="rect">
            <a:avLst/>
          </a:prstGeom>
          <a:noFill/>
          <a:ln/>
        </p:spPr>
        <p:txBody>
          <a:bodyPr wrap="square" rtlCol="0" anchor="ctr"/>
          <a:lstStyle/>
          <a:p>
            <a:pPr marL="0" indent="0">
              <a:buNone/>
            </a:pPr>
            <a:r>
              <a:rPr lang="en-US" sz="1000" b="1" dirty="0">
                <a:solidFill>
                  <a:srgbClr val="EF9F27"/>
                </a:solidFill>
                <a:latin typeface="Calibri" pitchFamily="34" charset="0"/>
                <a:ea typeface="Calibri" pitchFamily="34" charset="-122"/>
                <a:cs typeface="Calibri" pitchFamily="34" charset="-120"/>
              </a:rPr>
              <a:t>संवाद कौशल</a:t>
            </a:r>
            <a:endParaRPr lang="en-US" sz="1000" dirty="0"/>
          </a:p>
        </p:txBody>
      </p:sp>
      <p:sp>
        <p:nvSpPr>
          <p:cNvPr id="54" name="Shape 51"/>
          <p:cNvSpPr/>
          <p:nvPr/>
        </p:nvSpPr>
        <p:spPr>
          <a:xfrm>
            <a:off x="3931920" y="4673600"/>
            <a:ext cx="73152" cy="177800"/>
          </a:xfrm>
          <a:prstGeom prst="rect">
            <a:avLst/>
          </a:prstGeom>
          <a:solidFill>
            <a:srgbClr val="7F77DD"/>
          </a:solidFill>
          <a:ln w="12700">
            <a:solidFill>
              <a:srgbClr val="7F77DD"/>
            </a:solidFill>
            <a:prstDash val="solid"/>
          </a:ln>
        </p:spPr>
      </p:sp>
      <p:sp>
        <p:nvSpPr>
          <p:cNvPr id="55" name="Text 52"/>
          <p:cNvSpPr/>
          <p:nvPr/>
        </p:nvSpPr>
        <p:spPr>
          <a:xfrm>
            <a:off x="4069080" y="4673600"/>
            <a:ext cx="1097280" cy="177800"/>
          </a:xfrm>
          <a:prstGeom prst="rect">
            <a:avLst/>
          </a:prstGeom>
          <a:noFill/>
          <a:ln/>
        </p:spPr>
        <p:txBody>
          <a:bodyPr wrap="square" rtlCol="0" anchor="ctr"/>
          <a:lstStyle/>
          <a:p>
            <a:pPr marL="0" indent="0">
              <a:buNone/>
            </a:pPr>
            <a:r>
              <a:rPr lang="en-US" sz="1000" b="1" dirty="0">
                <a:solidFill>
                  <a:srgbClr val="7F77DD"/>
                </a:solidFill>
                <a:latin typeface="Calibri" pitchFamily="34" charset="0"/>
                <a:ea typeface="Calibri" pitchFamily="34" charset="-122"/>
                <a:cs typeface="Calibri" pitchFamily="34" charset="-120"/>
              </a:rPr>
              <a:t>मानसिकता</a:t>
            </a:r>
            <a:endParaRPr lang="en-US" sz="1000" dirty="0"/>
          </a:p>
        </p:txBody>
      </p:sp>
      <p:sp>
        <p:nvSpPr>
          <p:cNvPr id="58" name="Shape 55"/>
          <p:cNvSpPr/>
          <p:nvPr/>
        </p:nvSpPr>
        <p:spPr>
          <a:xfrm>
            <a:off x="0" y="4864608"/>
            <a:ext cx="9144000" cy="278892"/>
          </a:xfrm>
          <a:prstGeom prst="rect">
            <a:avLst/>
          </a:prstGeom>
          <a:solidFill>
            <a:srgbClr val="E1F5EE"/>
          </a:solidFill>
          <a:ln w="12700">
            <a:solidFill>
              <a:srgbClr val="E1F5EE"/>
            </a:solidFill>
            <a:prstDash val="solid"/>
          </a:ln>
        </p:spPr>
      </p:sp>
      <p:pic>
        <p:nvPicPr>
          <p:cNvPr id="59" name="Image 1" descr="preencoded.png"/>
          <p:cNvPicPr>
            <a:picLocks noChangeAspect="1"/>
          </p:cNvPicPr>
          <p:nvPr/>
        </p:nvPicPr>
        <p:blipFill>
          <a:blip r:embed="rId4"/>
          <a:stretch>
            <a:fillRect/>
          </a:stretch>
        </p:blipFill>
        <p:spPr>
          <a:xfrm>
            <a:off x="109728" y="4873752"/>
            <a:ext cx="1005840" cy="246888"/>
          </a:xfrm>
          <a:prstGeom prst="rect">
            <a:avLst/>
          </a:prstGeom>
        </p:spPr>
      </p:pic>
      <p:sp>
        <p:nvSpPr>
          <p:cNvPr id="60" name="Text 56"/>
          <p:cNvSpPr/>
          <p:nvPr/>
        </p:nvSpPr>
        <p:spPr>
          <a:xfrm>
            <a:off x="6858000" y="4882896"/>
            <a:ext cx="2176272" cy="219456"/>
          </a:xfrm>
          <a:prstGeom prst="rect">
            <a:avLst/>
          </a:prstGeom>
          <a:noFill/>
          <a:ln/>
        </p:spPr>
        <p:txBody>
          <a:bodyPr wrap="square" rtlCol="0" anchor="ctr"/>
          <a:lstStyle/>
          <a:p>
            <a:pPr marL="0" indent="0" algn="r">
              <a:buNone/>
            </a:pPr>
            <a:r>
              <a:rPr lang="en-US" sz="900" dirty="0">
                <a:solidFill>
                  <a:srgbClr val="085041"/>
                </a:solidFill>
                <a:latin typeface="Calibri" pitchFamily="34" charset="0"/>
                <a:ea typeface="Calibri" pitchFamily="34" charset="-122"/>
                <a:cs typeface="Calibri" pitchFamily="34" charset="-120"/>
              </a:rPr>
              <a:t>Pehchaancareers.in</a:t>
            </a:r>
            <a:endParaRPr lang="en-US" sz="900" dirty="0"/>
          </a:p>
        </p:txBody>
      </p:sp>
      <p:sp>
        <p:nvSpPr>
          <p:cNvPr id="56" name="Shape 53"/>
          <p:cNvSpPr/>
          <p:nvPr/>
        </p:nvSpPr>
        <p:spPr>
          <a:xfrm>
            <a:off x="457200" y="4359964"/>
            <a:ext cx="8449056" cy="288000"/>
          </a:xfrm>
          <a:prstGeom prst="rect">
            <a:avLst/>
          </a:prstGeom>
          <a:solidFill>
            <a:srgbClr val="1D9E75"/>
          </a:solidFill>
          <a:ln w="12700">
            <a:solidFill>
              <a:srgbClr val="1D9E75"/>
            </a:solidFill>
            <a:prstDash val="solid"/>
          </a:ln>
        </p:spPr>
        <p:txBody>
          <a:bodyPr/>
          <a:lstStyle/>
          <a:p>
            <a:endParaRPr lang="en-IN" dirty="0"/>
          </a:p>
        </p:txBody>
      </p:sp>
      <p:sp>
        <p:nvSpPr>
          <p:cNvPr id="57" name="Text 54"/>
          <p:cNvSpPr/>
          <p:nvPr/>
        </p:nvSpPr>
        <p:spPr>
          <a:xfrm>
            <a:off x="1452677" y="4395600"/>
            <a:ext cx="6655526" cy="292608"/>
          </a:xfrm>
          <a:prstGeom prst="rect">
            <a:avLst/>
          </a:prstGeom>
          <a:noFill/>
          <a:ln/>
        </p:spPr>
        <p:txBody>
          <a:bodyPr wrap="square"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इनमें से किसी के लिए भी बोर्ड में 90% ज़रूरी नहीं। </a:t>
            </a:r>
            <a:r>
              <a:rPr lang="en-US" sz="1200" dirty="0">
                <a:solidFill>
                  <a:srgbClr val="E1F5EE"/>
                </a:solidFill>
                <a:latin typeface="Calibri" pitchFamily="34" charset="0"/>
                <a:ea typeface="Calibri" pitchFamily="34" charset="-122"/>
                <a:cs typeface="Calibri" pitchFamily="34" charset="-120"/>
              </a:rPr>
              <a:t>ये सब सीखी जा सकती हैं। </a:t>
            </a:r>
            <a:r>
              <a:rPr lang="en-US" sz="1200" dirty="0" err="1">
                <a:solidFill>
                  <a:srgbClr val="E1F5EE"/>
                </a:solidFill>
                <a:latin typeface="Calibri" pitchFamily="34" charset="0"/>
                <a:ea typeface="Calibri" pitchFamily="34" charset="-122"/>
                <a:cs typeface="Calibri" pitchFamily="34" charset="-120"/>
              </a:rPr>
              <a:t>Pehchaan</a:t>
            </a:r>
            <a:r>
              <a:rPr lang="en-US" sz="1200" dirty="0">
                <a:solidFill>
                  <a:srgbClr val="E1F5EE"/>
                </a:solidFill>
                <a:latin typeface="Calibri" pitchFamily="34" charset="0"/>
                <a:ea typeface="Calibri" pitchFamily="34" charset="-122"/>
                <a:cs typeface="Calibri" pitchFamily="34" charset="-120"/>
              </a:rPr>
              <a:t> हर एक सिखाता है।</a:t>
            </a:r>
            <a:endParaRPr lang="en-US" sz="1200" dirty="0"/>
          </a:p>
        </p:txBody>
      </p:sp>
      <p:sp>
        <p:nvSpPr>
          <p:cNvPr id="200" name="AIShape200"/>
          <p:cNvSpPr/>
          <p:nvPr/>
        </p:nvSpPr>
        <p:spPr>
          <a:xfrm>
            <a:off x="457200" y="3587496"/>
            <a:ext cx="2651760" cy="738000"/>
          </a:xfrm>
          <a:prstGeom prst="rect">
            <a:avLst/>
          </a:prstGeom>
          <a:solidFill>
            <a:srgbClr val="F8FAFC"/>
          </a:solidFill>
          <a:ln w="12700">
            <a:solidFill>
              <a:srgbClr val="E2E8F0"/>
            </a:solidFill>
            <a:prstDash val="solid"/>
          </a:ln>
        </p:spPr>
      </p:sp>
      <p:sp>
        <p:nvSpPr>
          <p:cNvPr id="201" name="AIAccent201"/>
          <p:cNvSpPr/>
          <p:nvPr/>
        </p:nvSpPr>
        <p:spPr>
          <a:xfrm>
            <a:off x="457200" y="3587496"/>
            <a:ext cx="73152" cy="738000"/>
          </a:xfrm>
          <a:prstGeom prst="rect">
            <a:avLst/>
          </a:prstGeom>
          <a:solidFill>
            <a:srgbClr val="1A1A2E"/>
          </a:solidFill>
          <a:ln w="12700">
            <a:solidFill>
              <a:srgbClr val="1A1A2E"/>
            </a:solidFill>
            <a:prstDash val="solid"/>
          </a:ln>
        </p:spPr>
      </p:sp>
      <p:sp>
        <p:nvSpPr>
          <p:cNvPr id="202" name="AINum202"/>
          <p:cNvSpPr/>
          <p:nvPr/>
        </p:nvSpPr>
        <p:spPr>
          <a:xfrm>
            <a:off x="2798064" y="3642360"/>
            <a:ext cx="324000" cy="182880"/>
          </a:xfrm>
          <a:prstGeom prst="rect">
            <a:avLst/>
          </a:prstGeom>
          <a:noFill/>
          <a:ln/>
        </p:spPr>
        <p:txBody>
          <a:bodyPr wrap="square" rtlCol="0" anchor="ctr"/>
          <a:lstStyle/>
          <a:p>
            <a:pPr marL="0" indent="0" algn="r">
              <a:buNone/>
            </a:pPr>
            <a:r>
              <a:rPr lang="en-US" sz="900" b="1" dirty="0">
                <a:solidFill>
                  <a:srgbClr val="1A1A2E"/>
                </a:solidFill>
                <a:latin typeface="Calibri" pitchFamily="34" charset="0"/>
              </a:rPr>
              <a:t>10</a:t>
            </a:r>
          </a:p>
        </p:txBody>
      </p:sp>
      <p:sp>
        <p:nvSpPr>
          <p:cNvPr id="203" name="AIName203"/>
          <p:cNvSpPr/>
          <p:nvPr/>
        </p:nvSpPr>
        <p:spPr>
          <a:xfrm>
            <a:off x="621552" y="3633216"/>
            <a:ext cx="2103120" cy="256032"/>
          </a:xfrm>
          <a:prstGeom prst="rect">
            <a:avLst/>
          </a:prstGeom>
          <a:noFill/>
          <a:ln/>
        </p:spPr>
        <p:txBody>
          <a:bodyPr wrap="square" rtlCol="0" anchor="ctr"/>
          <a:lstStyle/>
          <a:p>
            <a:pPr marL="0" indent="0">
              <a:buNone/>
            </a:pPr>
            <a:r>
              <a:rPr lang="en-US" sz="1300" b="1" dirty="0">
                <a:solidFill>
                  <a:srgbClr val="1A1A2E"/>
                </a:solidFill>
                <a:latin typeface="Calibri" pitchFamily="34" charset="0"/>
              </a:rPr>
              <a:t>AI टूल्स साक्षरता</a:t>
            </a:r>
          </a:p>
        </p:txBody>
      </p:sp>
      <p:sp>
        <p:nvSpPr>
          <p:cNvPr id="204" name="AIDesc204"/>
          <p:cNvSpPr/>
          <p:nvPr/>
        </p:nvSpPr>
        <p:spPr>
          <a:xfrm>
            <a:off x="621552" y="3907536"/>
            <a:ext cx="2395728" cy="438912"/>
          </a:xfrm>
          <a:prstGeom prst="rect">
            <a:avLst/>
          </a:prstGeom>
          <a:noFill/>
          <a:ln/>
        </p:spPr>
        <p:txBody>
          <a:bodyPr wrap="square" rtlCol="0" anchor="t"/>
          <a:lstStyle/>
          <a:p>
            <a:pPr marL="0" indent="0">
              <a:buNone/>
            </a:pPr>
            <a:r>
              <a:rPr lang="en-US" sz="1050" dirty="0">
                <a:solidFill>
                  <a:srgbClr val="64748B"/>
                </a:solidFill>
                <a:latin typeface="Calibri" pitchFamily="34" charset="0"/>
              </a:rPr>
              <a:t>ChatGPT, Gemini, Canva AI जैसे टूल्स से तेज़ काम </a:t>
            </a:r>
            <a:r>
              <a:rPr lang="en-US" sz="1050" dirty="0" err="1">
                <a:solidFill>
                  <a:srgbClr val="64748B"/>
                </a:solidFill>
                <a:latin typeface="Calibri" pitchFamily="34" charset="0"/>
              </a:rPr>
              <a:t>करें</a:t>
            </a:r>
            <a:r>
              <a:rPr lang="en-US" sz="1050" dirty="0">
                <a:solidFill>
                  <a:srgbClr val="64748B"/>
                </a:solidFill>
                <a:latin typeface="Calibri" pitchFamily="34" charset="0"/>
              </a:rPr>
              <a:t>।</a:t>
            </a:r>
          </a:p>
        </p:txBody>
      </p:sp>
      <p:sp>
        <p:nvSpPr>
          <p:cNvPr id="210" name="AIShape210"/>
          <p:cNvSpPr/>
          <p:nvPr/>
        </p:nvSpPr>
        <p:spPr>
          <a:xfrm>
            <a:off x="3355848" y="3587496"/>
            <a:ext cx="2651760" cy="738000"/>
          </a:xfrm>
          <a:prstGeom prst="rect">
            <a:avLst/>
          </a:prstGeom>
          <a:solidFill>
            <a:srgbClr val="F8FAFC"/>
          </a:solidFill>
          <a:ln w="12700">
            <a:solidFill>
              <a:srgbClr val="E2E8F0"/>
            </a:solidFill>
            <a:prstDash val="solid"/>
          </a:ln>
        </p:spPr>
      </p:sp>
      <p:sp>
        <p:nvSpPr>
          <p:cNvPr id="211" name="AIAccent211"/>
          <p:cNvSpPr/>
          <p:nvPr/>
        </p:nvSpPr>
        <p:spPr>
          <a:xfrm>
            <a:off x="3355848" y="3587496"/>
            <a:ext cx="73152" cy="738000"/>
          </a:xfrm>
          <a:prstGeom prst="rect">
            <a:avLst/>
          </a:prstGeom>
          <a:solidFill>
            <a:srgbClr val="1A1A2E"/>
          </a:solidFill>
          <a:ln w="12700">
            <a:solidFill>
              <a:srgbClr val="1A1A2E"/>
            </a:solidFill>
            <a:prstDash val="solid"/>
          </a:ln>
        </p:spPr>
      </p:sp>
      <p:sp>
        <p:nvSpPr>
          <p:cNvPr id="212" name="AINum212"/>
          <p:cNvSpPr/>
          <p:nvPr/>
        </p:nvSpPr>
        <p:spPr>
          <a:xfrm>
            <a:off x="5696712" y="3642360"/>
            <a:ext cx="324000" cy="182880"/>
          </a:xfrm>
          <a:prstGeom prst="rect">
            <a:avLst/>
          </a:prstGeom>
          <a:noFill/>
          <a:ln/>
        </p:spPr>
        <p:txBody>
          <a:bodyPr wrap="square" rtlCol="0" anchor="ctr"/>
          <a:lstStyle/>
          <a:p>
            <a:pPr marL="0" indent="0" algn="r">
              <a:buNone/>
            </a:pPr>
            <a:r>
              <a:rPr lang="en-US" sz="900" b="1" dirty="0">
                <a:solidFill>
                  <a:srgbClr val="1A1A2E"/>
                </a:solidFill>
                <a:latin typeface="Calibri" pitchFamily="34" charset="0"/>
              </a:rPr>
              <a:t>11</a:t>
            </a:r>
          </a:p>
        </p:txBody>
      </p:sp>
      <p:sp>
        <p:nvSpPr>
          <p:cNvPr id="213" name="AIName213"/>
          <p:cNvSpPr/>
          <p:nvPr/>
        </p:nvSpPr>
        <p:spPr>
          <a:xfrm>
            <a:off x="3520200" y="3633216"/>
            <a:ext cx="2103120" cy="256032"/>
          </a:xfrm>
          <a:prstGeom prst="rect">
            <a:avLst/>
          </a:prstGeom>
          <a:noFill/>
          <a:ln/>
        </p:spPr>
        <p:txBody>
          <a:bodyPr wrap="square" rtlCol="0" anchor="ctr"/>
          <a:lstStyle/>
          <a:p>
            <a:pPr marL="0" indent="0">
              <a:buNone/>
            </a:pPr>
            <a:r>
              <a:rPr lang="en-US" sz="1300" b="1" dirty="0">
                <a:solidFill>
                  <a:srgbClr val="1A1A2E"/>
                </a:solidFill>
                <a:latin typeface="Calibri" pitchFamily="34" charset="0"/>
              </a:rPr>
              <a:t>प्रॉम्प्ट थिंकिंग</a:t>
            </a:r>
          </a:p>
        </p:txBody>
      </p:sp>
      <p:sp>
        <p:nvSpPr>
          <p:cNvPr id="214" name="AIDesc214"/>
          <p:cNvSpPr/>
          <p:nvPr/>
        </p:nvSpPr>
        <p:spPr>
          <a:xfrm>
            <a:off x="3520200" y="3907536"/>
            <a:ext cx="2395728" cy="438912"/>
          </a:xfrm>
          <a:prstGeom prst="rect">
            <a:avLst/>
          </a:prstGeom>
          <a:noFill/>
          <a:ln/>
        </p:spPr>
        <p:txBody>
          <a:bodyPr wrap="square" rtlCol="0" anchor="t"/>
          <a:lstStyle/>
          <a:p>
            <a:pPr marL="0" indent="0">
              <a:buNone/>
            </a:pPr>
            <a:r>
              <a:rPr lang="en-US" sz="1050" dirty="0">
                <a:solidFill>
                  <a:srgbClr val="64748B"/>
                </a:solidFill>
                <a:latin typeface="Calibri" pitchFamily="34" charset="0"/>
              </a:rPr>
              <a:t>सही सवाल पूछना जानो — सही जवाब </a:t>
            </a:r>
            <a:r>
              <a:rPr lang="en-US" sz="1050" dirty="0" err="1">
                <a:solidFill>
                  <a:srgbClr val="64748B"/>
                </a:solidFill>
                <a:latin typeface="Calibri" pitchFamily="34" charset="0"/>
              </a:rPr>
              <a:t>मिलेगा</a:t>
            </a:r>
            <a:r>
              <a:rPr lang="en-US" sz="1050" dirty="0">
                <a:solidFill>
                  <a:srgbClr val="64748B"/>
                </a:solidFill>
                <a:latin typeface="Calibri" pitchFamily="34" charset="0"/>
              </a:rPr>
              <a:t>।</a:t>
            </a:r>
          </a:p>
        </p:txBody>
      </p:sp>
      <p:sp>
        <p:nvSpPr>
          <p:cNvPr id="220" name="AIShape220"/>
          <p:cNvSpPr/>
          <p:nvPr/>
        </p:nvSpPr>
        <p:spPr>
          <a:xfrm>
            <a:off x="6254496" y="3587496"/>
            <a:ext cx="2651760" cy="738000"/>
          </a:xfrm>
          <a:prstGeom prst="rect">
            <a:avLst/>
          </a:prstGeom>
          <a:solidFill>
            <a:srgbClr val="F8FAFC"/>
          </a:solidFill>
          <a:ln w="12700">
            <a:solidFill>
              <a:srgbClr val="E2E8F0"/>
            </a:solidFill>
            <a:prstDash val="solid"/>
          </a:ln>
        </p:spPr>
      </p:sp>
      <p:sp>
        <p:nvSpPr>
          <p:cNvPr id="221" name="AIAccent221"/>
          <p:cNvSpPr/>
          <p:nvPr/>
        </p:nvSpPr>
        <p:spPr>
          <a:xfrm>
            <a:off x="6254496" y="3587496"/>
            <a:ext cx="73152" cy="738000"/>
          </a:xfrm>
          <a:prstGeom prst="rect">
            <a:avLst/>
          </a:prstGeom>
          <a:solidFill>
            <a:srgbClr val="1A1A2E"/>
          </a:solidFill>
          <a:ln w="12700">
            <a:solidFill>
              <a:srgbClr val="1A1A2E"/>
            </a:solidFill>
            <a:prstDash val="solid"/>
          </a:ln>
        </p:spPr>
      </p:sp>
      <p:sp>
        <p:nvSpPr>
          <p:cNvPr id="222" name="AINum222"/>
          <p:cNvSpPr/>
          <p:nvPr/>
        </p:nvSpPr>
        <p:spPr>
          <a:xfrm>
            <a:off x="8595360" y="3642360"/>
            <a:ext cx="324000" cy="182880"/>
          </a:xfrm>
          <a:prstGeom prst="rect">
            <a:avLst/>
          </a:prstGeom>
          <a:noFill/>
          <a:ln/>
        </p:spPr>
        <p:txBody>
          <a:bodyPr wrap="square" rtlCol="0" anchor="ctr"/>
          <a:lstStyle/>
          <a:p>
            <a:pPr marL="0" indent="0" algn="r">
              <a:buNone/>
            </a:pPr>
            <a:r>
              <a:rPr lang="en-US" sz="900" b="1" dirty="0">
                <a:solidFill>
                  <a:srgbClr val="1A1A2E"/>
                </a:solidFill>
                <a:latin typeface="Calibri" pitchFamily="34" charset="0"/>
              </a:rPr>
              <a:t>12</a:t>
            </a:r>
          </a:p>
        </p:txBody>
      </p:sp>
      <p:sp>
        <p:nvSpPr>
          <p:cNvPr id="223" name="AIName223"/>
          <p:cNvSpPr/>
          <p:nvPr/>
        </p:nvSpPr>
        <p:spPr>
          <a:xfrm>
            <a:off x="6418848" y="3633216"/>
            <a:ext cx="2103120" cy="256032"/>
          </a:xfrm>
          <a:prstGeom prst="rect">
            <a:avLst/>
          </a:prstGeom>
          <a:noFill/>
          <a:ln/>
        </p:spPr>
        <p:txBody>
          <a:bodyPr wrap="square" rtlCol="0" anchor="ctr"/>
          <a:lstStyle/>
          <a:p>
            <a:pPr marL="0" indent="0">
              <a:buNone/>
            </a:pPr>
            <a:r>
              <a:rPr lang="en-US" sz="1300" b="1" dirty="0">
                <a:solidFill>
                  <a:srgbClr val="1A1A2E"/>
                </a:solidFill>
                <a:latin typeface="Calibri" pitchFamily="34" charset="0"/>
              </a:rPr>
              <a:t>मानवीय + AI निर्णय</a:t>
            </a:r>
          </a:p>
        </p:txBody>
      </p:sp>
      <p:sp>
        <p:nvSpPr>
          <p:cNvPr id="224" name="AIDesc224"/>
          <p:cNvSpPr/>
          <p:nvPr/>
        </p:nvSpPr>
        <p:spPr>
          <a:xfrm>
            <a:off x="6418848" y="3907536"/>
            <a:ext cx="2395728" cy="438912"/>
          </a:xfrm>
          <a:prstGeom prst="rect">
            <a:avLst/>
          </a:prstGeom>
          <a:noFill/>
          <a:ln/>
        </p:spPr>
        <p:txBody>
          <a:bodyPr wrap="square" rtlCol="0" anchor="t"/>
          <a:lstStyle/>
          <a:p>
            <a:r>
              <a:rPr lang="en-US" sz="1050" dirty="0">
                <a:solidFill>
                  <a:srgbClr val="64748B"/>
                </a:solidFill>
                <a:latin typeface="Calibri" pitchFamily="34" charset="0"/>
              </a:rPr>
              <a:t>AI पर कब भरोसा करें और कब </a:t>
            </a:r>
            <a:r>
              <a:rPr lang="en-US" sz="1050" dirty="0" err="1">
                <a:solidFill>
                  <a:srgbClr val="64748B"/>
                </a:solidFill>
                <a:latin typeface="Calibri" pitchFamily="34" charset="0"/>
              </a:rPr>
              <a:t>खुद</a:t>
            </a:r>
            <a:r>
              <a:rPr lang="en-US" sz="1050" dirty="0">
                <a:solidFill>
                  <a:srgbClr val="64748B"/>
                </a:solidFill>
                <a:latin typeface="Calibri" pitchFamily="34" charset="0"/>
              </a:rPr>
              <a:t> </a:t>
            </a:r>
            <a:r>
              <a:rPr lang="en-US" sz="1050" dirty="0" err="1">
                <a:solidFill>
                  <a:srgbClr val="64748B"/>
                </a:solidFill>
                <a:latin typeface="Calibri" pitchFamily="34" charset="0"/>
              </a:rPr>
              <a:t>सोचें</a:t>
            </a:r>
            <a:r>
              <a:rPr lang="en-US" sz="1050" dirty="0">
                <a:solidFill>
                  <a:srgbClr val="64748B"/>
                </a:solidFill>
                <a:latin typeface="Calibri" pitchFamily="34" charset="0"/>
              </a:rPr>
              <a:t> ।</a:t>
            </a:r>
          </a:p>
        </p:txBody>
      </p:sp>
      <p:sp>
        <p:nvSpPr>
          <p:cNvPr id="61" name="Rectangle 60">
            <a:extLst>
              <a:ext uri="{FF2B5EF4-FFF2-40B4-BE49-F238E27FC236}">
                <a16:creationId xmlns:a16="http://schemas.microsoft.com/office/drawing/2014/main" id="{BA479D41-A7BF-4338-A0E2-014B4D42A95E}"/>
              </a:ext>
            </a:extLst>
          </p:cNvPr>
          <p:cNvSpPr/>
          <p:nvPr/>
        </p:nvSpPr>
        <p:spPr>
          <a:xfrm>
            <a:off x="5232400" y="4673600"/>
            <a:ext cx="76200" cy="177800"/>
          </a:xfrm>
          <a:prstGeom prst="rect">
            <a:avLst/>
          </a:prstGeom>
          <a:solidFill>
            <a:srgbClr val="1A1A2E"/>
          </a:solidFill>
          <a:ln w="12700" cap="flat" cmpd="sng" algn="ctr">
            <a:solidFill>
              <a:srgbClr val="1A1A2E"/>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IN"/>
          </a:p>
        </p:txBody>
      </p:sp>
      <p:sp>
        <p:nvSpPr>
          <p:cNvPr id="62" name="TextBox 61">
            <a:extLst>
              <a:ext uri="{FF2B5EF4-FFF2-40B4-BE49-F238E27FC236}">
                <a16:creationId xmlns:a16="http://schemas.microsoft.com/office/drawing/2014/main" id="{D111DE4C-1DBD-4A6F-8685-D7D8B2371365}"/>
              </a:ext>
            </a:extLst>
          </p:cNvPr>
          <p:cNvSpPr txBox="1"/>
          <p:nvPr/>
        </p:nvSpPr>
        <p:spPr>
          <a:xfrm>
            <a:off x="5372100" y="4673600"/>
            <a:ext cx="1092200" cy="177800"/>
          </a:xfrm>
          <a:prstGeom prst="rect">
            <a:avLst/>
          </a:prstGeom>
          <a:noFill/>
        </p:spPr>
        <p:txBody>
          <a:bodyPr vertOverflow="overflow" vert="horz" wrap="square" rtlCol="0" anchor="ctr" anchorCtr="0">
            <a:noAutofit/>
          </a:bodyPr>
          <a:lstStyle/>
          <a:p>
            <a:pPr algn="l"/>
            <a:r>
              <a:rPr lang="en-IN" sz="1000" b="1">
                <a:solidFill>
                  <a:srgbClr val="1A1A2E"/>
                </a:solidFill>
                <a:latin typeface="Calibri"/>
                <a:ea typeface="Calibri"/>
                <a:cs typeface="Calibri"/>
              </a:rPr>
              <a:t>AI </a:t>
            </a:r>
            <a:r>
              <a:rPr lang="hi-IN" sz="1000" b="1">
                <a:solidFill>
                  <a:srgbClr val="1A1A2E"/>
                </a:solidFill>
                <a:latin typeface="Calibri"/>
                <a:ea typeface="Calibri"/>
              </a:rPr>
              <a:t>ज्ञान</a:t>
            </a:r>
            <a:endParaRPr lang="en-IN" sz="1000" b="1">
              <a:solidFill>
                <a:srgbClr val="1A1A2E"/>
              </a:solidFill>
              <a:latin typeface="Calibri"/>
              <a:ea typeface="Calibri"/>
              <a:cs typeface="Calibri"/>
            </a:endParaRPr>
          </a:p>
        </p:txBody>
      </p:sp>
    </p:spTree>
    <p:extLst>
      <p:ext uri="{BB962C8B-B14F-4D97-AF65-F5344CB8AC3E}">
        <p14:creationId xmlns:p14="http://schemas.microsoft.com/office/powerpoint/2010/main" val="5801960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8503920" y="109728"/>
            <a:ext cx="384048" cy="384048"/>
          </a:xfrm>
          <a:prstGeom prst="rect">
            <a:avLst/>
          </a:prstGeom>
        </p:spPr>
      </p:pic>
      <p:sp>
        <p:nvSpPr>
          <p:cNvPr id="3" name="Text 0"/>
          <p:cNvSpPr/>
          <p:nvPr/>
        </p:nvSpPr>
        <p:spPr>
          <a:xfrm>
            <a:off x="548640" y="228600"/>
            <a:ext cx="8046720" cy="502920"/>
          </a:xfrm>
          <a:prstGeom prst="rect">
            <a:avLst/>
          </a:prstGeom>
          <a:noFill/>
          <a:ln/>
        </p:spPr>
        <p:txBody>
          <a:bodyPr wrap="square" rtlCol="0" anchor="ctr"/>
          <a:lstStyle/>
          <a:p>
            <a:pPr marL="0" indent="0">
              <a:buNone/>
            </a:pPr>
            <a:r>
              <a:rPr lang="en-US" sz="2800" b="1" dirty="0">
                <a:solidFill>
                  <a:srgbClr val="1A1A2E"/>
                </a:solidFill>
                <a:latin typeface="Calibri" pitchFamily="34" charset="0"/>
                <a:ea typeface="Calibri" pitchFamily="34" charset="-122"/>
                <a:cs typeface="Calibri" pitchFamily="34" charset="-120"/>
              </a:rPr>
              <a:t>एक ही मंज़िल तक पहुँचने के दो रास्ते</a:t>
            </a:r>
            <a:endParaRPr lang="en-US" sz="2800" dirty="0"/>
          </a:p>
        </p:txBody>
      </p:sp>
      <p:sp>
        <p:nvSpPr>
          <p:cNvPr id="4" name="Text 1"/>
          <p:cNvSpPr/>
          <p:nvPr/>
        </p:nvSpPr>
        <p:spPr>
          <a:xfrm>
            <a:off x="548640" y="777240"/>
            <a:ext cx="8046720" cy="384048"/>
          </a:xfrm>
          <a:prstGeom prst="rect">
            <a:avLst/>
          </a:prstGeom>
          <a:noFill/>
          <a:ln/>
        </p:spPr>
        <p:txBody>
          <a:bodyPr wrap="square" rtlCol="0" anchor="ctr"/>
          <a:lstStyle/>
          <a:p>
            <a:pPr marL="0" indent="0">
              <a:buNone/>
            </a:pPr>
            <a:r>
              <a:rPr lang="en-US" sz="1300" i="1" dirty="0">
                <a:solidFill>
                  <a:srgbClr val="64748B"/>
                </a:solidFill>
                <a:latin typeface="Calibri" pitchFamily="34" charset="0"/>
                <a:ea typeface="Calibri" pitchFamily="34" charset="-122"/>
                <a:cs typeface="Calibri" pitchFamily="34" charset="-120"/>
              </a:rPr>
              <a:t>चाहे आपने Science, Commerce या Arts चुना हो — असली सवाल यह है: क्या आपके पास आगे का कोई प्लान है?</a:t>
            </a:r>
            <a:endParaRPr lang="en-US" sz="1300" dirty="0"/>
          </a:p>
        </p:txBody>
      </p:sp>
      <p:sp>
        <p:nvSpPr>
          <p:cNvPr id="5" name="Shape 2"/>
          <p:cNvSpPr/>
          <p:nvPr/>
        </p:nvSpPr>
        <p:spPr>
          <a:xfrm>
            <a:off x="457200" y="1261872"/>
            <a:ext cx="3840480" cy="384048"/>
          </a:xfrm>
          <a:prstGeom prst="rect">
            <a:avLst/>
          </a:prstGeom>
          <a:solidFill>
            <a:srgbClr val="888780"/>
          </a:solidFill>
          <a:ln w="12700">
            <a:solidFill>
              <a:srgbClr val="888780"/>
            </a:solidFill>
            <a:prstDash val="solid"/>
          </a:ln>
        </p:spPr>
      </p:sp>
      <p:sp>
        <p:nvSpPr>
          <p:cNvPr id="6" name="Text 3"/>
          <p:cNvSpPr/>
          <p:nvPr/>
        </p:nvSpPr>
        <p:spPr>
          <a:xfrm>
            <a:off x="457200" y="1261872"/>
            <a:ext cx="3840480" cy="38404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पुराना तरीका</a:t>
            </a:r>
            <a:endParaRPr lang="en-US" sz="1300" dirty="0"/>
          </a:p>
        </p:txBody>
      </p:sp>
      <p:sp>
        <p:nvSpPr>
          <p:cNvPr id="7" name="Shape 4"/>
          <p:cNvSpPr/>
          <p:nvPr/>
        </p:nvSpPr>
        <p:spPr>
          <a:xfrm>
            <a:off x="548640" y="1819656"/>
            <a:ext cx="128016" cy="128016"/>
          </a:xfrm>
          <a:prstGeom prst="ellipse">
            <a:avLst/>
          </a:prstGeom>
          <a:solidFill>
            <a:srgbClr val="888780"/>
          </a:solidFill>
          <a:ln w="12700">
            <a:solidFill>
              <a:srgbClr val="888780"/>
            </a:solidFill>
            <a:prstDash val="solid"/>
          </a:ln>
        </p:spPr>
      </p:sp>
      <p:sp>
        <p:nvSpPr>
          <p:cNvPr id="8" name="Text 5"/>
          <p:cNvSpPr/>
          <p:nvPr/>
        </p:nvSpPr>
        <p:spPr>
          <a:xfrm>
            <a:off x="777240" y="1737360"/>
            <a:ext cx="3383280" cy="365760"/>
          </a:xfrm>
          <a:prstGeom prst="rect">
            <a:avLst/>
          </a:prstGeom>
          <a:noFill/>
          <a:ln/>
        </p:spPr>
        <p:txBody>
          <a:bodyPr wrap="square" rtlCol="0" anchor="ctr"/>
          <a:lstStyle/>
          <a:p>
            <a:pPr marL="0" indent="0">
              <a:buNone/>
            </a:pPr>
            <a:r>
              <a:rPr lang="en-US" sz="1200" dirty="0">
                <a:solidFill>
                  <a:srgbClr val="1A1A2E"/>
                </a:solidFill>
                <a:latin typeface="Calibri" pitchFamily="34" charset="0"/>
                <a:ea typeface="Calibri" pitchFamily="34" charset="-122"/>
                <a:cs typeface="Calibri" pitchFamily="34" charset="-120"/>
              </a:rPr>
              <a:t>मेहनत करो, नंबर लाओ — कोई नहीं बताता क्यों</a:t>
            </a:r>
            <a:endParaRPr lang="en-US" sz="1200" dirty="0"/>
          </a:p>
        </p:txBody>
      </p:sp>
      <p:sp>
        <p:nvSpPr>
          <p:cNvPr id="9" name="Shape 6"/>
          <p:cNvSpPr/>
          <p:nvPr/>
        </p:nvSpPr>
        <p:spPr>
          <a:xfrm>
            <a:off x="548640" y="2221992"/>
            <a:ext cx="128016" cy="128016"/>
          </a:xfrm>
          <a:prstGeom prst="ellipse">
            <a:avLst/>
          </a:prstGeom>
          <a:solidFill>
            <a:srgbClr val="888780"/>
          </a:solidFill>
          <a:ln w="12700">
            <a:solidFill>
              <a:srgbClr val="888780"/>
            </a:solidFill>
            <a:prstDash val="solid"/>
          </a:ln>
        </p:spPr>
      </p:sp>
      <p:sp>
        <p:nvSpPr>
          <p:cNvPr id="10" name="Text 7"/>
          <p:cNvSpPr/>
          <p:nvPr/>
        </p:nvSpPr>
        <p:spPr>
          <a:xfrm>
            <a:off x="777240" y="2139696"/>
            <a:ext cx="3383280" cy="365760"/>
          </a:xfrm>
          <a:prstGeom prst="rect">
            <a:avLst/>
          </a:prstGeom>
          <a:noFill/>
          <a:ln/>
        </p:spPr>
        <p:txBody>
          <a:bodyPr wrap="square" rtlCol="0" anchor="ctr"/>
          <a:lstStyle/>
          <a:p>
            <a:pPr marL="0" indent="0">
              <a:buNone/>
            </a:pPr>
            <a:r>
              <a:rPr lang="en-US" sz="1200" dirty="0">
                <a:solidFill>
                  <a:srgbClr val="1A1A2E"/>
                </a:solidFill>
                <a:latin typeface="Calibri" pitchFamily="34" charset="0"/>
                <a:ea typeface="Calibri" pitchFamily="34" charset="-122"/>
                <a:cs typeface="Calibri" pitchFamily="34" charset="-120"/>
              </a:rPr>
              <a:t>माता-पिता या दोस्तों के कहने पर स्ट्रीम चुनो</a:t>
            </a:r>
            <a:endParaRPr lang="en-US" sz="1200" dirty="0"/>
          </a:p>
        </p:txBody>
      </p:sp>
      <p:sp>
        <p:nvSpPr>
          <p:cNvPr id="11" name="Shape 8"/>
          <p:cNvSpPr/>
          <p:nvPr/>
        </p:nvSpPr>
        <p:spPr>
          <a:xfrm>
            <a:off x="548640" y="2624328"/>
            <a:ext cx="128016" cy="128016"/>
          </a:xfrm>
          <a:prstGeom prst="ellipse">
            <a:avLst/>
          </a:prstGeom>
          <a:solidFill>
            <a:srgbClr val="888780"/>
          </a:solidFill>
          <a:ln w="12700">
            <a:solidFill>
              <a:srgbClr val="888780"/>
            </a:solidFill>
            <a:prstDash val="solid"/>
          </a:ln>
        </p:spPr>
      </p:sp>
      <p:sp>
        <p:nvSpPr>
          <p:cNvPr id="12" name="Text 9"/>
          <p:cNvSpPr/>
          <p:nvPr/>
        </p:nvSpPr>
        <p:spPr>
          <a:xfrm>
            <a:off x="777240" y="2542032"/>
            <a:ext cx="3383280" cy="365760"/>
          </a:xfrm>
          <a:prstGeom prst="rect">
            <a:avLst/>
          </a:prstGeom>
          <a:noFill/>
          <a:ln/>
        </p:spPr>
        <p:txBody>
          <a:bodyPr wrap="square" rtlCol="0" anchor="ctr"/>
          <a:lstStyle/>
          <a:p>
            <a:pPr marL="0" indent="0">
              <a:buNone/>
            </a:pPr>
            <a:r>
              <a:rPr lang="en-US" sz="1200" dirty="0">
                <a:solidFill>
                  <a:srgbClr val="1A1A2E"/>
                </a:solidFill>
                <a:latin typeface="Calibri" pitchFamily="34" charset="0"/>
                <a:ea typeface="Calibri" pitchFamily="34" charset="-122"/>
                <a:cs typeface="Calibri" pitchFamily="34" charset="-120"/>
              </a:rPr>
              <a:t>डिग्री पूरी करो बिना यह जाने कि नौकरी कहाँ मिलेगी</a:t>
            </a:r>
            <a:endParaRPr lang="en-US" sz="1200" dirty="0"/>
          </a:p>
        </p:txBody>
      </p:sp>
      <p:sp>
        <p:nvSpPr>
          <p:cNvPr id="13" name="Shape 10"/>
          <p:cNvSpPr/>
          <p:nvPr/>
        </p:nvSpPr>
        <p:spPr>
          <a:xfrm>
            <a:off x="548640" y="3026664"/>
            <a:ext cx="128016" cy="128016"/>
          </a:xfrm>
          <a:prstGeom prst="ellipse">
            <a:avLst/>
          </a:prstGeom>
          <a:solidFill>
            <a:srgbClr val="888780"/>
          </a:solidFill>
          <a:ln w="12700">
            <a:solidFill>
              <a:srgbClr val="888780"/>
            </a:solidFill>
            <a:prstDash val="solid"/>
          </a:ln>
        </p:spPr>
      </p:sp>
      <p:sp>
        <p:nvSpPr>
          <p:cNvPr id="14" name="Text 11"/>
          <p:cNvSpPr/>
          <p:nvPr/>
        </p:nvSpPr>
        <p:spPr>
          <a:xfrm>
            <a:off x="777240" y="2944368"/>
            <a:ext cx="3383280" cy="365760"/>
          </a:xfrm>
          <a:prstGeom prst="rect">
            <a:avLst/>
          </a:prstGeom>
          <a:noFill/>
          <a:ln/>
        </p:spPr>
        <p:txBody>
          <a:bodyPr wrap="square" rtlCol="0" anchor="ctr"/>
          <a:lstStyle/>
          <a:p>
            <a:pPr marL="0" indent="0">
              <a:buNone/>
            </a:pPr>
            <a:r>
              <a:rPr lang="en-US" sz="1200" dirty="0">
                <a:solidFill>
                  <a:srgbClr val="1A1A2E"/>
                </a:solidFill>
                <a:latin typeface="Calibri" pitchFamily="34" charset="0"/>
                <a:ea typeface="Calibri" pitchFamily="34" charset="-122"/>
                <a:cs typeface="Calibri" pitchFamily="34" charset="-120"/>
              </a:rPr>
              <a:t>बस यूँ ही सालों सरकारी परीक्षाओं की तैयारी करते रहो</a:t>
            </a:r>
            <a:endParaRPr lang="en-US" sz="1200" dirty="0"/>
          </a:p>
        </p:txBody>
      </p:sp>
      <p:sp>
        <p:nvSpPr>
          <p:cNvPr id="15" name="Shape 12"/>
          <p:cNvSpPr/>
          <p:nvPr/>
        </p:nvSpPr>
        <p:spPr>
          <a:xfrm>
            <a:off x="548640" y="3429000"/>
            <a:ext cx="128016" cy="128016"/>
          </a:xfrm>
          <a:prstGeom prst="ellipse">
            <a:avLst/>
          </a:prstGeom>
          <a:solidFill>
            <a:srgbClr val="888780"/>
          </a:solidFill>
          <a:ln w="12700">
            <a:solidFill>
              <a:srgbClr val="888780"/>
            </a:solidFill>
            <a:prstDash val="solid"/>
          </a:ln>
        </p:spPr>
      </p:sp>
      <p:sp>
        <p:nvSpPr>
          <p:cNvPr id="16" name="Text 13"/>
          <p:cNvSpPr/>
          <p:nvPr/>
        </p:nvSpPr>
        <p:spPr>
          <a:xfrm>
            <a:off x="777240" y="3346704"/>
            <a:ext cx="3383280" cy="365760"/>
          </a:xfrm>
          <a:prstGeom prst="rect">
            <a:avLst/>
          </a:prstGeom>
          <a:noFill/>
          <a:ln/>
        </p:spPr>
        <p:txBody>
          <a:bodyPr wrap="square" rtlCol="0" anchor="ctr"/>
          <a:lstStyle/>
          <a:p>
            <a:pPr marL="0" indent="0">
              <a:buNone/>
            </a:pPr>
            <a:r>
              <a:rPr lang="en-US" sz="1200" dirty="0">
                <a:solidFill>
                  <a:srgbClr val="1A1A2E"/>
                </a:solidFill>
                <a:latin typeface="Calibri" pitchFamily="34" charset="0"/>
                <a:ea typeface="Calibri" pitchFamily="34" charset="-122"/>
                <a:cs typeface="Calibri" pitchFamily="34" charset="-120"/>
              </a:rPr>
              <a:t>इंतज़ार करो और उम्मीद रखो कि कुछ हो जाएगा</a:t>
            </a:r>
            <a:endParaRPr lang="en-US" sz="1200" dirty="0"/>
          </a:p>
        </p:txBody>
      </p:sp>
      <p:sp>
        <p:nvSpPr>
          <p:cNvPr id="17" name="Shape 14"/>
          <p:cNvSpPr/>
          <p:nvPr/>
        </p:nvSpPr>
        <p:spPr>
          <a:xfrm>
            <a:off x="548640" y="3831336"/>
            <a:ext cx="128016" cy="128016"/>
          </a:xfrm>
          <a:prstGeom prst="ellipse">
            <a:avLst/>
          </a:prstGeom>
          <a:solidFill>
            <a:srgbClr val="888780"/>
          </a:solidFill>
          <a:ln w="12700">
            <a:solidFill>
              <a:srgbClr val="888780"/>
            </a:solidFill>
            <a:prstDash val="solid"/>
          </a:ln>
        </p:spPr>
      </p:sp>
      <p:sp>
        <p:nvSpPr>
          <p:cNvPr id="18" name="Text 15"/>
          <p:cNvSpPr/>
          <p:nvPr/>
        </p:nvSpPr>
        <p:spPr>
          <a:xfrm>
            <a:off x="777240" y="3749040"/>
            <a:ext cx="3383280" cy="365760"/>
          </a:xfrm>
          <a:prstGeom prst="rect">
            <a:avLst/>
          </a:prstGeom>
          <a:noFill/>
          <a:ln/>
        </p:spPr>
        <p:txBody>
          <a:bodyPr wrap="square" rtlCol="0" anchor="ctr"/>
          <a:lstStyle/>
          <a:p>
            <a:pPr marL="0" indent="0">
              <a:buNone/>
            </a:pPr>
            <a:r>
              <a:rPr lang="en-US" sz="1200" dirty="0">
                <a:solidFill>
                  <a:srgbClr val="1A1A2E"/>
                </a:solidFill>
                <a:latin typeface="Calibri" pitchFamily="34" charset="0"/>
                <a:ea typeface="Calibri" pitchFamily="34" charset="-122"/>
                <a:cs typeface="Calibri" pitchFamily="34" charset="-120"/>
              </a:rPr>
              <a:t>किसी ऐसी नौकरी में पहुँचो जिसे कभी सोचा नहीं था</a:t>
            </a:r>
            <a:endParaRPr lang="en-US" sz="1200" dirty="0"/>
          </a:p>
        </p:txBody>
      </p:sp>
      <p:sp>
        <p:nvSpPr>
          <p:cNvPr id="19" name="Shape 16"/>
          <p:cNvSpPr/>
          <p:nvPr/>
        </p:nvSpPr>
        <p:spPr>
          <a:xfrm>
            <a:off x="4663440" y="1261872"/>
            <a:ext cx="4023360" cy="384048"/>
          </a:xfrm>
          <a:prstGeom prst="rect">
            <a:avLst/>
          </a:prstGeom>
          <a:solidFill>
            <a:srgbClr val="1D9E75"/>
          </a:solidFill>
          <a:ln w="12700">
            <a:solidFill>
              <a:srgbClr val="1D9E75"/>
            </a:solidFill>
            <a:prstDash val="solid"/>
          </a:ln>
        </p:spPr>
      </p:sp>
      <p:sp>
        <p:nvSpPr>
          <p:cNvPr id="20" name="Text 17"/>
          <p:cNvSpPr/>
          <p:nvPr/>
        </p:nvSpPr>
        <p:spPr>
          <a:xfrm>
            <a:off x="4663440" y="1261872"/>
            <a:ext cx="4023360" cy="384048"/>
          </a:xfrm>
          <a:prstGeom prst="rect">
            <a:avLst/>
          </a:prstGeom>
          <a:noFill/>
          <a:ln/>
        </p:spPr>
        <p:txBody>
          <a:bodyPr wrap="square"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पहचान </a:t>
            </a:r>
            <a:r>
              <a:rPr lang="en-US" sz="1300" b="1" dirty="0" err="1">
                <a:solidFill>
                  <a:srgbClr val="FFFFFF"/>
                </a:solidFill>
                <a:latin typeface="Calibri" pitchFamily="34" charset="0"/>
                <a:ea typeface="Calibri" pitchFamily="34" charset="-122"/>
                <a:cs typeface="Calibri" pitchFamily="34" charset="-120"/>
              </a:rPr>
              <a:t>Pehchaan</a:t>
            </a:r>
            <a:r>
              <a:rPr lang="en-US" sz="1300" b="1" dirty="0">
                <a:solidFill>
                  <a:srgbClr val="FFFFFF"/>
                </a:solidFill>
                <a:latin typeface="Calibri" pitchFamily="34" charset="0"/>
                <a:ea typeface="Calibri" pitchFamily="34" charset="-122"/>
                <a:cs typeface="Calibri" pitchFamily="34" charset="-120"/>
              </a:rPr>
              <a:t> का तरीका</a:t>
            </a:r>
            <a:endParaRPr lang="en-US" sz="1300" dirty="0"/>
          </a:p>
        </p:txBody>
      </p:sp>
      <p:sp>
        <p:nvSpPr>
          <p:cNvPr id="21" name="Shape 18"/>
          <p:cNvSpPr/>
          <p:nvPr/>
        </p:nvSpPr>
        <p:spPr>
          <a:xfrm>
            <a:off x="4754880" y="1819656"/>
            <a:ext cx="128016" cy="128016"/>
          </a:xfrm>
          <a:prstGeom prst="ellipse">
            <a:avLst/>
          </a:prstGeom>
          <a:solidFill>
            <a:srgbClr val="1D9E75"/>
          </a:solidFill>
          <a:ln w="12700">
            <a:solidFill>
              <a:srgbClr val="1D9E75"/>
            </a:solidFill>
            <a:prstDash val="solid"/>
          </a:ln>
        </p:spPr>
      </p:sp>
      <p:sp>
        <p:nvSpPr>
          <p:cNvPr id="22" name="Text 19"/>
          <p:cNvSpPr/>
          <p:nvPr/>
        </p:nvSpPr>
        <p:spPr>
          <a:xfrm>
            <a:off x="4983480" y="1737360"/>
            <a:ext cx="3566160" cy="365760"/>
          </a:xfrm>
          <a:prstGeom prst="rect">
            <a:avLst/>
          </a:prstGeom>
          <a:noFill/>
          <a:ln/>
        </p:spPr>
        <p:txBody>
          <a:bodyPr wrap="square" rtlCol="0" anchor="ctr"/>
          <a:lstStyle/>
          <a:p>
            <a:pPr marL="0" indent="0">
              <a:buNone/>
            </a:pPr>
            <a:r>
              <a:rPr lang="en-US" sz="1200" dirty="0">
                <a:solidFill>
                  <a:srgbClr val="1A1A2E"/>
                </a:solidFill>
                <a:latin typeface="Calibri" pitchFamily="34" charset="0"/>
                <a:ea typeface="Calibri" pitchFamily="34" charset="-122"/>
                <a:cs typeface="Calibri" pitchFamily="34" charset="-120"/>
              </a:rPr>
              <a:t>चुनने से पहले समझो — हर स्ट्रीम कहाँ ले जाती है</a:t>
            </a:r>
            <a:endParaRPr lang="en-US" sz="1200" dirty="0"/>
          </a:p>
        </p:txBody>
      </p:sp>
      <p:sp>
        <p:nvSpPr>
          <p:cNvPr id="23" name="Shape 20"/>
          <p:cNvSpPr/>
          <p:nvPr/>
        </p:nvSpPr>
        <p:spPr>
          <a:xfrm>
            <a:off x="4754880" y="2221992"/>
            <a:ext cx="128016" cy="128016"/>
          </a:xfrm>
          <a:prstGeom prst="ellipse">
            <a:avLst/>
          </a:prstGeom>
          <a:solidFill>
            <a:srgbClr val="1D9E75"/>
          </a:solidFill>
          <a:ln w="12700">
            <a:solidFill>
              <a:srgbClr val="1D9E75"/>
            </a:solidFill>
            <a:prstDash val="solid"/>
          </a:ln>
        </p:spPr>
      </p:sp>
      <p:sp>
        <p:nvSpPr>
          <p:cNvPr id="24" name="Text 21"/>
          <p:cNvSpPr/>
          <p:nvPr/>
        </p:nvSpPr>
        <p:spPr>
          <a:xfrm>
            <a:off x="4983480" y="2139696"/>
            <a:ext cx="3566160" cy="365760"/>
          </a:xfrm>
          <a:prstGeom prst="rect">
            <a:avLst/>
          </a:prstGeom>
          <a:noFill/>
          <a:ln/>
        </p:spPr>
        <p:txBody>
          <a:bodyPr wrap="square" rtlCol="0" anchor="ctr"/>
          <a:lstStyle/>
          <a:p>
            <a:pPr marL="0" indent="0">
              <a:buNone/>
            </a:pPr>
            <a:r>
              <a:rPr lang="en-US" sz="1200" dirty="0">
                <a:solidFill>
                  <a:srgbClr val="1A1A2E"/>
                </a:solidFill>
                <a:latin typeface="Calibri" pitchFamily="34" charset="0"/>
                <a:ea typeface="Calibri" pitchFamily="34" charset="-122"/>
                <a:cs typeface="Calibri" pitchFamily="34" charset="-120"/>
              </a:rPr>
              <a:t>जानो कि कौन सी कॉर्पोरेट नौकरियाँ आपकी ताकत से मेल खाती हैं</a:t>
            </a:r>
            <a:endParaRPr lang="en-US" sz="1200" dirty="0"/>
          </a:p>
        </p:txBody>
      </p:sp>
      <p:sp>
        <p:nvSpPr>
          <p:cNvPr id="25" name="Shape 22"/>
          <p:cNvSpPr/>
          <p:nvPr/>
        </p:nvSpPr>
        <p:spPr>
          <a:xfrm>
            <a:off x="4754880" y="2624328"/>
            <a:ext cx="128016" cy="128016"/>
          </a:xfrm>
          <a:prstGeom prst="ellipse">
            <a:avLst/>
          </a:prstGeom>
          <a:solidFill>
            <a:srgbClr val="1D9E75"/>
          </a:solidFill>
          <a:ln w="12700">
            <a:solidFill>
              <a:srgbClr val="1D9E75"/>
            </a:solidFill>
            <a:prstDash val="solid"/>
          </a:ln>
        </p:spPr>
      </p:sp>
      <p:sp>
        <p:nvSpPr>
          <p:cNvPr id="26" name="Text 23"/>
          <p:cNvSpPr/>
          <p:nvPr/>
        </p:nvSpPr>
        <p:spPr>
          <a:xfrm>
            <a:off x="4983480" y="2542032"/>
            <a:ext cx="3566160" cy="365760"/>
          </a:xfrm>
          <a:prstGeom prst="rect">
            <a:avLst/>
          </a:prstGeom>
          <a:noFill/>
          <a:ln/>
        </p:spPr>
        <p:txBody>
          <a:bodyPr wrap="square" rtlCol="0" anchor="ctr"/>
          <a:lstStyle/>
          <a:p>
            <a:pPr marL="0" indent="0">
              <a:buNone/>
            </a:pPr>
            <a:r>
              <a:rPr lang="en-US" sz="1200" dirty="0">
                <a:solidFill>
                  <a:srgbClr val="1A1A2E"/>
                </a:solidFill>
                <a:latin typeface="Calibri" pitchFamily="34" charset="0"/>
                <a:ea typeface="Calibri" pitchFamily="34" charset="-122"/>
                <a:cs typeface="Calibri" pitchFamily="34" charset="-120"/>
              </a:rPr>
              <a:t>डिग्री के साथ-साथ असली कौशल बनाओ</a:t>
            </a:r>
            <a:endParaRPr lang="en-US" sz="1200" dirty="0"/>
          </a:p>
        </p:txBody>
      </p:sp>
      <p:sp>
        <p:nvSpPr>
          <p:cNvPr id="27" name="Shape 24"/>
          <p:cNvSpPr/>
          <p:nvPr/>
        </p:nvSpPr>
        <p:spPr>
          <a:xfrm>
            <a:off x="4754880" y="3026664"/>
            <a:ext cx="128016" cy="128016"/>
          </a:xfrm>
          <a:prstGeom prst="ellipse">
            <a:avLst/>
          </a:prstGeom>
          <a:solidFill>
            <a:srgbClr val="1D9E75"/>
          </a:solidFill>
          <a:ln w="12700">
            <a:solidFill>
              <a:srgbClr val="1D9E75"/>
            </a:solidFill>
            <a:prstDash val="solid"/>
          </a:ln>
        </p:spPr>
      </p:sp>
      <p:sp>
        <p:nvSpPr>
          <p:cNvPr id="28" name="Text 25"/>
          <p:cNvSpPr/>
          <p:nvPr/>
        </p:nvSpPr>
        <p:spPr>
          <a:xfrm>
            <a:off x="4983480" y="2907792"/>
            <a:ext cx="3566160" cy="365760"/>
          </a:xfrm>
          <a:prstGeom prst="rect">
            <a:avLst/>
          </a:prstGeom>
          <a:noFill/>
          <a:ln/>
        </p:spPr>
        <p:txBody>
          <a:bodyPr wrap="square" rtlCol="0" anchor="ctr"/>
          <a:lstStyle/>
          <a:p>
            <a:pPr marL="0" indent="0">
              <a:buNone/>
            </a:pPr>
            <a:r>
              <a:rPr lang="en-US" sz="1200" dirty="0">
                <a:solidFill>
                  <a:srgbClr val="1A1A2E"/>
                </a:solidFill>
                <a:latin typeface="Calibri" pitchFamily="34" charset="0"/>
                <a:ea typeface="Calibri" pitchFamily="34" charset="-122"/>
                <a:cs typeface="Calibri" pitchFamily="34" charset="-120"/>
              </a:rPr>
              <a:t>सीखो कि मार्केट में आत्मविश्वास से कैसे कदम रखें</a:t>
            </a:r>
            <a:endParaRPr lang="en-US" sz="1200" dirty="0"/>
          </a:p>
        </p:txBody>
      </p:sp>
      <p:sp>
        <p:nvSpPr>
          <p:cNvPr id="29" name="Shape 26"/>
          <p:cNvSpPr/>
          <p:nvPr/>
        </p:nvSpPr>
        <p:spPr>
          <a:xfrm>
            <a:off x="4754880" y="3429000"/>
            <a:ext cx="128016" cy="128016"/>
          </a:xfrm>
          <a:prstGeom prst="ellipse">
            <a:avLst/>
          </a:prstGeom>
          <a:solidFill>
            <a:srgbClr val="1D9E75"/>
          </a:solidFill>
          <a:ln w="12700">
            <a:solidFill>
              <a:srgbClr val="1D9E75"/>
            </a:solidFill>
            <a:prstDash val="solid"/>
          </a:ln>
        </p:spPr>
      </p:sp>
      <p:sp>
        <p:nvSpPr>
          <p:cNvPr id="30" name="Text 27"/>
          <p:cNvSpPr/>
          <p:nvPr/>
        </p:nvSpPr>
        <p:spPr>
          <a:xfrm>
            <a:off x="4983480" y="3346704"/>
            <a:ext cx="3566160" cy="365760"/>
          </a:xfrm>
          <a:prstGeom prst="rect">
            <a:avLst/>
          </a:prstGeom>
          <a:noFill/>
          <a:ln/>
        </p:spPr>
        <p:txBody>
          <a:bodyPr wrap="square" rtlCol="0" anchor="ctr"/>
          <a:lstStyle/>
          <a:p>
            <a:pPr marL="0" indent="0">
              <a:buNone/>
            </a:pPr>
            <a:r>
              <a:rPr lang="en-US" sz="1200" dirty="0">
                <a:solidFill>
                  <a:srgbClr val="1A1A2E"/>
                </a:solidFill>
                <a:latin typeface="Calibri" pitchFamily="34" charset="0"/>
                <a:ea typeface="Calibri" pitchFamily="34" charset="-122"/>
                <a:cs typeface="Calibri" pitchFamily="34" charset="-120"/>
              </a:rPr>
              <a:t>किसी ऐसे व्यक्ति से कदम-दर-कदम मार्गदर्शन पाओ जो वहाँ जा चुका है</a:t>
            </a:r>
            <a:endParaRPr lang="en-US" sz="1200" dirty="0"/>
          </a:p>
        </p:txBody>
      </p:sp>
      <p:sp>
        <p:nvSpPr>
          <p:cNvPr id="31" name="Shape 28"/>
          <p:cNvSpPr/>
          <p:nvPr/>
        </p:nvSpPr>
        <p:spPr>
          <a:xfrm>
            <a:off x="4754880" y="3831336"/>
            <a:ext cx="128016" cy="128016"/>
          </a:xfrm>
          <a:prstGeom prst="ellipse">
            <a:avLst/>
          </a:prstGeom>
          <a:solidFill>
            <a:srgbClr val="1D9E75"/>
          </a:solidFill>
          <a:ln w="12700">
            <a:solidFill>
              <a:srgbClr val="1D9E75"/>
            </a:solidFill>
            <a:prstDash val="solid"/>
          </a:ln>
        </p:spPr>
      </p:sp>
      <p:sp>
        <p:nvSpPr>
          <p:cNvPr id="32" name="Text 29"/>
          <p:cNvSpPr/>
          <p:nvPr/>
        </p:nvSpPr>
        <p:spPr>
          <a:xfrm>
            <a:off x="4983480" y="3749040"/>
            <a:ext cx="3566160" cy="365760"/>
          </a:xfrm>
          <a:prstGeom prst="rect">
            <a:avLst/>
          </a:prstGeom>
          <a:noFill/>
          <a:ln/>
        </p:spPr>
        <p:txBody>
          <a:bodyPr wrap="square" rtlCol="0" anchor="ctr"/>
          <a:lstStyle/>
          <a:p>
            <a:pPr marL="0" indent="0">
              <a:buNone/>
            </a:pPr>
            <a:r>
              <a:rPr lang="en-US" sz="1200" dirty="0">
                <a:solidFill>
                  <a:srgbClr val="1A1A2E"/>
                </a:solidFill>
                <a:latin typeface="Calibri" pitchFamily="34" charset="0"/>
                <a:ea typeface="Calibri" pitchFamily="34" charset="-122"/>
                <a:cs typeface="Calibri" pitchFamily="34" charset="-120"/>
              </a:rPr>
              <a:t>अपनी पहली नौकरी पर तैयार होकर पहुँचो, भटके हुए नहीं</a:t>
            </a:r>
            <a:endParaRPr lang="en-US" sz="1200" dirty="0"/>
          </a:p>
        </p:txBody>
      </p:sp>
      <p:sp>
        <p:nvSpPr>
          <p:cNvPr id="33" name="Shape 30"/>
          <p:cNvSpPr/>
          <p:nvPr/>
        </p:nvSpPr>
        <p:spPr>
          <a:xfrm>
            <a:off x="4453128" y="1298448"/>
            <a:ext cx="0" cy="3132000"/>
          </a:xfrm>
          <a:prstGeom prst="line">
            <a:avLst/>
          </a:prstGeom>
          <a:noFill/>
          <a:ln w="19050">
            <a:solidFill>
              <a:srgbClr val="E2E8F0"/>
            </a:solidFill>
            <a:prstDash val="dash"/>
          </a:ln>
        </p:spPr>
      </p:sp>
      <p:sp>
        <p:nvSpPr>
          <p:cNvPr id="34" name="Shape 31"/>
          <p:cNvSpPr/>
          <p:nvPr/>
        </p:nvSpPr>
        <p:spPr>
          <a:xfrm>
            <a:off x="457200" y="4462272"/>
            <a:ext cx="8229600" cy="347472"/>
          </a:xfrm>
          <a:prstGeom prst="rect">
            <a:avLst/>
          </a:prstGeom>
          <a:solidFill>
            <a:srgbClr val="FAEEDA"/>
          </a:solidFill>
          <a:ln w="12700">
            <a:solidFill>
              <a:srgbClr val="EF9F27"/>
            </a:solidFill>
            <a:prstDash val="solid"/>
          </a:ln>
        </p:spPr>
      </p:sp>
      <p:sp>
        <p:nvSpPr>
          <p:cNvPr id="35" name="Text 32"/>
          <p:cNvSpPr/>
          <p:nvPr/>
        </p:nvSpPr>
        <p:spPr>
          <a:xfrm>
            <a:off x="640080" y="4480560"/>
            <a:ext cx="8046720" cy="310896"/>
          </a:xfrm>
          <a:prstGeom prst="rect">
            <a:avLst/>
          </a:prstGeom>
          <a:noFill/>
          <a:ln/>
        </p:spPr>
        <p:txBody>
          <a:bodyPr wrap="square" rtlCol="0" anchor="ctr"/>
          <a:lstStyle/>
          <a:p>
            <a:pPr marL="0" indent="0">
              <a:buNone/>
            </a:pPr>
            <a:r>
              <a:rPr lang="en-US" sz="1200" b="1" dirty="0">
                <a:solidFill>
                  <a:srgbClr val="633806"/>
                </a:solidFill>
                <a:latin typeface="Calibri" pitchFamily="34" charset="0"/>
                <a:ea typeface="Calibri" pitchFamily="34" charset="-122"/>
                <a:cs typeface="Calibri" pitchFamily="34" charset="-120"/>
              </a:rPr>
              <a:t>Science, Commerce, Arts — हर स्ट्रीम में एक अच्छे करियर का रास्ता है। </a:t>
            </a:r>
            <a:r>
              <a:rPr lang="en-US" sz="1200" b="1" dirty="0" err="1">
                <a:solidFill>
                  <a:srgbClr val="633806"/>
                </a:solidFill>
                <a:latin typeface="Calibri" pitchFamily="34" charset="0"/>
                <a:ea typeface="Calibri" pitchFamily="34" charset="-122"/>
                <a:cs typeface="Calibri" pitchFamily="34" charset="-120"/>
              </a:rPr>
              <a:t>Pehchaan</a:t>
            </a:r>
            <a:r>
              <a:rPr lang="en-US" sz="1200" b="1" dirty="0">
                <a:solidFill>
                  <a:srgbClr val="633806"/>
                </a:solidFill>
                <a:latin typeface="Calibri" pitchFamily="34" charset="0"/>
                <a:ea typeface="Calibri" pitchFamily="34" charset="-122"/>
                <a:cs typeface="Calibri" pitchFamily="34" charset="-120"/>
              </a:rPr>
              <a:t> आपको आपका रास्ता ढूँढने में मदद करता है।</a:t>
            </a:r>
            <a:endParaRPr lang="en-US" sz="1200" dirty="0"/>
          </a:p>
        </p:txBody>
      </p:sp>
      <p:sp>
        <p:nvSpPr>
          <p:cNvPr id="36" name="Shape 33"/>
          <p:cNvSpPr/>
          <p:nvPr/>
        </p:nvSpPr>
        <p:spPr>
          <a:xfrm>
            <a:off x="0" y="4864608"/>
            <a:ext cx="9144000" cy="278892"/>
          </a:xfrm>
          <a:prstGeom prst="rect">
            <a:avLst/>
          </a:prstGeom>
          <a:solidFill>
            <a:srgbClr val="E1F5EE"/>
          </a:solidFill>
          <a:ln w="12700">
            <a:solidFill>
              <a:srgbClr val="E1F5EE"/>
            </a:solidFill>
            <a:prstDash val="solid"/>
          </a:ln>
        </p:spPr>
      </p:sp>
      <p:pic>
        <p:nvPicPr>
          <p:cNvPr id="37" name="Image 1" descr="preencoded.png"/>
          <p:cNvPicPr>
            <a:picLocks noChangeAspect="1"/>
          </p:cNvPicPr>
          <p:nvPr/>
        </p:nvPicPr>
        <p:blipFill>
          <a:blip r:embed="rId4"/>
          <a:stretch>
            <a:fillRect/>
          </a:stretch>
        </p:blipFill>
        <p:spPr>
          <a:xfrm>
            <a:off x="109728" y="4873752"/>
            <a:ext cx="1005840" cy="246888"/>
          </a:xfrm>
          <a:prstGeom prst="rect">
            <a:avLst/>
          </a:prstGeom>
        </p:spPr>
      </p:pic>
      <p:sp>
        <p:nvSpPr>
          <p:cNvPr id="38" name="Text 34"/>
          <p:cNvSpPr/>
          <p:nvPr/>
        </p:nvSpPr>
        <p:spPr>
          <a:xfrm>
            <a:off x="6858000" y="4882896"/>
            <a:ext cx="2176272" cy="219456"/>
          </a:xfrm>
          <a:prstGeom prst="rect">
            <a:avLst/>
          </a:prstGeom>
          <a:noFill/>
          <a:ln/>
        </p:spPr>
        <p:txBody>
          <a:bodyPr wrap="square" rtlCol="0" anchor="ctr"/>
          <a:lstStyle/>
          <a:p>
            <a:pPr marL="0" indent="0" algn="r">
              <a:buNone/>
            </a:pPr>
            <a:r>
              <a:rPr lang="en-US" sz="900" dirty="0">
                <a:solidFill>
                  <a:srgbClr val="085041"/>
                </a:solidFill>
                <a:latin typeface="Calibri" pitchFamily="34" charset="0"/>
                <a:ea typeface="Calibri" pitchFamily="34" charset="-122"/>
                <a:cs typeface="Calibri" pitchFamily="34" charset="-120"/>
              </a:rPr>
              <a:t>Pehchaancareers.in</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15" name="Shape 12"/>
          <p:cNvSpPr/>
          <p:nvPr/>
        </p:nvSpPr>
        <p:spPr>
          <a:xfrm>
            <a:off x="1618488" y="1369377"/>
            <a:ext cx="5904000" cy="128016"/>
          </a:xfrm>
          <a:prstGeom prst="rect">
            <a:avLst/>
          </a:prstGeom>
          <a:solidFill>
            <a:srgbClr val="1D9E75"/>
          </a:solidFill>
          <a:ln w="12700">
            <a:solidFill>
              <a:srgbClr val="1D9E75"/>
            </a:solidFill>
            <a:prstDash val="solid"/>
          </a:ln>
        </p:spPr>
      </p:sp>
      <p:pic>
        <p:nvPicPr>
          <p:cNvPr id="2" name="Image 0" descr="preencoded.png"/>
          <p:cNvPicPr>
            <a:picLocks noChangeAspect="1"/>
          </p:cNvPicPr>
          <p:nvPr/>
        </p:nvPicPr>
        <p:blipFill>
          <a:blip r:embed="rId3"/>
          <a:stretch>
            <a:fillRect/>
          </a:stretch>
        </p:blipFill>
        <p:spPr>
          <a:xfrm>
            <a:off x="8503920" y="109728"/>
            <a:ext cx="384048" cy="384048"/>
          </a:xfrm>
          <a:prstGeom prst="rect">
            <a:avLst/>
          </a:prstGeom>
        </p:spPr>
      </p:pic>
      <p:sp>
        <p:nvSpPr>
          <p:cNvPr id="3" name="Text 0"/>
          <p:cNvSpPr/>
          <p:nvPr/>
        </p:nvSpPr>
        <p:spPr>
          <a:xfrm>
            <a:off x="548640" y="201168"/>
            <a:ext cx="8046720" cy="475488"/>
          </a:xfrm>
          <a:prstGeom prst="rect">
            <a:avLst/>
          </a:prstGeom>
          <a:noFill/>
          <a:ln/>
        </p:spPr>
        <p:txBody>
          <a:bodyPr wrap="square" rtlCol="0" anchor="ctr"/>
          <a:lstStyle/>
          <a:p>
            <a:pPr marL="0" indent="0">
              <a:buNone/>
            </a:pPr>
            <a:r>
              <a:rPr lang="en-US" sz="2800" b="1" dirty="0">
                <a:solidFill>
                  <a:srgbClr val="1A1A2E"/>
                </a:solidFill>
                <a:latin typeface="Calibri" pitchFamily="34" charset="0"/>
                <a:ea typeface="Calibri" pitchFamily="34" charset="-122"/>
                <a:cs typeface="Calibri" pitchFamily="34" charset="-120"/>
              </a:rPr>
              <a:t>हम आपके साथ हैं। हर एक कदम पर।</a:t>
            </a:r>
            <a:endParaRPr lang="en-US" sz="2800" dirty="0"/>
          </a:p>
        </p:txBody>
      </p:sp>
      <p:sp>
        <p:nvSpPr>
          <p:cNvPr id="4" name="Text 1"/>
          <p:cNvSpPr/>
          <p:nvPr/>
        </p:nvSpPr>
        <p:spPr>
          <a:xfrm>
            <a:off x="548640" y="731520"/>
            <a:ext cx="8046720" cy="329184"/>
          </a:xfrm>
          <a:prstGeom prst="rect">
            <a:avLst/>
          </a:prstGeom>
          <a:noFill/>
          <a:ln/>
        </p:spPr>
        <p:txBody>
          <a:bodyPr wrap="square" rtlCol="0" anchor="ctr"/>
          <a:lstStyle/>
          <a:p>
            <a:pPr marL="0" indent="0">
              <a:buNone/>
            </a:pPr>
            <a:r>
              <a:rPr lang="en-US" sz="1300" i="1" dirty="0">
                <a:solidFill>
                  <a:srgbClr val="64748B"/>
                </a:solidFill>
                <a:latin typeface="Calibri" pitchFamily="34" charset="0"/>
                <a:ea typeface="Calibri" pitchFamily="34" charset="-122"/>
                <a:cs typeface="Calibri" pitchFamily="34" charset="-120"/>
              </a:rPr>
              <a:t>जिस दिन आप अपनी स्ट्रीम चुनते हैं — उस दिन से जब आपकी पहली सैलरी आती है — और उससे भी आगे।</a:t>
            </a:r>
            <a:endParaRPr lang="en-US" sz="1300" dirty="0"/>
          </a:p>
        </p:txBody>
      </p:sp>
      <p:sp>
        <p:nvSpPr>
          <p:cNvPr id="5" name="Shape 2"/>
          <p:cNvSpPr/>
          <p:nvPr/>
        </p:nvSpPr>
        <p:spPr>
          <a:xfrm>
            <a:off x="384048" y="1207008"/>
            <a:ext cx="1234440" cy="457200"/>
          </a:xfrm>
          <a:prstGeom prst="rect">
            <a:avLst/>
          </a:prstGeom>
          <a:solidFill>
            <a:srgbClr val="1A1A2E"/>
          </a:solidFill>
          <a:ln w="12700">
            <a:solidFill>
              <a:srgbClr val="1A1A2E"/>
            </a:solidFill>
            <a:prstDash val="solid"/>
          </a:ln>
        </p:spPr>
      </p:sp>
      <p:sp>
        <p:nvSpPr>
          <p:cNvPr id="6" name="Text 3"/>
          <p:cNvSpPr/>
          <p:nvPr/>
        </p:nvSpPr>
        <p:spPr>
          <a:xfrm>
            <a:off x="384048" y="1207008"/>
            <a:ext cx="1234440" cy="45720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 कक्षा 10</a:t>
            </a:r>
            <a:endParaRPr lang="en-US" sz="1100" dirty="0"/>
          </a:p>
        </p:txBody>
      </p:sp>
      <p:sp>
        <p:nvSpPr>
          <p:cNvPr id="8" name="Text 5"/>
          <p:cNvSpPr/>
          <p:nvPr/>
        </p:nvSpPr>
        <p:spPr>
          <a:xfrm>
            <a:off x="342900" y="1661407"/>
            <a:ext cx="1325880" cy="504000"/>
          </a:xfrm>
          <a:prstGeom prst="rect">
            <a:avLst/>
          </a:prstGeom>
          <a:noFill/>
          <a:ln/>
        </p:spPr>
        <p:txBody>
          <a:bodyPr wrap="square"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स्ट्रीम चुनाव।</a:t>
            </a:r>
            <a:endParaRPr lang="en-US" sz="1000" dirty="0"/>
          </a:p>
          <a:p>
            <a:pPr marL="0" indent="0" algn="ctr">
              <a:buNone/>
            </a:pPr>
            <a:r>
              <a:rPr lang="en-US" sz="1000" dirty="0" err="1">
                <a:solidFill>
                  <a:srgbClr val="64748B"/>
                </a:solidFill>
                <a:latin typeface="Calibri" pitchFamily="34" charset="0"/>
                <a:ea typeface="Calibri" pitchFamily="34" charset="-122"/>
                <a:cs typeface="Calibri" pitchFamily="34" charset="-120"/>
              </a:rPr>
              <a:t>Pehchaan</a:t>
            </a:r>
            <a:r>
              <a:rPr lang="en-US" sz="1000" dirty="0">
                <a:solidFill>
                  <a:srgbClr val="64748B"/>
                </a:solidFill>
                <a:latin typeface="Calibri" pitchFamily="34" charset="0"/>
                <a:ea typeface="Calibri" pitchFamily="34" charset="-122"/>
                <a:cs typeface="Calibri" pitchFamily="34" charset="-120"/>
              </a:rPr>
              <a:t> मार्गदर्शन करता है।</a:t>
            </a:r>
            <a:endParaRPr lang="en-US" sz="1000" dirty="0"/>
          </a:p>
        </p:txBody>
      </p:sp>
      <p:sp>
        <p:nvSpPr>
          <p:cNvPr id="9" name="Shape 6"/>
          <p:cNvSpPr/>
          <p:nvPr/>
        </p:nvSpPr>
        <p:spPr>
          <a:xfrm>
            <a:off x="2167128" y="1207008"/>
            <a:ext cx="1234440" cy="457200"/>
          </a:xfrm>
          <a:prstGeom prst="rect">
            <a:avLst/>
          </a:prstGeom>
          <a:solidFill>
            <a:srgbClr val="1A1A2E"/>
          </a:solidFill>
          <a:ln w="12700">
            <a:solidFill>
              <a:srgbClr val="1A1A2E"/>
            </a:solidFill>
            <a:prstDash val="solid"/>
          </a:ln>
        </p:spPr>
      </p:sp>
      <p:sp>
        <p:nvSpPr>
          <p:cNvPr id="10" name="Text 7"/>
          <p:cNvSpPr/>
          <p:nvPr/>
        </p:nvSpPr>
        <p:spPr>
          <a:xfrm>
            <a:off x="2167128" y="1207008"/>
            <a:ext cx="1234440" cy="45720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 11वीं और 12वीं</a:t>
            </a:r>
            <a:endParaRPr lang="en-US" sz="1100" dirty="0"/>
          </a:p>
        </p:txBody>
      </p:sp>
      <p:sp>
        <p:nvSpPr>
          <p:cNvPr id="12" name="Text 9"/>
          <p:cNvSpPr/>
          <p:nvPr/>
        </p:nvSpPr>
        <p:spPr>
          <a:xfrm>
            <a:off x="2125980" y="1661407"/>
            <a:ext cx="1325880" cy="504000"/>
          </a:xfrm>
          <a:prstGeom prst="rect">
            <a:avLst/>
          </a:prstGeom>
          <a:noFill/>
          <a:ln/>
        </p:spPr>
        <p:txBody>
          <a:bodyPr wrap="square"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समझदारी से पढ़ो।</a:t>
            </a:r>
            <a:endParaRPr lang="en-US" sz="1000" dirty="0"/>
          </a:p>
          <a:p>
            <a:pPr marL="0" indent="0" algn="ctr">
              <a:buNone/>
            </a:pPr>
            <a:r>
              <a:rPr lang="en-US" sz="1000" dirty="0">
                <a:solidFill>
                  <a:srgbClr val="64748B"/>
                </a:solidFill>
                <a:latin typeface="Calibri" pitchFamily="34" charset="0"/>
                <a:ea typeface="Calibri" pitchFamily="34" charset="-122"/>
                <a:cs typeface="Calibri" pitchFamily="34" charset="-120"/>
              </a:rPr>
              <a:t>हम पास रहते हैं।</a:t>
            </a:r>
            <a:endParaRPr lang="en-US" sz="1000" dirty="0"/>
          </a:p>
        </p:txBody>
      </p:sp>
      <p:sp>
        <p:nvSpPr>
          <p:cNvPr id="13" name="Shape 10"/>
          <p:cNvSpPr/>
          <p:nvPr/>
        </p:nvSpPr>
        <p:spPr>
          <a:xfrm>
            <a:off x="3950208" y="1207008"/>
            <a:ext cx="1234440" cy="457200"/>
          </a:xfrm>
          <a:prstGeom prst="rect">
            <a:avLst/>
          </a:prstGeom>
          <a:solidFill>
            <a:srgbClr val="1A1A2E"/>
          </a:solidFill>
          <a:ln w="12700">
            <a:solidFill>
              <a:srgbClr val="1A1A2E"/>
            </a:solidFill>
            <a:prstDash val="solid"/>
          </a:ln>
        </p:spPr>
      </p:sp>
      <p:sp>
        <p:nvSpPr>
          <p:cNvPr id="14" name="Text 11"/>
          <p:cNvSpPr/>
          <p:nvPr/>
        </p:nvSpPr>
        <p:spPr>
          <a:xfrm>
            <a:off x="3950208" y="1207008"/>
            <a:ext cx="1234440" cy="45720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 कॉलेज</a:t>
            </a:r>
            <a:endParaRPr lang="en-US" sz="1100" dirty="0"/>
          </a:p>
        </p:txBody>
      </p:sp>
      <p:sp>
        <p:nvSpPr>
          <p:cNvPr id="16" name="Text 13"/>
          <p:cNvSpPr/>
          <p:nvPr/>
        </p:nvSpPr>
        <p:spPr>
          <a:xfrm>
            <a:off x="3909060" y="1661407"/>
            <a:ext cx="1325880" cy="504000"/>
          </a:xfrm>
          <a:prstGeom prst="rect">
            <a:avLst/>
          </a:prstGeom>
          <a:noFill/>
          <a:ln/>
        </p:spPr>
        <p:txBody>
          <a:bodyPr wrap="square"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सही डिग्री।</a:t>
            </a:r>
            <a:endParaRPr lang="en-US" sz="1000" dirty="0"/>
          </a:p>
          <a:p>
            <a:pPr marL="0" indent="0" algn="ctr">
              <a:buNone/>
            </a:pPr>
            <a:r>
              <a:rPr lang="en-US" sz="1000" dirty="0">
                <a:solidFill>
                  <a:srgbClr val="64748B"/>
                </a:solidFill>
                <a:latin typeface="Calibri" pitchFamily="34" charset="0"/>
                <a:ea typeface="Calibri" pitchFamily="34" charset="-122"/>
                <a:cs typeface="Calibri" pitchFamily="34" charset="-120"/>
              </a:rPr>
              <a:t>सही दिशा।</a:t>
            </a:r>
            <a:endParaRPr lang="en-US" sz="1000" dirty="0"/>
          </a:p>
        </p:txBody>
      </p:sp>
      <p:grpSp>
        <p:nvGrpSpPr>
          <p:cNvPr id="45" name="Group 44">
            <a:extLst>
              <a:ext uri="{FF2B5EF4-FFF2-40B4-BE49-F238E27FC236}">
                <a16:creationId xmlns:a16="http://schemas.microsoft.com/office/drawing/2014/main" id="{E38FB3A7-AADD-5B83-A429-85C88DDCA3FE}"/>
              </a:ext>
            </a:extLst>
          </p:cNvPr>
          <p:cNvGrpSpPr/>
          <p:nvPr/>
        </p:nvGrpSpPr>
        <p:grpSpPr>
          <a:xfrm>
            <a:off x="168997" y="2225512"/>
            <a:ext cx="8856000" cy="439031"/>
            <a:chOff x="4966546" y="4400095"/>
            <a:chExt cx="1325880" cy="515988"/>
          </a:xfrm>
        </p:grpSpPr>
        <p:sp>
          <p:nvSpPr>
            <p:cNvPr id="17" name="Shape 14"/>
            <p:cNvSpPr/>
            <p:nvPr/>
          </p:nvSpPr>
          <p:spPr>
            <a:xfrm>
              <a:off x="5012266" y="4400095"/>
              <a:ext cx="1234440" cy="507725"/>
            </a:xfrm>
            <a:prstGeom prst="leftRightArrow">
              <a:avLst/>
            </a:prstGeom>
            <a:solidFill>
              <a:srgbClr val="1D9E75"/>
            </a:solidFill>
            <a:ln w="12700">
              <a:solidFill>
                <a:srgbClr val="1D9E75"/>
              </a:solidFill>
              <a:prstDash val="solid"/>
            </a:ln>
          </p:spPr>
        </p:sp>
        <p:sp>
          <p:nvSpPr>
            <p:cNvPr id="18" name="Text 15"/>
            <p:cNvSpPr/>
            <p:nvPr/>
          </p:nvSpPr>
          <p:spPr>
            <a:xfrm>
              <a:off x="4977045" y="4416552"/>
              <a:ext cx="1234440" cy="457200"/>
            </a:xfrm>
            <a:prstGeom prst="leftRightArrow">
              <a:avLst/>
            </a:prstGeom>
            <a:noFill/>
            <a:ln/>
          </p:spPr>
          <p:txBody>
            <a:bodyPr wrap="square" rtlCol="0" anchor="ctr"/>
            <a:lstStyle/>
            <a:p>
              <a:pPr marL="0" indent="0" algn="ctr">
                <a:buNone/>
              </a:pPr>
              <a:endParaRPr lang="en-US" sz="1100" dirty="0"/>
            </a:p>
          </p:txBody>
        </p:sp>
        <p:sp>
          <p:nvSpPr>
            <p:cNvPr id="20" name="Text 17"/>
            <p:cNvSpPr/>
            <p:nvPr/>
          </p:nvSpPr>
          <p:spPr>
            <a:xfrm>
              <a:off x="4966546" y="4412083"/>
              <a:ext cx="1325880" cy="504000"/>
            </a:xfrm>
            <a:prstGeom prst="leftRightArrow">
              <a:avLst/>
            </a:prstGeom>
            <a:noFill/>
            <a:ln/>
          </p:spPr>
          <p:txBody>
            <a:bodyPr wrap="square" rtlCol="0" anchor="ctr"/>
            <a:lstStyle/>
            <a:p>
              <a:pPr marL="0" indent="0" algn="ctr">
                <a:buNone/>
              </a:pPr>
              <a:r>
                <a:rPr lang="en-US" sz="1000" dirty="0">
                  <a:solidFill>
                    <a:schemeClr val="bg1"/>
                  </a:solidFill>
                  <a:latin typeface="Calibri" pitchFamily="34" charset="0"/>
                  <a:ea typeface="Calibri" pitchFamily="34" charset="-122"/>
                  <a:cs typeface="Calibri" pitchFamily="34" charset="-120"/>
                </a:rPr>
                <a:t>असली कौशल…. </a:t>
              </a:r>
              <a:r>
                <a:rPr lang="en-US" sz="1000" b="1" dirty="0" err="1">
                  <a:solidFill>
                    <a:schemeClr val="bg1"/>
                  </a:solidFill>
                  <a:latin typeface="Calibri" pitchFamily="34" charset="0"/>
                  <a:ea typeface="Calibri" pitchFamily="34" charset="-122"/>
                  <a:cs typeface="Calibri" pitchFamily="34" charset="-120"/>
                </a:rPr>
                <a:t>Pehchaan</a:t>
              </a:r>
              <a:r>
                <a:rPr lang="en-US" sz="1000" dirty="0">
                  <a:solidFill>
                    <a:schemeClr val="bg1"/>
                  </a:solidFill>
                  <a:latin typeface="Calibri" pitchFamily="34" charset="0"/>
                  <a:ea typeface="Calibri" pitchFamily="34" charset="-122"/>
                  <a:cs typeface="Calibri" pitchFamily="34" charset="-120"/>
                </a:rPr>
                <a:t> प्रशिक्षित करता है।</a:t>
              </a:r>
              <a:endParaRPr lang="en-US" sz="1000" dirty="0">
                <a:solidFill>
                  <a:schemeClr val="bg1"/>
                </a:solidFill>
              </a:endParaRPr>
            </a:p>
          </p:txBody>
        </p:sp>
      </p:grpSp>
      <p:sp>
        <p:nvSpPr>
          <p:cNvPr id="21" name="Shape 18"/>
          <p:cNvSpPr/>
          <p:nvPr/>
        </p:nvSpPr>
        <p:spPr>
          <a:xfrm>
            <a:off x="5733288" y="1207008"/>
            <a:ext cx="1234440" cy="457200"/>
          </a:xfrm>
          <a:prstGeom prst="rect">
            <a:avLst/>
          </a:prstGeom>
          <a:solidFill>
            <a:srgbClr val="1A1A2E"/>
          </a:solidFill>
          <a:ln w="12700">
            <a:solidFill>
              <a:srgbClr val="1A1A2E"/>
            </a:solidFill>
            <a:prstDash val="solid"/>
          </a:ln>
        </p:spPr>
      </p:sp>
      <p:sp>
        <p:nvSpPr>
          <p:cNvPr id="22" name="Text 19"/>
          <p:cNvSpPr/>
          <p:nvPr/>
        </p:nvSpPr>
        <p:spPr>
          <a:xfrm>
            <a:off x="5733288" y="1207008"/>
            <a:ext cx="1234440" cy="45720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 पहली नौकरी</a:t>
            </a:r>
            <a:endParaRPr lang="en-US" sz="1100" dirty="0"/>
          </a:p>
        </p:txBody>
      </p:sp>
      <p:sp>
        <p:nvSpPr>
          <p:cNvPr id="24" name="Text 21"/>
          <p:cNvSpPr/>
          <p:nvPr/>
        </p:nvSpPr>
        <p:spPr>
          <a:xfrm>
            <a:off x="5692140" y="1661407"/>
            <a:ext cx="1325880" cy="504000"/>
          </a:xfrm>
          <a:prstGeom prst="rect">
            <a:avLst/>
          </a:prstGeom>
          <a:noFill/>
          <a:ln/>
        </p:spPr>
        <p:txBody>
          <a:bodyPr wrap="square"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इंटरव्यू तैयारी।</a:t>
            </a:r>
            <a:endParaRPr lang="en-US" sz="1000" dirty="0"/>
          </a:p>
          <a:p>
            <a:pPr marL="0" indent="0" algn="ctr">
              <a:buNone/>
            </a:pPr>
            <a:r>
              <a:rPr lang="en-US" sz="1000" dirty="0">
                <a:solidFill>
                  <a:srgbClr val="64748B"/>
                </a:solidFill>
                <a:latin typeface="Calibri" pitchFamily="34" charset="0"/>
                <a:ea typeface="Calibri" pitchFamily="34" charset="-122"/>
                <a:cs typeface="Calibri" pitchFamily="34" charset="-120"/>
              </a:rPr>
              <a:t>हम आपके साथ अंदर चलते हैं।</a:t>
            </a:r>
            <a:endParaRPr lang="en-US" sz="1000" dirty="0"/>
          </a:p>
        </p:txBody>
      </p:sp>
      <p:sp>
        <p:nvSpPr>
          <p:cNvPr id="25" name="Shape 22"/>
          <p:cNvSpPr/>
          <p:nvPr/>
        </p:nvSpPr>
        <p:spPr>
          <a:xfrm>
            <a:off x="7502977" y="1207008"/>
            <a:ext cx="1234440" cy="457200"/>
          </a:xfrm>
          <a:prstGeom prst="rect">
            <a:avLst/>
          </a:prstGeom>
          <a:solidFill>
            <a:srgbClr val="1A1A2E"/>
          </a:solidFill>
          <a:ln w="12700">
            <a:solidFill>
              <a:srgbClr val="1A1A2E"/>
            </a:solidFill>
            <a:prstDash val="solid"/>
          </a:ln>
        </p:spPr>
      </p:sp>
      <p:sp>
        <p:nvSpPr>
          <p:cNvPr id="26" name="Text 23"/>
          <p:cNvSpPr/>
          <p:nvPr/>
        </p:nvSpPr>
        <p:spPr>
          <a:xfrm>
            <a:off x="7516368" y="1207008"/>
            <a:ext cx="1234440" cy="457200"/>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5. विकास</a:t>
            </a:r>
            <a:endParaRPr lang="en-US" sz="1100" dirty="0"/>
          </a:p>
        </p:txBody>
      </p:sp>
      <p:sp>
        <p:nvSpPr>
          <p:cNvPr id="27" name="Text 24"/>
          <p:cNvSpPr/>
          <p:nvPr/>
        </p:nvSpPr>
        <p:spPr>
          <a:xfrm>
            <a:off x="7426233" y="1661407"/>
            <a:ext cx="1387929" cy="504000"/>
          </a:xfrm>
          <a:prstGeom prst="rect">
            <a:avLst/>
          </a:prstGeom>
          <a:noFill/>
          <a:ln/>
        </p:spPr>
        <p:txBody>
          <a:bodyPr wrap="square" rtlCol="0" anchor="ctr"/>
          <a:lstStyle/>
          <a:p>
            <a:pPr marL="0" indent="0" algn="ctr">
              <a:buNone/>
            </a:pPr>
            <a:r>
              <a:rPr lang="en-US" sz="1000" dirty="0">
                <a:solidFill>
                  <a:srgbClr val="64748B"/>
                </a:solidFill>
                <a:latin typeface="Calibri" pitchFamily="34" charset="0"/>
                <a:ea typeface="Calibri" pitchFamily="34" charset="-122"/>
                <a:cs typeface="Calibri" pitchFamily="34" charset="-120"/>
              </a:rPr>
              <a:t>करियर की स्पष्टता।</a:t>
            </a:r>
            <a:endParaRPr lang="en-US" sz="1000" dirty="0"/>
          </a:p>
          <a:p>
            <a:pPr marL="0" indent="0" algn="ctr">
              <a:buNone/>
            </a:pPr>
            <a:r>
              <a:rPr lang="en-US" sz="1000" dirty="0">
                <a:solidFill>
                  <a:srgbClr val="64748B"/>
                </a:solidFill>
                <a:latin typeface="Calibri" pitchFamily="34" charset="0"/>
                <a:ea typeface="Calibri" pitchFamily="34" charset="-122"/>
                <a:cs typeface="Calibri" pitchFamily="34" charset="-120"/>
              </a:rPr>
              <a:t>हम साथ मिलकर जश्न मनाते हैं।</a:t>
            </a:r>
            <a:endParaRPr lang="en-US" sz="1000" dirty="0"/>
          </a:p>
        </p:txBody>
      </p:sp>
      <p:sp>
        <p:nvSpPr>
          <p:cNvPr id="28" name="Shape 25"/>
          <p:cNvSpPr/>
          <p:nvPr/>
        </p:nvSpPr>
        <p:spPr>
          <a:xfrm>
            <a:off x="496485" y="2761267"/>
            <a:ext cx="360000" cy="128016"/>
          </a:xfrm>
          <a:prstGeom prst="rect">
            <a:avLst/>
          </a:prstGeom>
          <a:solidFill>
            <a:srgbClr val="EF9F27"/>
          </a:solidFill>
          <a:ln w="12700">
            <a:solidFill>
              <a:srgbClr val="EF9F27"/>
            </a:solidFill>
            <a:prstDash val="solid"/>
          </a:ln>
        </p:spPr>
      </p:sp>
      <p:sp>
        <p:nvSpPr>
          <p:cNvPr id="29" name="Text 26"/>
          <p:cNvSpPr/>
          <p:nvPr/>
        </p:nvSpPr>
        <p:spPr>
          <a:xfrm>
            <a:off x="770805" y="2736834"/>
            <a:ext cx="993987" cy="176883"/>
          </a:xfrm>
          <a:prstGeom prst="rect">
            <a:avLst/>
          </a:prstGeom>
          <a:noFill/>
          <a:ln/>
        </p:spPr>
        <p:txBody>
          <a:bodyPr wrap="square" rtlCol="0" anchor="ctr"/>
          <a:lstStyle/>
          <a:p>
            <a:pPr marL="0" indent="0" algn="ctr">
              <a:buNone/>
            </a:pPr>
            <a:r>
              <a:rPr lang="en-US" sz="1200" b="1" dirty="0">
                <a:solidFill>
                  <a:srgbClr val="EF9F27"/>
                </a:solidFill>
                <a:latin typeface="Calibri" pitchFamily="34" charset="0"/>
                <a:ea typeface="Calibri" pitchFamily="34" charset="-122"/>
                <a:cs typeface="Calibri" pitchFamily="34" charset="-120"/>
              </a:rPr>
              <a:t>आगे भी →</a:t>
            </a:r>
            <a:endParaRPr lang="en-US" sz="1200" dirty="0"/>
          </a:p>
        </p:txBody>
      </p:sp>
      <p:sp>
        <p:nvSpPr>
          <p:cNvPr id="30" name="Shape 27"/>
          <p:cNvSpPr/>
          <p:nvPr/>
        </p:nvSpPr>
        <p:spPr>
          <a:xfrm>
            <a:off x="457200" y="2155108"/>
            <a:ext cx="8229600" cy="27432"/>
          </a:xfrm>
          <a:prstGeom prst="rect">
            <a:avLst/>
          </a:prstGeom>
          <a:solidFill>
            <a:srgbClr val="E1F5EE"/>
          </a:solidFill>
          <a:ln w="12700">
            <a:solidFill>
              <a:srgbClr val="E1F5EE"/>
            </a:solidFill>
            <a:prstDash val="solid"/>
          </a:ln>
        </p:spPr>
      </p:sp>
      <p:sp>
        <p:nvSpPr>
          <p:cNvPr id="31" name="Shape 28"/>
          <p:cNvSpPr/>
          <p:nvPr/>
        </p:nvSpPr>
        <p:spPr>
          <a:xfrm>
            <a:off x="496485" y="2992697"/>
            <a:ext cx="3931920" cy="1417320"/>
          </a:xfrm>
          <a:prstGeom prst="rect">
            <a:avLst/>
          </a:prstGeom>
          <a:solidFill>
            <a:srgbClr val="E1F5EE"/>
          </a:solidFill>
          <a:ln w="12700">
            <a:solidFill>
              <a:srgbClr val="1D9E75"/>
            </a:solidFill>
            <a:prstDash val="solid"/>
          </a:ln>
        </p:spPr>
      </p:sp>
      <p:sp>
        <p:nvSpPr>
          <p:cNvPr id="32" name="Text 29"/>
          <p:cNvSpPr/>
          <p:nvPr/>
        </p:nvSpPr>
        <p:spPr>
          <a:xfrm>
            <a:off x="679365" y="3084137"/>
            <a:ext cx="3566160" cy="347472"/>
          </a:xfrm>
          <a:prstGeom prst="rect">
            <a:avLst/>
          </a:prstGeom>
          <a:noFill/>
          <a:ln/>
        </p:spPr>
        <p:txBody>
          <a:bodyPr wrap="square" rtlCol="0" anchor="ctr"/>
          <a:lstStyle/>
          <a:p>
            <a:pPr marL="0" indent="0">
              <a:buNone/>
            </a:pPr>
            <a:r>
              <a:rPr lang="en-US" sz="1300" b="1" dirty="0">
                <a:solidFill>
                  <a:srgbClr val="085041"/>
                </a:solidFill>
                <a:latin typeface="Calibri" pitchFamily="34" charset="0"/>
                <a:ea typeface="Calibri" pitchFamily="34" charset="-122"/>
                <a:cs typeface="Calibri" pitchFamily="34" charset="-120"/>
              </a:rPr>
              <a:t>और फिर — आप हमारा हिस्सा बन जाते हैं।</a:t>
            </a:r>
            <a:endParaRPr lang="en-US" sz="1300" dirty="0"/>
          </a:p>
        </p:txBody>
      </p:sp>
      <p:sp>
        <p:nvSpPr>
          <p:cNvPr id="33" name="Text 30"/>
          <p:cNvSpPr/>
          <p:nvPr/>
        </p:nvSpPr>
        <p:spPr>
          <a:xfrm>
            <a:off x="679365" y="3477329"/>
            <a:ext cx="3566160" cy="841248"/>
          </a:xfrm>
          <a:prstGeom prst="rect">
            <a:avLst/>
          </a:prstGeom>
          <a:noFill/>
          <a:ln/>
        </p:spPr>
        <p:txBody>
          <a:bodyPr wrap="square" rtlCol="0" anchor="t"/>
          <a:lstStyle/>
          <a:p>
            <a:pPr marL="0" indent="0">
              <a:buNone/>
            </a:pPr>
            <a:r>
              <a:rPr lang="en-US" sz="1100" dirty="0">
                <a:solidFill>
                  <a:srgbClr val="085041"/>
                </a:solidFill>
                <a:latin typeface="Calibri" pitchFamily="34" charset="0"/>
                <a:ea typeface="Calibri" pitchFamily="34" charset="-122"/>
                <a:cs typeface="Calibri" pitchFamily="34" charset="-120"/>
              </a:rPr>
              <a:t>जब आपको पहली नौकरी मिले, पहली बढ़ोतरी हो, पहला प्रमोशन मिले — आप वापस आएँ। छात्र बनकर नहीं। मार्गदर्शक बनकर। आप उन छात्रों की मदद करें जो आज वहीं बैठे हैं जहाँ आप कभी बैठे थे।</a:t>
            </a:r>
            <a:endParaRPr lang="en-US" sz="1100" dirty="0"/>
          </a:p>
        </p:txBody>
      </p:sp>
      <p:sp>
        <p:nvSpPr>
          <p:cNvPr id="34" name="Shape 31"/>
          <p:cNvSpPr/>
          <p:nvPr/>
        </p:nvSpPr>
        <p:spPr>
          <a:xfrm>
            <a:off x="4794165" y="2992697"/>
            <a:ext cx="3931920" cy="1417320"/>
          </a:xfrm>
          <a:prstGeom prst="rect">
            <a:avLst/>
          </a:prstGeom>
          <a:solidFill>
            <a:srgbClr val="FAEEDA"/>
          </a:solidFill>
          <a:ln w="12700">
            <a:solidFill>
              <a:srgbClr val="EF9F27"/>
            </a:solidFill>
            <a:prstDash val="solid"/>
          </a:ln>
        </p:spPr>
      </p:sp>
      <p:sp>
        <p:nvSpPr>
          <p:cNvPr id="35" name="Text 32"/>
          <p:cNvSpPr/>
          <p:nvPr/>
        </p:nvSpPr>
        <p:spPr>
          <a:xfrm>
            <a:off x="4977045" y="3084137"/>
            <a:ext cx="3566160" cy="347472"/>
          </a:xfrm>
          <a:prstGeom prst="rect">
            <a:avLst/>
          </a:prstGeom>
          <a:noFill/>
          <a:ln/>
        </p:spPr>
        <p:txBody>
          <a:bodyPr wrap="square" rtlCol="0" anchor="ctr"/>
          <a:lstStyle/>
          <a:p>
            <a:pPr marL="0" indent="0">
              <a:buNone/>
            </a:pPr>
            <a:r>
              <a:rPr lang="en-US" sz="1300" b="1" dirty="0">
                <a:solidFill>
                  <a:srgbClr val="633806"/>
                </a:solidFill>
                <a:latin typeface="Calibri" pitchFamily="34" charset="0"/>
                <a:ea typeface="Calibri" pitchFamily="34" charset="-122"/>
                <a:cs typeface="Calibri" pitchFamily="34" charset="-120"/>
              </a:rPr>
              <a:t>यह मुझसे बड़ा है।</a:t>
            </a:r>
            <a:endParaRPr lang="en-US" sz="1300" dirty="0"/>
          </a:p>
        </p:txBody>
      </p:sp>
      <p:sp>
        <p:nvSpPr>
          <p:cNvPr id="36" name="Text 33"/>
          <p:cNvSpPr/>
          <p:nvPr/>
        </p:nvSpPr>
        <p:spPr>
          <a:xfrm>
            <a:off x="4977045" y="3477329"/>
            <a:ext cx="3566160" cy="841248"/>
          </a:xfrm>
          <a:prstGeom prst="rect">
            <a:avLst/>
          </a:prstGeom>
          <a:noFill/>
          <a:ln/>
        </p:spPr>
        <p:txBody>
          <a:bodyPr wrap="square" rtlCol="0" anchor="t"/>
          <a:lstStyle/>
          <a:p>
            <a:pPr marL="0" indent="0">
              <a:buNone/>
            </a:pPr>
            <a:r>
              <a:rPr lang="en-US" sz="1100" dirty="0" err="1">
                <a:solidFill>
                  <a:srgbClr val="633806"/>
                </a:solidFill>
                <a:latin typeface="Calibri" pitchFamily="34" charset="0"/>
                <a:ea typeface="Calibri" pitchFamily="34" charset="-122"/>
                <a:cs typeface="Calibri" pitchFamily="34" charset="-120"/>
              </a:rPr>
              <a:t>Pehchaan</a:t>
            </a:r>
            <a:r>
              <a:rPr lang="en-US" sz="1100" dirty="0">
                <a:solidFill>
                  <a:srgbClr val="633806"/>
                </a:solidFill>
                <a:latin typeface="Calibri" pitchFamily="34" charset="0"/>
                <a:ea typeface="Calibri" pitchFamily="34" charset="-122"/>
                <a:cs typeface="Calibri" pitchFamily="34" charset="-120"/>
              </a:rPr>
              <a:t> तभी बढ़ सकता है जब आप सब बढ़ें। जिस भी छात्र को हम गाइड करते हैं वो अगले को गाइड करने वाला साथी बन जाता है। यह कोई व्यापार नहीं है। यह एक समुदाय है जो एक ईमानदार वादे पर बना है — मार्गदर्शन की कमी से कोई पीछे नहीं छूटेगा।</a:t>
            </a:r>
            <a:endParaRPr lang="en-US" sz="1100" dirty="0"/>
          </a:p>
        </p:txBody>
      </p:sp>
      <p:sp>
        <p:nvSpPr>
          <p:cNvPr id="37" name="Shape 34"/>
          <p:cNvSpPr/>
          <p:nvPr/>
        </p:nvSpPr>
        <p:spPr>
          <a:xfrm>
            <a:off x="0" y="4864608"/>
            <a:ext cx="9144000" cy="278892"/>
          </a:xfrm>
          <a:prstGeom prst="rect">
            <a:avLst/>
          </a:prstGeom>
          <a:solidFill>
            <a:srgbClr val="E1F5EE"/>
          </a:solidFill>
          <a:ln w="12700">
            <a:solidFill>
              <a:srgbClr val="E1F5EE"/>
            </a:solidFill>
            <a:prstDash val="solid"/>
          </a:ln>
        </p:spPr>
      </p:sp>
      <p:pic>
        <p:nvPicPr>
          <p:cNvPr id="38" name="Image 1" descr="preencoded.png"/>
          <p:cNvPicPr>
            <a:picLocks noChangeAspect="1"/>
          </p:cNvPicPr>
          <p:nvPr/>
        </p:nvPicPr>
        <p:blipFill>
          <a:blip r:embed="rId4"/>
          <a:stretch>
            <a:fillRect/>
          </a:stretch>
        </p:blipFill>
        <p:spPr>
          <a:xfrm>
            <a:off x="109728" y="4873752"/>
            <a:ext cx="1005840" cy="246888"/>
          </a:xfrm>
          <a:prstGeom prst="rect">
            <a:avLst/>
          </a:prstGeom>
        </p:spPr>
      </p:pic>
      <p:sp>
        <p:nvSpPr>
          <p:cNvPr id="39" name="Text 35"/>
          <p:cNvSpPr/>
          <p:nvPr/>
        </p:nvSpPr>
        <p:spPr>
          <a:xfrm>
            <a:off x="6858000" y="4882896"/>
            <a:ext cx="2176272" cy="219456"/>
          </a:xfrm>
          <a:prstGeom prst="rect">
            <a:avLst/>
          </a:prstGeom>
          <a:noFill/>
          <a:ln/>
        </p:spPr>
        <p:txBody>
          <a:bodyPr wrap="square" rtlCol="0" anchor="ctr"/>
          <a:lstStyle/>
          <a:p>
            <a:pPr marL="0" indent="0" algn="r">
              <a:buNone/>
            </a:pPr>
            <a:r>
              <a:rPr lang="en-US" sz="900" dirty="0">
                <a:solidFill>
                  <a:srgbClr val="085041"/>
                </a:solidFill>
                <a:latin typeface="Calibri" pitchFamily="34" charset="0"/>
                <a:ea typeface="Calibri" pitchFamily="34" charset="-122"/>
                <a:cs typeface="Calibri" pitchFamily="34" charset="-120"/>
              </a:rPr>
              <a:t>Pehchaancareers.in</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8503920" y="109728"/>
            <a:ext cx="384048" cy="384048"/>
          </a:xfrm>
          <a:prstGeom prst="rect">
            <a:avLst/>
          </a:prstGeom>
        </p:spPr>
      </p:pic>
      <p:sp>
        <p:nvSpPr>
          <p:cNvPr id="3" name="Text 0"/>
          <p:cNvSpPr/>
          <p:nvPr/>
        </p:nvSpPr>
        <p:spPr>
          <a:xfrm>
            <a:off x="548640" y="228600"/>
            <a:ext cx="8046720" cy="548640"/>
          </a:xfrm>
          <a:prstGeom prst="rect">
            <a:avLst/>
          </a:prstGeom>
          <a:noFill/>
          <a:ln/>
        </p:spPr>
        <p:txBody>
          <a:bodyPr wrap="square" rtlCol="0" anchor="ctr"/>
          <a:lstStyle/>
          <a:p>
            <a:pPr marL="0" indent="0">
              <a:buNone/>
            </a:pPr>
            <a:r>
              <a:rPr lang="en-US" sz="2800" b="1" dirty="0">
                <a:solidFill>
                  <a:srgbClr val="1A1A2E"/>
                </a:solidFill>
                <a:latin typeface="Calibri" pitchFamily="34" charset="0"/>
                <a:ea typeface="Calibri" pitchFamily="34" charset="-122"/>
                <a:cs typeface="Calibri" pitchFamily="34" charset="-120"/>
              </a:rPr>
              <a:t>पहचान </a:t>
            </a:r>
            <a:r>
              <a:rPr lang="en-US" sz="2800" b="1" dirty="0" err="1">
                <a:solidFill>
                  <a:srgbClr val="1A1A2E"/>
                </a:solidFill>
                <a:latin typeface="Calibri" pitchFamily="34" charset="0"/>
                <a:ea typeface="Calibri" pitchFamily="34" charset="-122"/>
                <a:cs typeface="Calibri" pitchFamily="34" charset="-120"/>
              </a:rPr>
              <a:t>Pehchaan</a:t>
            </a:r>
            <a:r>
              <a:rPr lang="en-US" sz="2800" b="1" dirty="0">
                <a:solidFill>
                  <a:srgbClr val="1A1A2E"/>
                </a:solidFill>
                <a:latin typeface="Calibri" pitchFamily="34" charset="0"/>
                <a:ea typeface="Calibri" pitchFamily="34" charset="-122"/>
                <a:cs typeface="Calibri" pitchFamily="34" charset="-120"/>
              </a:rPr>
              <a:t>?</a:t>
            </a:r>
            <a:endParaRPr lang="en-US" sz="2800" dirty="0"/>
          </a:p>
        </p:txBody>
      </p:sp>
      <p:sp>
        <p:nvSpPr>
          <p:cNvPr id="4" name="Shape 1"/>
          <p:cNvSpPr/>
          <p:nvPr/>
        </p:nvSpPr>
        <p:spPr>
          <a:xfrm>
            <a:off x="457200" y="914400"/>
            <a:ext cx="4023360" cy="3337560"/>
          </a:xfrm>
          <a:prstGeom prst="rect">
            <a:avLst/>
          </a:prstGeom>
          <a:solidFill>
            <a:srgbClr val="E1F5EE"/>
          </a:solidFill>
          <a:ln w="12700">
            <a:solidFill>
              <a:srgbClr val="1D9E75"/>
            </a:solidFill>
            <a:prstDash val="solid"/>
          </a:ln>
        </p:spPr>
      </p:sp>
      <p:pic>
        <p:nvPicPr>
          <p:cNvPr id="5" name="Image 1" descr="preencoded.png"/>
          <p:cNvPicPr>
            <a:picLocks noChangeAspect="1"/>
          </p:cNvPicPr>
          <p:nvPr/>
        </p:nvPicPr>
        <p:blipFill>
          <a:blip r:embed="rId3"/>
          <a:stretch>
            <a:fillRect/>
          </a:stretch>
        </p:blipFill>
        <p:spPr>
          <a:xfrm>
            <a:off x="640080" y="1005840"/>
            <a:ext cx="822960" cy="822960"/>
          </a:xfrm>
          <a:prstGeom prst="rect">
            <a:avLst/>
          </a:prstGeom>
        </p:spPr>
      </p:pic>
      <p:sp>
        <p:nvSpPr>
          <p:cNvPr id="6" name="Text 2"/>
          <p:cNvSpPr/>
          <p:nvPr/>
        </p:nvSpPr>
        <p:spPr>
          <a:xfrm>
            <a:off x="1554480" y="1051560"/>
            <a:ext cx="2651760" cy="438912"/>
          </a:xfrm>
          <a:prstGeom prst="rect">
            <a:avLst/>
          </a:prstGeom>
          <a:noFill/>
          <a:ln/>
        </p:spPr>
        <p:txBody>
          <a:bodyPr wrap="square" rtlCol="0" anchor="ctr"/>
          <a:lstStyle/>
          <a:p>
            <a:r>
              <a:rPr lang="en-US" sz="1300" b="1" dirty="0">
                <a:solidFill>
                  <a:srgbClr val="085041"/>
                </a:solidFill>
                <a:latin typeface="Calibri" pitchFamily="34" charset="0"/>
                <a:ea typeface="Calibri" pitchFamily="34" charset="-122"/>
                <a:cs typeface="Calibri" pitchFamily="34" charset="-120"/>
              </a:rPr>
              <a:t>न कोई क्लासरूम। न कोई कोचिंग </a:t>
            </a:r>
            <a:r>
              <a:rPr lang="en-US" sz="1300" b="1" dirty="0" err="1">
                <a:solidFill>
                  <a:srgbClr val="085041"/>
                </a:solidFill>
                <a:latin typeface="Calibri" pitchFamily="34" charset="0"/>
                <a:ea typeface="Calibri" pitchFamily="34" charset="-122"/>
                <a:cs typeface="Calibri" pitchFamily="34" charset="-120"/>
              </a:rPr>
              <a:t>सेंटर</a:t>
            </a:r>
            <a:r>
              <a:rPr lang="en-US" sz="1300" b="1" dirty="0">
                <a:solidFill>
                  <a:srgbClr val="085041"/>
                </a:solidFill>
                <a:latin typeface="Calibri" pitchFamily="34" charset="0"/>
                <a:ea typeface="Calibri" pitchFamily="34" charset="-122"/>
                <a:cs typeface="Calibri" pitchFamily="34" charset="-120"/>
              </a:rPr>
              <a:t>. </a:t>
            </a:r>
            <a:r>
              <a:rPr lang="en-US" sz="1300" b="1" dirty="0" err="1">
                <a:solidFill>
                  <a:srgbClr val="085041"/>
                </a:solidFill>
                <a:latin typeface="Calibri" pitchFamily="34" charset="0"/>
                <a:ea typeface="Calibri" pitchFamily="34" charset="-122"/>
                <a:cs typeface="Calibri" pitchFamily="34" charset="-120"/>
              </a:rPr>
              <a:t>हम</a:t>
            </a:r>
            <a:r>
              <a:rPr lang="en-US" sz="1300" b="1" dirty="0">
                <a:solidFill>
                  <a:srgbClr val="085041"/>
                </a:solidFill>
                <a:latin typeface="Calibri" pitchFamily="34" charset="0"/>
                <a:ea typeface="Calibri" pitchFamily="34" charset="-122"/>
                <a:cs typeface="Calibri" pitchFamily="34" charset="-120"/>
              </a:rPr>
              <a:t> </a:t>
            </a:r>
            <a:r>
              <a:rPr lang="en-US" sz="1300" b="1" dirty="0" err="1">
                <a:solidFill>
                  <a:srgbClr val="085041"/>
                </a:solidFill>
                <a:latin typeface="Calibri" pitchFamily="34" charset="0"/>
                <a:ea typeface="Calibri" pitchFamily="34" charset="-122"/>
                <a:cs typeface="Calibri" pitchFamily="34" charset="-120"/>
              </a:rPr>
              <a:t>समुदाय</a:t>
            </a:r>
            <a:r>
              <a:rPr lang="en-US" sz="1300" b="1" dirty="0">
                <a:solidFill>
                  <a:srgbClr val="085041"/>
                </a:solidFill>
                <a:latin typeface="Calibri" pitchFamily="34" charset="0"/>
                <a:ea typeface="Calibri" pitchFamily="34" charset="-122"/>
                <a:cs typeface="Calibri" pitchFamily="34" charset="-120"/>
              </a:rPr>
              <a:t> </a:t>
            </a:r>
            <a:r>
              <a:rPr lang="en-US" sz="1300" b="1" dirty="0" err="1">
                <a:solidFill>
                  <a:srgbClr val="085041"/>
                </a:solidFill>
                <a:latin typeface="Calibri" pitchFamily="34" charset="0"/>
                <a:ea typeface="Calibri" pitchFamily="34" charset="-122"/>
                <a:cs typeface="Calibri" pitchFamily="34" charset="-120"/>
              </a:rPr>
              <a:t>हैं</a:t>
            </a:r>
            <a:r>
              <a:rPr lang="en-US" sz="1300" b="1" dirty="0">
                <a:solidFill>
                  <a:srgbClr val="085041"/>
                </a:solidFill>
                <a:latin typeface="Calibri" pitchFamily="34" charset="0"/>
                <a:ea typeface="Calibri" pitchFamily="34" charset="-122"/>
                <a:cs typeface="Calibri" pitchFamily="34" charset="-120"/>
              </a:rPr>
              <a:t> .</a:t>
            </a:r>
            <a:endParaRPr lang="en-US" sz="1300" dirty="0"/>
          </a:p>
        </p:txBody>
      </p:sp>
      <p:sp>
        <p:nvSpPr>
          <p:cNvPr id="7" name="Text 3"/>
          <p:cNvSpPr/>
          <p:nvPr/>
        </p:nvSpPr>
        <p:spPr>
          <a:xfrm>
            <a:off x="640080" y="1920240"/>
            <a:ext cx="3611880" cy="2194560"/>
          </a:xfrm>
          <a:prstGeom prst="rect">
            <a:avLst/>
          </a:prstGeom>
          <a:noFill/>
          <a:ln/>
        </p:spPr>
        <p:txBody>
          <a:bodyPr wrap="square" rtlCol="0" anchor="t"/>
          <a:lstStyle/>
          <a:p>
            <a:pPr marL="0" indent="0">
              <a:buNone/>
            </a:pPr>
            <a:r>
              <a:rPr lang="en-US" sz="1200" dirty="0" err="1">
                <a:solidFill>
                  <a:srgbClr val="085041"/>
                </a:solidFill>
                <a:latin typeface="Calibri" pitchFamily="34" charset="0"/>
                <a:ea typeface="Calibri" pitchFamily="34" charset="-122"/>
                <a:cs typeface="Calibri" pitchFamily="34" charset="-120"/>
              </a:rPr>
              <a:t>Pehchaan</a:t>
            </a:r>
            <a:r>
              <a:rPr lang="en-US" sz="1200" dirty="0">
                <a:solidFill>
                  <a:srgbClr val="085041"/>
                </a:solidFill>
                <a:latin typeface="Calibri" pitchFamily="34" charset="0"/>
                <a:ea typeface="Calibri" pitchFamily="34" charset="-122"/>
                <a:cs typeface="Calibri" pitchFamily="34" charset="-120"/>
              </a:rPr>
              <a:t> उस इंसान ने बनाया है जिसने </a:t>
            </a:r>
            <a:r>
              <a:rPr lang="en-US" sz="1200" b="1" dirty="0">
                <a:solidFill>
                  <a:srgbClr val="085041"/>
                </a:solidFill>
                <a:latin typeface="Calibri" pitchFamily="34" charset="0"/>
                <a:ea typeface="Calibri" pitchFamily="34" charset="-122"/>
                <a:cs typeface="Calibri" pitchFamily="34" charset="-120"/>
              </a:rPr>
              <a:t>16 साल</a:t>
            </a:r>
            <a:r>
              <a:rPr lang="en-US" sz="1200" dirty="0">
                <a:solidFill>
                  <a:srgbClr val="085041"/>
                </a:solidFill>
                <a:latin typeface="Calibri" pitchFamily="34" charset="0"/>
                <a:ea typeface="Calibri" pitchFamily="34" charset="-122"/>
                <a:cs typeface="Calibri" pitchFamily="34" charset="-120"/>
              </a:rPr>
              <a:t> कॉर्पोरेट इंडिया में बिताए।</a:t>
            </a:r>
            <a:endParaRPr lang="en-US" sz="1200" dirty="0"/>
          </a:p>
          <a:p>
            <a:pPr marL="0" indent="0">
              <a:buNone/>
            </a:pPr>
            <a:endParaRPr lang="en-US" sz="1200" dirty="0"/>
          </a:p>
          <a:p>
            <a:pPr marL="0" indent="0">
              <a:buNone/>
            </a:pPr>
            <a:r>
              <a:rPr lang="en-US" sz="1200" dirty="0">
                <a:solidFill>
                  <a:srgbClr val="085041"/>
                </a:solidFill>
                <a:latin typeface="Calibri" pitchFamily="34" charset="0"/>
                <a:ea typeface="Calibri" pitchFamily="34" charset="-122"/>
                <a:cs typeface="Calibri" pitchFamily="34" charset="-120"/>
              </a:rPr>
              <a:t>हमने देखा है कि कंपनियाँ क्या ढूँढती हैं। हम जानते हैं कि किन कौशलों से लोग आगे बढ़ते हैं। हमने देखा है कि कौन पीछे छूट जाता है — और क्यों।</a:t>
            </a:r>
            <a:endParaRPr lang="en-US" sz="1200" dirty="0"/>
          </a:p>
          <a:p>
            <a:pPr marL="0" indent="0">
              <a:buNone/>
            </a:pPr>
            <a:endParaRPr lang="en-US" sz="1200" dirty="0"/>
          </a:p>
          <a:p>
            <a:pPr marL="0" indent="0">
              <a:buNone/>
            </a:pPr>
            <a:r>
              <a:rPr lang="en-US" sz="1200" dirty="0">
                <a:solidFill>
                  <a:srgbClr val="085041"/>
                </a:solidFill>
                <a:latin typeface="Calibri" pitchFamily="34" charset="0"/>
                <a:ea typeface="Calibri" pitchFamily="34" charset="-122"/>
                <a:cs typeface="Calibri" pitchFamily="34" charset="-120"/>
              </a:rPr>
              <a:t>हम वापस आए हैं आपको वो बातें बताने के लिए जो कभी हमें किसी ने नहीं बताईं।</a:t>
            </a:r>
            <a:endParaRPr lang="en-US" sz="1200" dirty="0"/>
          </a:p>
        </p:txBody>
      </p:sp>
      <p:sp>
        <p:nvSpPr>
          <p:cNvPr id="8" name="Shape 4"/>
          <p:cNvSpPr/>
          <p:nvPr/>
        </p:nvSpPr>
        <p:spPr>
          <a:xfrm>
            <a:off x="4754880" y="914400"/>
            <a:ext cx="3931920" cy="3337560"/>
          </a:xfrm>
          <a:prstGeom prst="rect">
            <a:avLst/>
          </a:prstGeom>
          <a:solidFill>
            <a:srgbClr val="F8FAFC"/>
          </a:solidFill>
          <a:ln w="12700">
            <a:solidFill>
              <a:srgbClr val="E2E8F0"/>
            </a:solidFill>
            <a:prstDash val="solid"/>
          </a:ln>
        </p:spPr>
      </p:sp>
      <p:sp>
        <p:nvSpPr>
          <p:cNvPr id="9" name="Text 5"/>
          <p:cNvSpPr/>
          <p:nvPr/>
        </p:nvSpPr>
        <p:spPr>
          <a:xfrm>
            <a:off x="4937760" y="1024128"/>
            <a:ext cx="3566160" cy="347472"/>
          </a:xfrm>
          <a:prstGeom prst="rect">
            <a:avLst/>
          </a:prstGeom>
          <a:noFill/>
          <a:ln/>
        </p:spPr>
        <p:txBody>
          <a:bodyPr wrap="square" rtlCol="0" anchor="ctr"/>
          <a:lstStyle/>
          <a:p>
            <a:pPr marL="0" indent="0">
              <a:buNone/>
            </a:pPr>
            <a:r>
              <a:rPr lang="en-US" sz="1300" b="1" dirty="0">
                <a:solidFill>
                  <a:srgbClr val="1A1A2E"/>
                </a:solidFill>
                <a:latin typeface="Calibri" pitchFamily="34" charset="0"/>
                <a:ea typeface="Calibri" pitchFamily="34" charset="-122"/>
                <a:cs typeface="Calibri" pitchFamily="34" charset="-120"/>
              </a:rPr>
              <a:t>पहचान </a:t>
            </a:r>
            <a:r>
              <a:rPr lang="en-US" sz="1300" b="1" dirty="0" err="1">
                <a:solidFill>
                  <a:srgbClr val="1A1A2E"/>
                </a:solidFill>
                <a:latin typeface="Calibri" pitchFamily="34" charset="0"/>
                <a:ea typeface="Calibri" pitchFamily="34" charset="-122"/>
                <a:cs typeface="Calibri" pitchFamily="34" charset="-120"/>
              </a:rPr>
              <a:t>Pehchaan</a:t>
            </a:r>
            <a:r>
              <a:rPr lang="en-US" sz="1300" b="1" dirty="0">
                <a:solidFill>
                  <a:srgbClr val="1A1A2E"/>
                </a:solidFill>
                <a:latin typeface="Calibri" pitchFamily="34" charset="0"/>
                <a:ea typeface="Calibri" pitchFamily="34" charset="-122"/>
                <a:cs typeface="Calibri" pitchFamily="34" charset="-120"/>
              </a:rPr>
              <a:t> क्या देता है:</a:t>
            </a:r>
            <a:endParaRPr lang="en-US" sz="1300" dirty="0"/>
          </a:p>
        </p:txBody>
      </p:sp>
      <p:sp>
        <p:nvSpPr>
          <p:cNvPr id="10" name="Shape 6"/>
          <p:cNvSpPr/>
          <p:nvPr/>
        </p:nvSpPr>
        <p:spPr>
          <a:xfrm>
            <a:off x="4937760" y="1554480"/>
            <a:ext cx="128016" cy="128016"/>
          </a:xfrm>
          <a:prstGeom prst="ellipse">
            <a:avLst/>
          </a:prstGeom>
          <a:solidFill>
            <a:srgbClr val="1D9E75"/>
          </a:solidFill>
          <a:ln w="12700">
            <a:solidFill>
              <a:srgbClr val="1D9E75"/>
            </a:solidFill>
            <a:prstDash val="solid"/>
          </a:ln>
        </p:spPr>
      </p:sp>
      <p:sp>
        <p:nvSpPr>
          <p:cNvPr id="11" name="Text 7"/>
          <p:cNvSpPr/>
          <p:nvPr/>
        </p:nvSpPr>
        <p:spPr>
          <a:xfrm>
            <a:off x="5166360" y="1463040"/>
            <a:ext cx="3528000" cy="384048"/>
          </a:xfrm>
          <a:prstGeom prst="rect">
            <a:avLst/>
          </a:prstGeom>
          <a:noFill/>
          <a:ln/>
        </p:spPr>
        <p:txBody>
          <a:bodyPr wrap="square" rtlCol="0" anchor="ctr"/>
          <a:lstStyle/>
          <a:p>
            <a:pPr marL="0" indent="0">
              <a:buNone/>
            </a:pPr>
            <a:r>
              <a:rPr lang="en-US" sz="1200" dirty="0">
                <a:solidFill>
                  <a:srgbClr val="1A1A2E"/>
                </a:solidFill>
                <a:latin typeface="Calibri" pitchFamily="34" charset="0"/>
                <a:ea typeface="Calibri" pitchFamily="34" charset="-122"/>
                <a:cs typeface="Calibri" pitchFamily="34" charset="-120"/>
              </a:rPr>
              <a:t>रास्ता चुनने से पहले अपना जुनून समझो</a:t>
            </a:r>
            <a:endParaRPr lang="en-US" sz="1200" dirty="0"/>
          </a:p>
        </p:txBody>
      </p:sp>
      <p:sp>
        <p:nvSpPr>
          <p:cNvPr id="12" name="Shape 8"/>
          <p:cNvSpPr/>
          <p:nvPr/>
        </p:nvSpPr>
        <p:spPr>
          <a:xfrm>
            <a:off x="4937760" y="1975104"/>
            <a:ext cx="128016" cy="128016"/>
          </a:xfrm>
          <a:prstGeom prst="ellipse">
            <a:avLst/>
          </a:prstGeom>
          <a:solidFill>
            <a:srgbClr val="1D9E75"/>
          </a:solidFill>
          <a:ln w="12700">
            <a:solidFill>
              <a:srgbClr val="1D9E75"/>
            </a:solidFill>
            <a:prstDash val="solid"/>
          </a:ln>
        </p:spPr>
      </p:sp>
      <p:sp>
        <p:nvSpPr>
          <p:cNvPr id="13" name="Text 9"/>
          <p:cNvSpPr/>
          <p:nvPr/>
        </p:nvSpPr>
        <p:spPr>
          <a:xfrm>
            <a:off x="5166360" y="1883664"/>
            <a:ext cx="3528000" cy="384048"/>
          </a:xfrm>
          <a:prstGeom prst="rect">
            <a:avLst/>
          </a:prstGeom>
          <a:noFill/>
          <a:ln/>
        </p:spPr>
        <p:txBody>
          <a:bodyPr wrap="square" rtlCol="0" anchor="ctr"/>
          <a:lstStyle/>
          <a:p>
            <a:pPr marL="0" indent="0">
              <a:buNone/>
            </a:pPr>
            <a:r>
              <a:rPr lang="en-US" sz="1200" dirty="0">
                <a:solidFill>
                  <a:srgbClr val="1A1A2E"/>
                </a:solidFill>
                <a:latin typeface="Calibri" pitchFamily="34" charset="0"/>
                <a:ea typeface="Calibri" pitchFamily="34" charset="-122"/>
                <a:cs typeface="Calibri" pitchFamily="34" charset="-120"/>
              </a:rPr>
              <a:t>कॉर्पोरेट, कला, संगीत, मार्केटिंग और भी बहुत कुछ के लिए मार्गदर्शन</a:t>
            </a:r>
            <a:endParaRPr lang="en-US" sz="1200" dirty="0"/>
          </a:p>
        </p:txBody>
      </p:sp>
      <p:sp>
        <p:nvSpPr>
          <p:cNvPr id="14" name="Shape 10"/>
          <p:cNvSpPr/>
          <p:nvPr/>
        </p:nvSpPr>
        <p:spPr>
          <a:xfrm>
            <a:off x="4937760" y="2395728"/>
            <a:ext cx="128016" cy="128016"/>
          </a:xfrm>
          <a:prstGeom prst="ellipse">
            <a:avLst/>
          </a:prstGeom>
          <a:solidFill>
            <a:srgbClr val="1D9E75"/>
          </a:solidFill>
          <a:ln w="12700">
            <a:solidFill>
              <a:srgbClr val="1D9E75"/>
            </a:solidFill>
            <a:prstDash val="solid"/>
          </a:ln>
        </p:spPr>
      </p:sp>
      <p:sp>
        <p:nvSpPr>
          <p:cNvPr id="15" name="Text 11"/>
          <p:cNvSpPr/>
          <p:nvPr/>
        </p:nvSpPr>
        <p:spPr>
          <a:xfrm>
            <a:off x="5166360" y="2304288"/>
            <a:ext cx="3528000" cy="384048"/>
          </a:xfrm>
          <a:prstGeom prst="rect">
            <a:avLst/>
          </a:prstGeom>
          <a:noFill/>
          <a:ln/>
        </p:spPr>
        <p:txBody>
          <a:bodyPr wrap="square" rtlCol="0" anchor="ctr"/>
          <a:lstStyle/>
          <a:p>
            <a:pPr marL="0" indent="0">
              <a:buNone/>
            </a:pPr>
            <a:r>
              <a:rPr lang="en-US" sz="1200" dirty="0">
                <a:solidFill>
                  <a:srgbClr val="1A1A2E"/>
                </a:solidFill>
                <a:latin typeface="Calibri" pitchFamily="34" charset="0"/>
                <a:ea typeface="Calibri" pitchFamily="34" charset="-122"/>
                <a:cs typeface="Calibri" pitchFamily="34" charset="-120"/>
              </a:rPr>
              <a:t>हर क्षेत्र के विशेषज्ञ — सिर्फ एक उद्योग नहीं</a:t>
            </a:r>
            <a:endParaRPr lang="en-US" sz="1200" dirty="0"/>
          </a:p>
        </p:txBody>
      </p:sp>
      <p:sp>
        <p:nvSpPr>
          <p:cNvPr id="16" name="Shape 12"/>
          <p:cNvSpPr/>
          <p:nvPr/>
        </p:nvSpPr>
        <p:spPr>
          <a:xfrm>
            <a:off x="4937760" y="2816352"/>
            <a:ext cx="128016" cy="128016"/>
          </a:xfrm>
          <a:prstGeom prst="ellipse">
            <a:avLst/>
          </a:prstGeom>
          <a:solidFill>
            <a:srgbClr val="1D9E75"/>
          </a:solidFill>
          <a:ln w="12700">
            <a:solidFill>
              <a:srgbClr val="1D9E75"/>
            </a:solidFill>
            <a:prstDash val="solid"/>
          </a:ln>
        </p:spPr>
      </p:sp>
      <p:sp>
        <p:nvSpPr>
          <p:cNvPr id="17" name="Text 13"/>
          <p:cNvSpPr/>
          <p:nvPr/>
        </p:nvSpPr>
        <p:spPr>
          <a:xfrm>
            <a:off x="5166360" y="2724912"/>
            <a:ext cx="3528000" cy="384048"/>
          </a:xfrm>
          <a:prstGeom prst="rect">
            <a:avLst/>
          </a:prstGeom>
          <a:noFill/>
          <a:ln/>
        </p:spPr>
        <p:txBody>
          <a:bodyPr wrap="square" rtlCol="0" anchor="ctr"/>
          <a:lstStyle/>
          <a:p>
            <a:pPr marL="0" indent="0">
              <a:buNone/>
            </a:pPr>
            <a:r>
              <a:rPr lang="en-US" sz="1200" dirty="0">
                <a:solidFill>
                  <a:srgbClr val="1A1A2E"/>
                </a:solidFill>
                <a:latin typeface="Calibri" pitchFamily="34" charset="0"/>
                <a:ea typeface="Calibri" pitchFamily="34" charset="-122"/>
                <a:cs typeface="Calibri" pitchFamily="34" charset="-120"/>
              </a:rPr>
              <a:t>विदेश में उच्च शिक्षा या भारत में MBA — यह भी हम गाइड करते हैं</a:t>
            </a:r>
            <a:endParaRPr lang="en-US" sz="1200" dirty="0"/>
          </a:p>
        </p:txBody>
      </p:sp>
      <p:sp>
        <p:nvSpPr>
          <p:cNvPr id="18" name="Shape 14"/>
          <p:cNvSpPr/>
          <p:nvPr/>
        </p:nvSpPr>
        <p:spPr>
          <a:xfrm>
            <a:off x="4937760" y="3236976"/>
            <a:ext cx="128016" cy="128016"/>
          </a:xfrm>
          <a:prstGeom prst="ellipse">
            <a:avLst/>
          </a:prstGeom>
          <a:solidFill>
            <a:srgbClr val="1D9E75"/>
          </a:solidFill>
          <a:ln w="12700">
            <a:solidFill>
              <a:srgbClr val="1D9E75"/>
            </a:solidFill>
            <a:prstDash val="solid"/>
          </a:ln>
        </p:spPr>
      </p:sp>
      <p:sp>
        <p:nvSpPr>
          <p:cNvPr id="19" name="Text 15"/>
          <p:cNvSpPr/>
          <p:nvPr/>
        </p:nvSpPr>
        <p:spPr>
          <a:xfrm>
            <a:off x="5166360" y="3145536"/>
            <a:ext cx="3528000" cy="384048"/>
          </a:xfrm>
          <a:prstGeom prst="rect">
            <a:avLst/>
          </a:prstGeom>
          <a:noFill/>
          <a:ln/>
        </p:spPr>
        <p:txBody>
          <a:bodyPr wrap="square" rtlCol="0" anchor="ctr"/>
          <a:lstStyle/>
          <a:p>
            <a:pPr marL="0" indent="0">
              <a:buNone/>
            </a:pPr>
            <a:r>
              <a:rPr lang="en-US" sz="1200" dirty="0">
                <a:solidFill>
                  <a:srgbClr val="1A1A2E"/>
                </a:solidFill>
                <a:latin typeface="Calibri" pitchFamily="34" charset="0"/>
                <a:ea typeface="Calibri" pitchFamily="34" charset="-122"/>
                <a:cs typeface="Calibri" pitchFamily="34" charset="-120"/>
              </a:rPr>
              <a:t>सरकारी / पारंपरिक नौकरी का रास्ता — जब वाकई सही हो</a:t>
            </a:r>
            <a:endParaRPr lang="en-US" sz="1200" dirty="0"/>
          </a:p>
        </p:txBody>
      </p:sp>
      <p:sp>
        <p:nvSpPr>
          <p:cNvPr id="20" name="Shape 16"/>
          <p:cNvSpPr/>
          <p:nvPr/>
        </p:nvSpPr>
        <p:spPr>
          <a:xfrm>
            <a:off x="4937760" y="3657600"/>
            <a:ext cx="128016" cy="128016"/>
          </a:xfrm>
          <a:prstGeom prst="ellipse">
            <a:avLst/>
          </a:prstGeom>
          <a:solidFill>
            <a:srgbClr val="1D9E75"/>
          </a:solidFill>
          <a:ln w="12700">
            <a:solidFill>
              <a:srgbClr val="1D9E75"/>
            </a:solidFill>
            <a:prstDash val="solid"/>
          </a:ln>
        </p:spPr>
      </p:sp>
      <p:sp>
        <p:nvSpPr>
          <p:cNvPr id="21" name="Text 17"/>
          <p:cNvSpPr/>
          <p:nvPr/>
        </p:nvSpPr>
        <p:spPr>
          <a:xfrm>
            <a:off x="5166360" y="3566160"/>
            <a:ext cx="3528000" cy="384048"/>
          </a:xfrm>
          <a:prstGeom prst="rect">
            <a:avLst/>
          </a:prstGeom>
          <a:noFill/>
          <a:ln/>
        </p:spPr>
        <p:txBody>
          <a:bodyPr wrap="square" rtlCol="0" anchor="ctr"/>
          <a:lstStyle/>
          <a:p>
            <a:pPr marL="0" indent="0">
              <a:buNone/>
            </a:pPr>
            <a:r>
              <a:rPr lang="en-US" sz="1200" dirty="0">
                <a:solidFill>
                  <a:srgbClr val="1A1A2E"/>
                </a:solidFill>
                <a:latin typeface="Calibri" pitchFamily="34" charset="0"/>
                <a:ea typeface="Calibri" pitchFamily="34" charset="-122"/>
                <a:cs typeface="Calibri" pitchFamily="34" charset="-120"/>
              </a:rPr>
              <a:t>छात्रों और माता-पिता के लिए मिलकर सूचित निर्णय</a:t>
            </a:r>
            <a:endParaRPr lang="en-US" sz="1200" dirty="0"/>
          </a:p>
        </p:txBody>
      </p:sp>
      <p:sp>
        <p:nvSpPr>
          <p:cNvPr id="22" name="Shape 18"/>
          <p:cNvSpPr/>
          <p:nvPr/>
        </p:nvSpPr>
        <p:spPr>
          <a:xfrm>
            <a:off x="0" y="4864608"/>
            <a:ext cx="9144000" cy="278892"/>
          </a:xfrm>
          <a:prstGeom prst="rect">
            <a:avLst/>
          </a:prstGeom>
          <a:solidFill>
            <a:srgbClr val="E1F5EE"/>
          </a:solidFill>
          <a:ln w="12700">
            <a:solidFill>
              <a:srgbClr val="E1F5EE"/>
            </a:solidFill>
            <a:prstDash val="solid"/>
          </a:ln>
        </p:spPr>
      </p:sp>
      <p:pic>
        <p:nvPicPr>
          <p:cNvPr id="23" name="Image 2" descr="preencoded.png"/>
          <p:cNvPicPr>
            <a:picLocks noChangeAspect="1"/>
          </p:cNvPicPr>
          <p:nvPr/>
        </p:nvPicPr>
        <p:blipFill>
          <a:blip r:embed="rId4"/>
          <a:stretch>
            <a:fillRect/>
          </a:stretch>
        </p:blipFill>
        <p:spPr>
          <a:xfrm>
            <a:off x="109728" y="4873752"/>
            <a:ext cx="1005840" cy="246888"/>
          </a:xfrm>
          <a:prstGeom prst="rect">
            <a:avLst/>
          </a:prstGeom>
        </p:spPr>
      </p:pic>
      <p:sp>
        <p:nvSpPr>
          <p:cNvPr id="24" name="Text 19"/>
          <p:cNvSpPr/>
          <p:nvPr/>
        </p:nvSpPr>
        <p:spPr>
          <a:xfrm>
            <a:off x="6858000" y="4882896"/>
            <a:ext cx="2176272" cy="219456"/>
          </a:xfrm>
          <a:prstGeom prst="rect">
            <a:avLst/>
          </a:prstGeom>
          <a:noFill/>
          <a:ln/>
        </p:spPr>
        <p:txBody>
          <a:bodyPr wrap="square" rtlCol="0" anchor="ctr"/>
          <a:lstStyle/>
          <a:p>
            <a:pPr marL="0" indent="0" algn="r">
              <a:buNone/>
            </a:pPr>
            <a:r>
              <a:rPr lang="en-US" sz="900" dirty="0">
                <a:solidFill>
                  <a:srgbClr val="085041"/>
                </a:solidFill>
                <a:latin typeface="Calibri" pitchFamily="34" charset="0"/>
                <a:ea typeface="Calibri" pitchFamily="34" charset="-122"/>
                <a:cs typeface="Calibri" pitchFamily="34" charset="-120"/>
              </a:rPr>
              <a:t>Pehchaancareers.in</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8503920" y="109728"/>
            <a:ext cx="384048" cy="384048"/>
          </a:xfrm>
          <a:prstGeom prst="rect">
            <a:avLst/>
          </a:prstGeom>
        </p:spPr>
      </p:pic>
      <p:sp>
        <p:nvSpPr>
          <p:cNvPr id="3" name="Text 0"/>
          <p:cNvSpPr/>
          <p:nvPr/>
        </p:nvSpPr>
        <p:spPr>
          <a:xfrm>
            <a:off x="548640" y="228600"/>
            <a:ext cx="8046720" cy="502920"/>
          </a:xfrm>
          <a:prstGeom prst="rect">
            <a:avLst/>
          </a:prstGeom>
          <a:noFill/>
          <a:ln/>
        </p:spPr>
        <p:txBody>
          <a:bodyPr wrap="square" rtlCol="0" anchor="ctr"/>
          <a:lstStyle/>
          <a:p>
            <a:pPr marL="0" indent="0">
              <a:buNone/>
            </a:pPr>
            <a:r>
              <a:rPr lang="en-US" sz="2800" b="1" dirty="0" err="1">
                <a:solidFill>
                  <a:srgbClr val="1A1A2E"/>
                </a:solidFill>
                <a:latin typeface="Calibri" pitchFamily="34" charset="0"/>
                <a:ea typeface="Calibri" pitchFamily="34" charset="-122"/>
                <a:cs typeface="Calibri" pitchFamily="34" charset="-120"/>
              </a:rPr>
              <a:t>Pehchaan</a:t>
            </a:r>
            <a:r>
              <a:rPr lang="en-US" sz="2800" b="1" dirty="0">
                <a:solidFill>
                  <a:srgbClr val="1A1A2E"/>
                </a:solidFill>
                <a:latin typeface="Calibri" pitchFamily="34" charset="0"/>
                <a:ea typeface="Calibri" pitchFamily="34" charset="-122"/>
                <a:cs typeface="Calibri" pitchFamily="34" charset="-120"/>
              </a:rPr>
              <a:t> कोई प्लेसमेंट एजेंसी नहीं है।</a:t>
            </a:r>
            <a:endParaRPr lang="en-US" sz="2800" dirty="0"/>
          </a:p>
        </p:txBody>
      </p:sp>
      <p:sp>
        <p:nvSpPr>
          <p:cNvPr id="4" name="Text 1"/>
          <p:cNvSpPr/>
          <p:nvPr/>
        </p:nvSpPr>
        <p:spPr>
          <a:xfrm>
            <a:off x="548640" y="777240"/>
            <a:ext cx="8046720" cy="384048"/>
          </a:xfrm>
          <a:prstGeom prst="rect">
            <a:avLst/>
          </a:prstGeom>
          <a:noFill/>
          <a:ln/>
        </p:spPr>
        <p:txBody>
          <a:bodyPr wrap="square" rtlCol="0" anchor="ctr"/>
          <a:lstStyle/>
          <a:p>
            <a:pPr marL="0" indent="0">
              <a:buNone/>
            </a:pPr>
            <a:r>
              <a:rPr lang="en-US" sz="1300" i="1" dirty="0">
                <a:solidFill>
                  <a:srgbClr val="64748B"/>
                </a:solidFill>
                <a:latin typeface="Calibri" pitchFamily="34" charset="0"/>
                <a:ea typeface="Calibri" pitchFamily="34" charset="-122"/>
                <a:cs typeface="Calibri" pitchFamily="34" charset="-120"/>
              </a:rPr>
              <a:t>हम आपको किसी नौकरी में धकेलने नहीं आए। हम यहाँ हैं आपको आपका रास्ता ढूँढने में मदद करने के लिए — चाहे वह कैसा भी दिखे।</a:t>
            </a:r>
            <a:endParaRPr lang="en-US" sz="1300" dirty="0"/>
          </a:p>
        </p:txBody>
      </p:sp>
      <p:sp>
        <p:nvSpPr>
          <p:cNvPr id="5" name="Shape 2"/>
          <p:cNvSpPr/>
          <p:nvPr/>
        </p:nvSpPr>
        <p:spPr>
          <a:xfrm>
            <a:off x="457200" y="1353312"/>
            <a:ext cx="2651760" cy="841248"/>
          </a:xfrm>
          <a:prstGeom prst="rect">
            <a:avLst/>
          </a:prstGeom>
          <a:solidFill>
            <a:srgbClr val="F8FAFC"/>
          </a:solidFill>
          <a:ln w="12700">
            <a:solidFill>
              <a:srgbClr val="E2E8F0"/>
            </a:solidFill>
            <a:prstDash val="solid"/>
          </a:ln>
        </p:spPr>
      </p:sp>
      <p:sp>
        <p:nvSpPr>
          <p:cNvPr id="6" name="Shape 3"/>
          <p:cNvSpPr/>
          <p:nvPr/>
        </p:nvSpPr>
        <p:spPr>
          <a:xfrm>
            <a:off x="457200" y="1353312"/>
            <a:ext cx="91440" cy="841248"/>
          </a:xfrm>
          <a:prstGeom prst="rect">
            <a:avLst/>
          </a:prstGeom>
          <a:solidFill>
            <a:srgbClr val="1D9E75"/>
          </a:solidFill>
          <a:ln w="12700">
            <a:solidFill>
              <a:srgbClr val="1D9E75"/>
            </a:solidFill>
            <a:prstDash val="solid"/>
          </a:ln>
        </p:spPr>
      </p:sp>
      <p:sp>
        <p:nvSpPr>
          <p:cNvPr id="7" name="Text 4"/>
          <p:cNvSpPr/>
          <p:nvPr/>
        </p:nvSpPr>
        <p:spPr>
          <a:xfrm>
            <a:off x="640080" y="1399032"/>
            <a:ext cx="2377440" cy="274320"/>
          </a:xfrm>
          <a:prstGeom prst="rect">
            <a:avLst/>
          </a:prstGeom>
          <a:noFill/>
          <a:ln/>
        </p:spPr>
        <p:txBody>
          <a:bodyPr wrap="square" rtlCol="0" anchor="ctr"/>
          <a:lstStyle/>
          <a:p>
            <a:pPr marL="0" indent="0">
              <a:buNone/>
            </a:pPr>
            <a:r>
              <a:rPr lang="en-US" sz="1300" b="1" dirty="0">
                <a:solidFill>
                  <a:srgbClr val="1A1A2E"/>
                </a:solidFill>
                <a:latin typeface="Calibri" pitchFamily="34" charset="0"/>
                <a:ea typeface="Calibri" pitchFamily="34" charset="-122"/>
                <a:cs typeface="Calibri" pitchFamily="34" charset="-120"/>
              </a:rPr>
              <a:t>कॉर्पोरेट करियर</a:t>
            </a:r>
            <a:endParaRPr lang="en-US" sz="1300" dirty="0"/>
          </a:p>
        </p:txBody>
      </p:sp>
      <p:sp>
        <p:nvSpPr>
          <p:cNvPr id="8" name="Text 5"/>
          <p:cNvSpPr/>
          <p:nvPr/>
        </p:nvSpPr>
        <p:spPr>
          <a:xfrm>
            <a:off x="640080" y="1700784"/>
            <a:ext cx="2377440" cy="420624"/>
          </a:xfrm>
          <a:prstGeom prst="rect">
            <a:avLst/>
          </a:prstGeom>
          <a:noFill/>
          <a:ln/>
        </p:spPr>
        <p:txBody>
          <a:bodyPr wrap="square" rtlCol="0" anchor="ctr"/>
          <a:lstStyle/>
          <a:p>
            <a:pPr marL="0" indent="0">
              <a:buNone/>
            </a:pPr>
            <a:r>
              <a:rPr lang="en-US" sz="1100" dirty="0">
                <a:solidFill>
                  <a:srgbClr val="64748B"/>
                </a:solidFill>
                <a:latin typeface="Calibri" pitchFamily="34" charset="0"/>
                <a:ea typeface="Calibri" pitchFamily="34" charset="-122"/>
                <a:cs typeface="Calibri" pitchFamily="34" charset="-120"/>
              </a:rPr>
              <a:t>MNC, स्टार्टअप, BPO, एनालिटिक्स, ऑपरेशंस, HR, फाइनेंस</a:t>
            </a:r>
            <a:endParaRPr lang="en-US" sz="1100" dirty="0"/>
          </a:p>
        </p:txBody>
      </p:sp>
      <p:sp>
        <p:nvSpPr>
          <p:cNvPr id="9" name="Shape 6"/>
          <p:cNvSpPr/>
          <p:nvPr/>
        </p:nvSpPr>
        <p:spPr>
          <a:xfrm>
            <a:off x="3337560" y="1353312"/>
            <a:ext cx="2651760" cy="841248"/>
          </a:xfrm>
          <a:prstGeom prst="rect">
            <a:avLst/>
          </a:prstGeom>
          <a:solidFill>
            <a:srgbClr val="F8FAFC"/>
          </a:solidFill>
          <a:ln w="12700">
            <a:solidFill>
              <a:srgbClr val="E2E8F0"/>
            </a:solidFill>
            <a:prstDash val="solid"/>
          </a:ln>
        </p:spPr>
      </p:sp>
      <p:sp>
        <p:nvSpPr>
          <p:cNvPr id="10" name="Shape 7"/>
          <p:cNvSpPr/>
          <p:nvPr/>
        </p:nvSpPr>
        <p:spPr>
          <a:xfrm>
            <a:off x="3337560" y="1353312"/>
            <a:ext cx="91440" cy="841248"/>
          </a:xfrm>
          <a:prstGeom prst="rect">
            <a:avLst/>
          </a:prstGeom>
          <a:solidFill>
            <a:srgbClr val="7F77DD"/>
          </a:solidFill>
          <a:ln w="12700">
            <a:solidFill>
              <a:srgbClr val="7F77DD"/>
            </a:solidFill>
            <a:prstDash val="solid"/>
          </a:ln>
        </p:spPr>
      </p:sp>
      <p:sp>
        <p:nvSpPr>
          <p:cNvPr id="11" name="Text 8"/>
          <p:cNvSpPr/>
          <p:nvPr/>
        </p:nvSpPr>
        <p:spPr>
          <a:xfrm>
            <a:off x="3520440" y="1399032"/>
            <a:ext cx="2377440" cy="274320"/>
          </a:xfrm>
          <a:prstGeom prst="rect">
            <a:avLst/>
          </a:prstGeom>
          <a:noFill/>
          <a:ln/>
        </p:spPr>
        <p:txBody>
          <a:bodyPr wrap="square" rtlCol="0" anchor="ctr"/>
          <a:lstStyle/>
          <a:p>
            <a:pPr marL="0" indent="0">
              <a:buNone/>
            </a:pPr>
            <a:r>
              <a:rPr lang="en-US" sz="1300" b="1" dirty="0">
                <a:solidFill>
                  <a:srgbClr val="1A1A2E"/>
                </a:solidFill>
                <a:latin typeface="Calibri" pitchFamily="34" charset="0"/>
                <a:ea typeface="Calibri" pitchFamily="34" charset="-122"/>
                <a:cs typeface="Calibri" pitchFamily="34" charset="-120"/>
              </a:rPr>
              <a:t>कला और रचनात्मकता</a:t>
            </a:r>
            <a:endParaRPr lang="en-US" sz="1300" dirty="0"/>
          </a:p>
        </p:txBody>
      </p:sp>
      <p:sp>
        <p:nvSpPr>
          <p:cNvPr id="12" name="Text 9"/>
          <p:cNvSpPr/>
          <p:nvPr/>
        </p:nvSpPr>
        <p:spPr>
          <a:xfrm>
            <a:off x="3520440" y="1700784"/>
            <a:ext cx="2377440" cy="420624"/>
          </a:xfrm>
          <a:prstGeom prst="rect">
            <a:avLst/>
          </a:prstGeom>
          <a:noFill/>
          <a:ln/>
        </p:spPr>
        <p:txBody>
          <a:bodyPr wrap="square" rtlCol="0" anchor="ctr"/>
          <a:lstStyle/>
          <a:p>
            <a:pPr marL="0" indent="0">
              <a:buNone/>
            </a:pPr>
            <a:r>
              <a:rPr lang="en-US" sz="1100" dirty="0">
                <a:solidFill>
                  <a:srgbClr val="64748B"/>
                </a:solidFill>
                <a:latin typeface="Calibri" pitchFamily="34" charset="0"/>
                <a:ea typeface="Calibri" pitchFamily="34" charset="-122"/>
                <a:cs typeface="Calibri" pitchFamily="34" charset="-120"/>
              </a:rPr>
              <a:t>डिज़ाइन, संगीत, फिल्म, कंटेंट — असली करियर रास्ते हैं</a:t>
            </a:r>
            <a:endParaRPr lang="en-US" sz="1100" dirty="0"/>
          </a:p>
        </p:txBody>
      </p:sp>
      <p:sp>
        <p:nvSpPr>
          <p:cNvPr id="13" name="Shape 10"/>
          <p:cNvSpPr/>
          <p:nvPr/>
        </p:nvSpPr>
        <p:spPr>
          <a:xfrm>
            <a:off x="6217920" y="1353312"/>
            <a:ext cx="2651760" cy="841248"/>
          </a:xfrm>
          <a:prstGeom prst="rect">
            <a:avLst/>
          </a:prstGeom>
          <a:solidFill>
            <a:srgbClr val="F8FAFC"/>
          </a:solidFill>
          <a:ln w="12700">
            <a:solidFill>
              <a:srgbClr val="E2E8F0"/>
            </a:solidFill>
            <a:prstDash val="solid"/>
          </a:ln>
        </p:spPr>
      </p:sp>
      <p:sp>
        <p:nvSpPr>
          <p:cNvPr id="14" name="Shape 11"/>
          <p:cNvSpPr/>
          <p:nvPr/>
        </p:nvSpPr>
        <p:spPr>
          <a:xfrm>
            <a:off x="6217920" y="1353312"/>
            <a:ext cx="91440" cy="841248"/>
          </a:xfrm>
          <a:prstGeom prst="rect">
            <a:avLst/>
          </a:prstGeom>
          <a:solidFill>
            <a:srgbClr val="EF9F27"/>
          </a:solidFill>
          <a:ln w="12700">
            <a:solidFill>
              <a:srgbClr val="EF9F27"/>
            </a:solidFill>
            <a:prstDash val="solid"/>
          </a:ln>
        </p:spPr>
      </p:sp>
      <p:sp>
        <p:nvSpPr>
          <p:cNvPr id="15" name="Text 12"/>
          <p:cNvSpPr/>
          <p:nvPr/>
        </p:nvSpPr>
        <p:spPr>
          <a:xfrm>
            <a:off x="6400800" y="1399032"/>
            <a:ext cx="2377440" cy="274320"/>
          </a:xfrm>
          <a:prstGeom prst="rect">
            <a:avLst/>
          </a:prstGeom>
          <a:noFill/>
          <a:ln/>
        </p:spPr>
        <p:txBody>
          <a:bodyPr wrap="square" rtlCol="0" anchor="ctr"/>
          <a:lstStyle/>
          <a:p>
            <a:pPr marL="0" indent="0">
              <a:buNone/>
            </a:pPr>
            <a:r>
              <a:rPr lang="en-US" sz="1300" b="1" dirty="0">
                <a:solidFill>
                  <a:srgbClr val="1A1A2E"/>
                </a:solidFill>
                <a:latin typeface="Calibri" pitchFamily="34" charset="0"/>
                <a:ea typeface="Calibri" pitchFamily="34" charset="-122"/>
                <a:cs typeface="Calibri" pitchFamily="34" charset="-120"/>
              </a:rPr>
              <a:t>मार्केटिंग और सेल्स</a:t>
            </a:r>
            <a:endParaRPr lang="en-US" sz="1300" dirty="0"/>
          </a:p>
        </p:txBody>
      </p:sp>
      <p:sp>
        <p:nvSpPr>
          <p:cNvPr id="16" name="Text 13"/>
          <p:cNvSpPr/>
          <p:nvPr/>
        </p:nvSpPr>
        <p:spPr>
          <a:xfrm>
            <a:off x="6400800" y="1700784"/>
            <a:ext cx="2377440" cy="420624"/>
          </a:xfrm>
          <a:prstGeom prst="rect">
            <a:avLst/>
          </a:prstGeom>
          <a:noFill/>
          <a:ln/>
        </p:spPr>
        <p:txBody>
          <a:bodyPr wrap="square" rtlCol="0" anchor="ctr"/>
          <a:lstStyle/>
          <a:p>
            <a:pPr marL="0" indent="0">
              <a:buNone/>
            </a:pPr>
            <a:r>
              <a:rPr lang="en-US" sz="1100" dirty="0">
                <a:solidFill>
                  <a:srgbClr val="64748B"/>
                </a:solidFill>
                <a:latin typeface="Calibri" pitchFamily="34" charset="0"/>
                <a:ea typeface="Calibri" pitchFamily="34" charset="-122"/>
                <a:cs typeface="Calibri" pitchFamily="34" charset="-120"/>
              </a:rPr>
              <a:t>भारत के सबसे तेज़ी से बढ़ते कौशल-आधारित क्षेत्रों में से एक</a:t>
            </a:r>
            <a:endParaRPr lang="en-US" sz="1100" dirty="0"/>
          </a:p>
        </p:txBody>
      </p:sp>
      <p:sp>
        <p:nvSpPr>
          <p:cNvPr id="17" name="Shape 14"/>
          <p:cNvSpPr/>
          <p:nvPr/>
        </p:nvSpPr>
        <p:spPr>
          <a:xfrm>
            <a:off x="457200" y="2313432"/>
            <a:ext cx="2651760" cy="841248"/>
          </a:xfrm>
          <a:prstGeom prst="rect">
            <a:avLst/>
          </a:prstGeom>
          <a:solidFill>
            <a:srgbClr val="F8FAFC"/>
          </a:solidFill>
          <a:ln w="12700">
            <a:solidFill>
              <a:srgbClr val="E2E8F0"/>
            </a:solidFill>
            <a:prstDash val="solid"/>
          </a:ln>
        </p:spPr>
      </p:sp>
      <p:sp>
        <p:nvSpPr>
          <p:cNvPr id="18" name="Shape 15"/>
          <p:cNvSpPr/>
          <p:nvPr/>
        </p:nvSpPr>
        <p:spPr>
          <a:xfrm>
            <a:off x="457200" y="2313432"/>
            <a:ext cx="91440" cy="841248"/>
          </a:xfrm>
          <a:prstGeom prst="rect">
            <a:avLst/>
          </a:prstGeom>
          <a:solidFill>
            <a:srgbClr val="378ADD"/>
          </a:solidFill>
          <a:ln w="12700">
            <a:solidFill>
              <a:srgbClr val="378ADD"/>
            </a:solidFill>
            <a:prstDash val="solid"/>
          </a:ln>
        </p:spPr>
      </p:sp>
      <p:sp>
        <p:nvSpPr>
          <p:cNvPr id="19" name="Text 16"/>
          <p:cNvSpPr/>
          <p:nvPr/>
        </p:nvSpPr>
        <p:spPr>
          <a:xfrm>
            <a:off x="640080" y="2359152"/>
            <a:ext cx="2377440" cy="274320"/>
          </a:xfrm>
          <a:prstGeom prst="rect">
            <a:avLst/>
          </a:prstGeom>
          <a:noFill/>
          <a:ln/>
        </p:spPr>
        <p:txBody>
          <a:bodyPr wrap="square" rtlCol="0" anchor="ctr"/>
          <a:lstStyle/>
          <a:p>
            <a:pPr marL="0" indent="0">
              <a:buNone/>
            </a:pPr>
            <a:r>
              <a:rPr lang="en-US" sz="1300" b="1" dirty="0">
                <a:solidFill>
                  <a:srgbClr val="1A1A2E"/>
                </a:solidFill>
                <a:latin typeface="Calibri" pitchFamily="34" charset="0"/>
                <a:ea typeface="Calibri" pitchFamily="34" charset="-122"/>
                <a:cs typeface="Calibri" pitchFamily="34" charset="-120"/>
              </a:rPr>
              <a:t>सरकारी नौकरियाँ / राजनीति</a:t>
            </a:r>
            <a:endParaRPr lang="en-US" sz="1300" dirty="0"/>
          </a:p>
        </p:txBody>
      </p:sp>
      <p:sp>
        <p:nvSpPr>
          <p:cNvPr id="20" name="Text 17"/>
          <p:cNvSpPr/>
          <p:nvPr/>
        </p:nvSpPr>
        <p:spPr>
          <a:xfrm>
            <a:off x="640080" y="2660904"/>
            <a:ext cx="2377440" cy="420624"/>
          </a:xfrm>
          <a:prstGeom prst="rect">
            <a:avLst/>
          </a:prstGeom>
          <a:noFill/>
          <a:ln/>
        </p:spPr>
        <p:txBody>
          <a:bodyPr wrap="square" rtlCol="0" anchor="ctr"/>
          <a:lstStyle/>
          <a:p>
            <a:pPr marL="0" indent="0">
              <a:buNone/>
            </a:pPr>
            <a:r>
              <a:rPr lang="en-US" sz="1100" dirty="0">
                <a:solidFill>
                  <a:srgbClr val="64748B"/>
                </a:solidFill>
                <a:latin typeface="Calibri" pitchFamily="34" charset="0"/>
                <a:ea typeface="Calibri" pitchFamily="34" charset="-122"/>
                <a:cs typeface="Calibri" pitchFamily="34" charset="-120"/>
              </a:rPr>
              <a:t>जब यह वाकई आपके लिए सही हो — हम सही तरीके से प्लान करने में मदद करते हैं</a:t>
            </a:r>
            <a:endParaRPr lang="en-US" sz="1100" dirty="0"/>
          </a:p>
        </p:txBody>
      </p:sp>
      <p:sp>
        <p:nvSpPr>
          <p:cNvPr id="21" name="Shape 18"/>
          <p:cNvSpPr/>
          <p:nvPr/>
        </p:nvSpPr>
        <p:spPr>
          <a:xfrm>
            <a:off x="3337560" y="2313432"/>
            <a:ext cx="2651760" cy="841248"/>
          </a:xfrm>
          <a:prstGeom prst="rect">
            <a:avLst/>
          </a:prstGeom>
          <a:solidFill>
            <a:srgbClr val="F8FAFC"/>
          </a:solidFill>
          <a:ln w="12700">
            <a:solidFill>
              <a:srgbClr val="E2E8F0"/>
            </a:solidFill>
            <a:prstDash val="solid"/>
          </a:ln>
        </p:spPr>
      </p:sp>
      <p:sp>
        <p:nvSpPr>
          <p:cNvPr id="22" name="Shape 19"/>
          <p:cNvSpPr/>
          <p:nvPr/>
        </p:nvSpPr>
        <p:spPr>
          <a:xfrm>
            <a:off x="3337560" y="2313432"/>
            <a:ext cx="91440" cy="841248"/>
          </a:xfrm>
          <a:prstGeom prst="rect">
            <a:avLst/>
          </a:prstGeom>
          <a:solidFill>
            <a:srgbClr val="D85A30"/>
          </a:solidFill>
          <a:ln w="12700">
            <a:solidFill>
              <a:srgbClr val="D85A30"/>
            </a:solidFill>
            <a:prstDash val="solid"/>
          </a:ln>
        </p:spPr>
      </p:sp>
      <p:sp>
        <p:nvSpPr>
          <p:cNvPr id="23" name="Text 20"/>
          <p:cNvSpPr/>
          <p:nvPr/>
        </p:nvSpPr>
        <p:spPr>
          <a:xfrm>
            <a:off x="3520440" y="2359152"/>
            <a:ext cx="2377440" cy="274320"/>
          </a:xfrm>
          <a:prstGeom prst="rect">
            <a:avLst/>
          </a:prstGeom>
          <a:noFill/>
          <a:ln/>
        </p:spPr>
        <p:txBody>
          <a:bodyPr wrap="square" rtlCol="0" anchor="ctr"/>
          <a:lstStyle/>
          <a:p>
            <a:pPr marL="0" indent="0">
              <a:buNone/>
            </a:pPr>
            <a:r>
              <a:rPr lang="en-US" sz="1300" b="1" dirty="0">
                <a:solidFill>
                  <a:srgbClr val="1A1A2E"/>
                </a:solidFill>
                <a:latin typeface="Calibri" pitchFamily="34" charset="0"/>
                <a:ea typeface="Calibri" pitchFamily="34" charset="-122"/>
                <a:cs typeface="Calibri" pitchFamily="34" charset="-120"/>
              </a:rPr>
              <a:t>विदेश में उच्च शिक्षा</a:t>
            </a:r>
            <a:endParaRPr lang="en-US" sz="1300" dirty="0"/>
          </a:p>
        </p:txBody>
      </p:sp>
      <p:sp>
        <p:nvSpPr>
          <p:cNvPr id="24" name="Text 21"/>
          <p:cNvSpPr/>
          <p:nvPr/>
        </p:nvSpPr>
        <p:spPr>
          <a:xfrm>
            <a:off x="3520440" y="2660904"/>
            <a:ext cx="2377440" cy="420624"/>
          </a:xfrm>
          <a:prstGeom prst="rect">
            <a:avLst/>
          </a:prstGeom>
          <a:noFill/>
          <a:ln/>
        </p:spPr>
        <p:txBody>
          <a:bodyPr wrap="square" rtlCol="0" anchor="ctr"/>
          <a:lstStyle/>
          <a:p>
            <a:pPr marL="0" indent="0">
              <a:buNone/>
            </a:pPr>
            <a:r>
              <a:rPr lang="en-US" sz="1100" dirty="0">
                <a:solidFill>
                  <a:srgbClr val="64748B"/>
                </a:solidFill>
                <a:latin typeface="Calibri" pitchFamily="34" charset="0"/>
                <a:ea typeface="Calibri" pitchFamily="34" charset="-122"/>
                <a:cs typeface="Calibri" pitchFamily="34" charset="-120"/>
              </a:rPr>
              <a:t>छात्रवृत्ति, विश्वविद्यालय, आवेदन की तैयारी — कदम-दर-कदम</a:t>
            </a:r>
            <a:endParaRPr lang="en-US" sz="1100" dirty="0"/>
          </a:p>
        </p:txBody>
      </p:sp>
      <p:sp>
        <p:nvSpPr>
          <p:cNvPr id="25" name="Shape 22"/>
          <p:cNvSpPr/>
          <p:nvPr/>
        </p:nvSpPr>
        <p:spPr>
          <a:xfrm>
            <a:off x="6217920" y="2313432"/>
            <a:ext cx="2651760" cy="841248"/>
          </a:xfrm>
          <a:prstGeom prst="rect">
            <a:avLst/>
          </a:prstGeom>
          <a:solidFill>
            <a:srgbClr val="F8FAFC"/>
          </a:solidFill>
          <a:ln w="12700">
            <a:solidFill>
              <a:srgbClr val="E2E8F0"/>
            </a:solidFill>
            <a:prstDash val="solid"/>
          </a:ln>
        </p:spPr>
      </p:sp>
      <p:sp>
        <p:nvSpPr>
          <p:cNvPr id="26" name="Shape 23"/>
          <p:cNvSpPr/>
          <p:nvPr/>
        </p:nvSpPr>
        <p:spPr>
          <a:xfrm>
            <a:off x="6217920" y="2313432"/>
            <a:ext cx="91440" cy="841248"/>
          </a:xfrm>
          <a:prstGeom prst="rect">
            <a:avLst/>
          </a:prstGeom>
          <a:solidFill>
            <a:srgbClr val="639922"/>
          </a:solidFill>
          <a:ln w="12700">
            <a:solidFill>
              <a:srgbClr val="639922"/>
            </a:solidFill>
            <a:prstDash val="solid"/>
          </a:ln>
        </p:spPr>
      </p:sp>
      <p:sp>
        <p:nvSpPr>
          <p:cNvPr id="27" name="Text 24"/>
          <p:cNvSpPr/>
          <p:nvPr/>
        </p:nvSpPr>
        <p:spPr>
          <a:xfrm>
            <a:off x="6400800" y="2359152"/>
            <a:ext cx="2377440" cy="274320"/>
          </a:xfrm>
          <a:prstGeom prst="rect">
            <a:avLst/>
          </a:prstGeom>
          <a:noFill/>
          <a:ln/>
        </p:spPr>
        <p:txBody>
          <a:bodyPr wrap="square" rtlCol="0" anchor="ctr"/>
          <a:lstStyle/>
          <a:p>
            <a:pPr marL="0" indent="0">
              <a:buNone/>
            </a:pPr>
            <a:r>
              <a:rPr lang="en-US" sz="1300" b="1" dirty="0">
                <a:solidFill>
                  <a:srgbClr val="1A1A2E"/>
                </a:solidFill>
                <a:latin typeface="Calibri" pitchFamily="34" charset="0"/>
                <a:ea typeface="Calibri" pitchFamily="34" charset="-122"/>
                <a:cs typeface="Calibri" pitchFamily="34" charset="-120"/>
              </a:rPr>
              <a:t>भारत में MBA</a:t>
            </a:r>
            <a:endParaRPr lang="en-US" sz="1300" dirty="0"/>
          </a:p>
        </p:txBody>
      </p:sp>
      <p:sp>
        <p:nvSpPr>
          <p:cNvPr id="28" name="Text 25"/>
          <p:cNvSpPr/>
          <p:nvPr/>
        </p:nvSpPr>
        <p:spPr>
          <a:xfrm>
            <a:off x="6400800" y="2660904"/>
            <a:ext cx="2377440" cy="420624"/>
          </a:xfrm>
          <a:prstGeom prst="rect">
            <a:avLst/>
          </a:prstGeom>
          <a:noFill/>
          <a:ln/>
        </p:spPr>
        <p:txBody>
          <a:bodyPr wrap="square" rtlCol="0" anchor="ctr"/>
          <a:lstStyle/>
          <a:p>
            <a:pPr marL="0" indent="0">
              <a:buNone/>
            </a:pPr>
            <a:r>
              <a:rPr lang="en-US" sz="1100" dirty="0">
                <a:solidFill>
                  <a:srgbClr val="64748B"/>
                </a:solidFill>
                <a:latin typeface="Calibri" pitchFamily="34" charset="0"/>
                <a:ea typeface="Calibri" pitchFamily="34" charset="-122"/>
                <a:cs typeface="Calibri" pitchFamily="34" charset="-120"/>
              </a:rPr>
              <a:t>कौन सा कॉलेज, कौन सी स्ट्रीम, कब जाएँ — असली मार्गदर्शन</a:t>
            </a:r>
            <a:endParaRPr lang="en-US" sz="1100" dirty="0"/>
          </a:p>
        </p:txBody>
      </p:sp>
      <p:sp>
        <p:nvSpPr>
          <p:cNvPr id="29" name="Shape 26"/>
          <p:cNvSpPr/>
          <p:nvPr/>
        </p:nvSpPr>
        <p:spPr>
          <a:xfrm>
            <a:off x="457200" y="4462272"/>
            <a:ext cx="8229600" cy="347472"/>
          </a:xfrm>
          <a:prstGeom prst="rect">
            <a:avLst/>
          </a:prstGeom>
          <a:solidFill>
            <a:srgbClr val="1D9E75"/>
          </a:solidFill>
          <a:ln w="12700">
            <a:solidFill>
              <a:srgbClr val="1D9E75"/>
            </a:solidFill>
            <a:prstDash val="solid"/>
          </a:ln>
        </p:spPr>
      </p:sp>
      <p:sp>
        <p:nvSpPr>
          <p:cNvPr id="30" name="Text 27"/>
          <p:cNvSpPr/>
          <p:nvPr/>
        </p:nvSpPr>
        <p:spPr>
          <a:xfrm>
            <a:off x="640080" y="4480560"/>
            <a:ext cx="7863840" cy="310896"/>
          </a:xfrm>
          <a:prstGeom prst="rect">
            <a:avLst/>
          </a:prstGeom>
          <a:noFill/>
          <a:ln/>
        </p:spPr>
        <p:txBody>
          <a:bodyPr wrap="square" rtlCol="0" anchor="ctr"/>
          <a:lstStyle/>
          <a:p>
            <a:pPr marL="0" indent="0">
              <a:buNone/>
            </a:pPr>
            <a:r>
              <a:rPr lang="en-US" sz="1200" dirty="0">
                <a:solidFill>
                  <a:srgbClr val="FFFFFF"/>
                </a:solidFill>
                <a:latin typeface="Calibri" pitchFamily="34" charset="0"/>
                <a:ea typeface="Calibri" pitchFamily="34" charset="-122"/>
                <a:cs typeface="Calibri" pitchFamily="34" charset="-120"/>
              </a:rPr>
              <a:t>इन सभी क्षेत्रों में हमारे भागीदार और विशेषज्ञ हैं।  </a:t>
            </a:r>
            <a:r>
              <a:rPr lang="en-US" sz="1200" b="1" dirty="0">
                <a:solidFill>
                  <a:srgbClr val="EF9F27"/>
                </a:solidFill>
                <a:latin typeface="Calibri" pitchFamily="34" charset="0"/>
                <a:ea typeface="Calibri" pitchFamily="34" charset="-122"/>
                <a:cs typeface="Calibri" pitchFamily="34" charset="-120"/>
              </a:rPr>
              <a:t>आपका रास्ता। आपकी पसंद। हमारा मार्गदर्शन।</a:t>
            </a:r>
            <a:endParaRPr lang="en-US" sz="1200" dirty="0"/>
          </a:p>
        </p:txBody>
      </p:sp>
      <p:sp>
        <p:nvSpPr>
          <p:cNvPr id="31" name="Shape 28"/>
          <p:cNvSpPr/>
          <p:nvPr/>
        </p:nvSpPr>
        <p:spPr>
          <a:xfrm>
            <a:off x="0" y="4864608"/>
            <a:ext cx="9144000" cy="278892"/>
          </a:xfrm>
          <a:prstGeom prst="rect">
            <a:avLst/>
          </a:prstGeom>
          <a:solidFill>
            <a:srgbClr val="E1F5EE"/>
          </a:solidFill>
          <a:ln w="12700">
            <a:solidFill>
              <a:srgbClr val="E1F5EE"/>
            </a:solidFill>
            <a:prstDash val="solid"/>
          </a:ln>
        </p:spPr>
      </p:sp>
      <p:pic>
        <p:nvPicPr>
          <p:cNvPr id="32" name="Image 1" descr="preencoded.png"/>
          <p:cNvPicPr>
            <a:picLocks noChangeAspect="1"/>
          </p:cNvPicPr>
          <p:nvPr/>
        </p:nvPicPr>
        <p:blipFill>
          <a:blip r:embed="rId4"/>
          <a:stretch>
            <a:fillRect/>
          </a:stretch>
        </p:blipFill>
        <p:spPr>
          <a:xfrm>
            <a:off x="109728" y="4873752"/>
            <a:ext cx="1005840" cy="246888"/>
          </a:xfrm>
          <a:prstGeom prst="rect">
            <a:avLst/>
          </a:prstGeom>
        </p:spPr>
      </p:pic>
      <p:sp>
        <p:nvSpPr>
          <p:cNvPr id="33" name="Text 29"/>
          <p:cNvSpPr/>
          <p:nvPr/>
        </p:nvSpPr>
        <p:spPr>
          <a:xfrm>
            <a:off x="6858000" y="4882896"/>
            <a:ext cx="2176272" cy="219456"/>
          </a:xfrm>
          <a:prstGeom prst="rect">
            <a:avLst/>
          </a:prstGeom>
          <a:noFill/>
          <a:ln/>
        </p:spPr>
        <p:txBody>
          <a:bodyPr wrap="square" rtlCol="0" anchor="ctr"/>
          <a:lstStyle/>
          <a:p>
            <a:pPr marL="0" indent="0" algn="r">
              <a:buNone/>
            </a:pPr>
            <a:r>
              <a:rPr lang="en-US" sz="900" dirty="0">
                <a:solidFill>
                  <a:srgbClr val="085041"/>
                </a:solidFill>
                <a:latin typeface="Calibri" pitchFamily="34" charset="0"/>
                <a:ea typeface="Calibri" pitchFamily="34" charset="-122"/>
                <a:cs typeface="Calibri" pitchFamily="34" charset="-120"/>
              </a:rPr>
              <a:t>Pehchaancareers.in</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A1A2E"/>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7680960" y="182880"/>
            <a:ext cx="1097280" cy="1097280"/>
          </a:xfrm>
          <a:prstGeom prst="rect">
            <a:avLst/>
          </a:prstGeom>
        </p:spPr>
      </p:pic>
      <p:sp>
        <p:nvSpPr>
          <p:cNvPr id="3" name="Shape 0"/>
          <p:cNvSpPr/>
          <p:nvPr/>
        </p:nvSpPr>
        <p:spPr>
          <a:xfrm>
            <a:off x="0" y="0"/>
            <a:ext cx="137160" cy="5143500"/>
          </a:xfrm>
          <a:prstGeom prst="rect">
            <a:avLst/>
          </a:prstGeom>
          <a:solidFill>
            <a:srgbClr val="EF9F27"/>
          </a:solidFill>
          <a:ln w="12700">
            <a:solidFill>
              <a:srgbClr val="EF9F27"/>
            </a:solidFill>
            <a:prstDash val="solid"/>
          </a:ln>
        </p:spPr>
      </p:sp>
      <p:sp>
        <p:nvSpPr>
          <p:cNvPr id="4" name="Text 1"/>
          <p:cNvSpPr/>
          <p:nvPr/>
        </p:nvSpPr>
        <p:spPr>
          <a:xfrm>
            <a:off x="384047" y="228600"/>
            <a:ext cx="7701861" cy="475488"/>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मुझे कठिन रास्ते से समझना पड़ा। आपको नहीं पड़ेगा…</a:t>
            </a:r>
            <a:endParaRPr lang="en-US" sz="2600" dirty="0"/>
          </a:p>
        </p:txBody>
      </p:sp>
      <p:sp>
        <p:nvSpPr>
          <p:cNvPr id="5" name="Text 2"/>
          <p:cNvSpPr/>
          <p:nvPr/>
        </p:nvSpPr>
        <p:spPr>
          <a:xfrm>
            <a:off x="384048" y="713232"/>
            <a:ext cx="7132320" cy="292608"/>
          </a:xfrm>
          <a:prstGeom prst="rect">
            <a:avLst/>
          </a:prstGeom>
          <a:noFill/>
          <a:ln/>
        </p:spPr>
        <p:txBody>
          <a:bodyPr wrap="square" rtlCol="0" anchor="ctr"/>
          <a:lstStyle/>
          <a:p>
            <a:pPr marL="0" indent="0">
              <a:buNone/>
            </a:pPr>
            <a:r>
              <a:rPr lang="en-US" sz="1300" i="1" dirty="0">
                <a:solidFill>
                  <a:srgbClr val="EF9F27"/>
                </a:solidFill>
                <a:latin typeface="Calibri" pitchFamily="34" charset="0"/>
                <a:ea typeface="Calibri" pitchFamily="34" charset="-122"/>
                <a:cs typeface="Calibri" pitchFamily="34" charset="-120"/>
              </a:rPr>
              <a:t>मैं आप जैसा ही हूँ।</a:t>
            </a:r>
            <a:endParaRPr lang="en-US" sz="1300" dirty="0"/>
          </a:p>
        </p:txBody>
      </p:sp>
      <p:sp>
        <p:nvSpPr>
          <p:cNvPr id="6" name="Shape 3"/>
          <p:cNvSpPr/>
          <p:nvPr/>
        </p:nvSpPr>
        <p:spPr>
          <a:xfrm>
            <a:off x="384048" y="1234440"/>
            <a:ext cx="109728" cy="109728"/>
          </a:xfrm>
          <a:prstGeom prst="ellipse">
            <a:avLst/>
          </a:prstGeom>
          <a:solidFill>
            <a:srgbClr val="1D9E75"/>
          </a:solidFill>
          <a:ln w="12700">
            <a:solidFill>
              <a:srgbClr val="1D9E75"/>
            </a:solidFill>
            <a:prstDash val="solid"/>
          </a:ln>
        </p:spPr>
      </p:sp>
      <p:sp>
        <p:nvSpPr>
          <p:cNvPr id="7" name="Text 4"/>
          <p:cNvSpPr/>
          <p:nvPr/>
        </p:nvSpPr>
        <p:spPr>
          <a:xfrm>
            <a:off x="594360" y="1143000"/>
            <a:ext cx="7406640" cy="347472"/>
          </a:xfrm>
          <a:prstGeom prst="rect">
            <a:avLst/>
          </a:prstGeom>
          <a:noFill/>
          <a:ln/>
        </p:spPr>
        <p:txBody>
          <a:bodyPr wrap="square" rtlCol="0" anchor="ctr"/>
          <a:lstStyle/>
          <a:p>
            <a:pPr marL="0" indent="0">
              <a:buNone/>
            </a:pPr>
            <a:r>
              <a:rPr lang="en-US" sz="1200" dirty="0">
                <a:solidFill>
                  <a:srgbClr val="C8D9E8"/>
                </a:solidFill>
                <a:latin typeface="Calibri" pitchFamily="34" charset="0"/>
                <a:ea typeface="Calibri" pitchFamily="34" charset="-122"/>
                <a:cs typeface="Calibri" pitchFamily="34" charset="-120"/>
              </a:rPr>
              <a:t>स्कूल में औसत छात्र। 10वीं पास की। Commerce लेना चाहता था — किसी तरह Maths में आ गया।</a:t>
            </a:r>
            <a:endParaRPr lang="en-US" sz="1200" dirty="0"/>
          </a:p>
        </p:txBody>
      </p:sp>
      <p:sp>
        <p:nvSpPr>
          <p:cNvPr id="8" name="Shape 5"/>
          <p:cNvSpPr/>
          <p:nvPr/>
        </p:nvSpPr>
        <p:spPr>
          <a:xfrm>
            <a:off x="384048" y="1636776"/>
            <a:ext cx="109728" cy="109728"/>
          </a:xfrm>
          <a:prstGeom prst="ellipse">
            <a:avLst/>
          </a:prstGeom>
          <a:solidFill>
            <a:srgbClr val="1D9E75"/>
          </a:solidFill>
          <a:ln w="12700">
            <a:solidFill>
              <a:srgbClr val="1D9E75"/>
            </a:solidFill>
            <a:prstDash val="solid"/>
          </a:ln>
        </p:spPr>
      </p:sp>
      <p:sp>
        <p:nvSpPr>
          <p:cNvPr id="9" name="Text 6"/>
          <p:cNvSpPr/>
          <p:nvPr/>
        </p:nvSpPr>
        <p:spPr>
          <a:xfrm>
            <a:off x="594360" y="1545336"/>
            <a:ext cx="7406640" cy="347472"/>
          </a:xfrm>
          <a:prstGeom prst="rect">
            <a:avLst/>
          </a:prstGeom>
          <a:noFill/>
          <a:ln/>
        </p:spPr>
        <p:txBody>
          <a:bodyPr wrap="square" rtlCol="0" anchor="ctr"/>
          <a:lstStyle/>
          <a:p>
            <a:pPr marL="0" indent="0">
              <a:buNone/>
            </a:pPr>
            <a:r>
              <a:rPr lang="en-US" sz="1200" dirty="0">
                <a:solidFill>
                  <a:srgbClr val="C8D9E8"/>
                </a:solidFill>
                <a:latin typeface="Calibri" pitchFamily="34" charset="0"/>
                <a:ea typeface="Calibri" pitchFamily="34" charset="-122"/>
                <a:cs typeface="Calibri" pitchFamily="34" charset="-120"/>
              </a:rPr>
              <a:t>12वीं पूरी की — और किसी ने नहीं बताया कि आगे क्या करूँ… BSc में दाखिला ले लिया।</a:t>
            </a:r>
            <a:endParaRPr lang="en-US" sz="1200" dirty="0"/>
          </a:p>
        </p:txBody>
      </p:sp>
      <p:sp>
        <p:nvSpPr>
          <p:cNvPr id="10" name="Shape 7"/>
          <p:cNvSpPr/>
          <p:nvPr/>
        </p:nvSpPr>
        <p:spPr>
          <a:xfrm>
            <a:off x="384048" y="2039112"/>
            <a:ext cx="109728" cy="109728"/>
          </a:xfrm>
          <a:prstGeom prst="ellipse">
            <a:avLst/>
          </a:prstGeom>
          <a:solidFill>
            <a:srgbClr val="1D9E75"/>
          </a:solidFill>
          <a:ln w="12700">
            <a:solidFill>
              <a:srgbClr val="1D9E75"/>
            </a:solidFill>
            <a:prstDash val="solid"/>
          </a:ln>
        </p:spPr>
      </p:sp>
      <p:sp>
        <p:nvSpPr>
          <p:cNvPr id="11" name="Text 8"/>
          <p:cNvSpPr/>
          <p:nvPr/>
        </p:nvSpPr>
        <p:spPr>
          <a:xfrm>
            <a:off x="594360" y="1947672"/>
            <a:ext cx="7406640" cy="347472"/>
          </a:xfrm>
          <a:prstGeom prst="rect">
            <a:avLst/>
          </a:prstGeom>
          <a:noFill/>
          <a:ln/>
        </p:spPr>
        <p:txBody>
          <a:bodyPr wrap="square" rtlCol="0" anchor="ctr"/>
          <a:lstStyle/>
          <a:p>
            <a:r>
              <a:rPr lang="en-US" sz="1200" dirty="0">
                <a:solidFill>
                  <a:srgbClr val="C8D9E8"/>
                </a:solidFill>
                <a:latin typeface="Calibri" pitchFamily="34" charset="0"/>
                <a:ea typeface="Calibri" pitchFamily="34" charset="-122"/>
                <a:cs typeface="Calibri" pitchFamily="34" charset="-120"/>
              </a:rPr>
              <a:t>4 महीने बाद छोड़ दिया। BE में दाखिला लिया। इंजीनियरिंग पूरी की। कैंपस प्लेसमेंट में नहीं हो पाया।</a:t>
            </a:r>
            <a:endParaRPr lang="en-US" sz="1200" dirty="0"/>
          </a:p>
        </p:txBody>
      </p:sp>
      <p:sp>
        <p:nvSpPr>
          <p:cNvPr id="12" name="Shape 9"/>
          <p:cNvSpPr/>
          <p:nvPr/>
        </p:nvSpPr>
        <p:spPr>
          <a:xfrm>
            <a:off x="384048" y="2441448"/>
            <a:ext cx="109728" cy="109728"/>
          </a:xfrm>
          <a:prstGeom prst="ellipse">
            <a:avLst/>
          </a:prstGeom>
          <a:solidFill>
            <a:srgbClr val="1D9E75"/>
          </a:solidFill>
          <a:ln w="12700">
            <a:solidFill>
              <a:srgbClr val="1D9E75"/>
            </a:solidFill>
            <a:prstDash val="solid"/>
          </a:ln>
        </p:spPr>
      </p:sp>
      <p:sp>
        <p:nvSpPr>
          <p:cNvPr id="13" name="Text 10"/>
          <p:cNvSpPr/>
          <p:nvPr/>
        </p:nvSpPr>
        <p:spPr>
          <a:xfrm>
            <a:off x="594360" y="2350008"/>
            <a:ext cx="7406640" cy="347472"/>
          </a:xfrm>
          <a:prstGeom prst="rect">
            <a:avLst/>
          </a:prstGeom>
          <a:noFill/>
          <a:ln/>
        </p:spPr>
        <p:txBody>
          <a:bodyPr wrap="square" rtlCol="0" anchor="ctr"/>
          <a:lstStyle/>
          <a:p>
            <a:pPr marL="0" indent="0">
              <a:buNone/>
            </a:pPr>
            <a:r>
              <a:rPr lang="en-US" sz="1200" dirty="0">
                <a:solidFill>
                  <a:srgbClr val="C8D9E8"/>
                </a:solidFill>
                <a:latin typeface="Calibri" pitchFamily="34" charset="0"/>
                <a:ea typeface="Calibri" pitchFamily="34" charset="-122"/>
                <a:cs typeface="Calibri" pitchFamily="34" charset="-120"/>
              </a:rPr>
              <a:t>दिल्ली गया क्योंकि दोस्त जा रहे थे। 30+ इंटरव्यू दिए… HCL BPO से शुरुआत हुई।</a:t>
            </a:r>
            <a:endParaRPr lang="en-US" sz="1200" dirty="0"/>
          </a:p>
        </p:txBody>
      </p:sp>
      <p:sp>
        <p:nvSpPr>
          <p:cNvPr id="14" name="Shape 11"/>
          <p:cNvSpPr/>
          <p:nvPr/>
        </p:nvSpPr>
        <p:spPr>
          <a:xfrm>
            <a:off x="384048" y="2843784"/>
            <a:ext cx="109728" cy="109728"/>
          </a:xfrm>
          <a:prstGeom prst="ellipse">
            <a:avLst/>
          </a:prstGeom>
          <a:solidFill>
            <a:srgbClr val="1D9E75"/>
          </a:solidFill>
          <a:ln w="12700">
            <a:solidFill>
              <a:srgbClr val="1D9E75"/>
            </a:solidFill>
            <a:prstDash val="solid"/>
          </a:ln>
        </p:spPr>
      </p:sp>
      <p:sp>
        <p:nvSpPr>
          <p:cNvPr id="15" name="Text 12"/>
          <p:cNvSpPr/>
          <p:nvPr/>
        </p:nvSpPr>
        <p:spPr>
          <a:xfrm>
            <a:off x="594360" y="2752344"/>
            <a:ext cx="7406640" cy="347472"/>
          </a:xfrm>
          <a:prstGeom prst="rect">
            <a:avLst/>
          </a:prstGeom>
          <a:noFill/>
          <a:ln/>
        </p:spPr>
        <p:txBody>
          <a:bodyPr wrap="square" rtlCol="0" anchor="ctr"/>
          <a:lstStyle/>
          <a:p>
            <a:pPr marL="0" indent="0">
              <a:buNone/>
            </a:pPr>
            <a:r>
              <a:rPr lang="en-US" sz="1200" dirty="0">
                <a:solidFill>
                  <a:srgbClr val="C8D9E8"/>
                </a:solidFill>
                <a:latin typeface="Calibri" pitchFamily="34" charset="0"/>
                <a:ea typeface="Calibri" pitchFamily="34" charset="-122"/>
                <a:cs typeface="Calibri" pitchFamily="34" charset="-120"/>
              </a:rPr>
              <a:t>कोई प्लान नहीं। कोई रोडमैप नहीं। बस निकालते रहे — एक-एक कदम, हर मुश्किल से गुज़रते हुए।</a:t>
            </a:r>
            <a:endParaRPr lang="en-US" sz="1200" dirty="0"/>
          </a:p>
        </p:txBody>
      </p:sp>
      <p:sp>
        <p:nvSpPr>
          <p:cNvPr id="16" name="Shape 13"/>
          <p:cNvSpPr/>
          <p:nvPr/>
        </p:nvSpPr>
        <p:spPr>
          <a:xfrm>
            <a:off x="384048" y="3246120"/>
            <a:ext cx="109728" cy="109728"/>
          </a:xfrm>
          <a:prstGeom prst="ellipse">
            <a:avLst/>
          </a:prstGeom>
          <a:solidFill>
            <a:srgbClr val="EF9F27"/>
          </a:solidFill>
          <a:ln w="12700">
            <a:solidFill>
              <a:srgbClr val="EF9F27"/>
            </a:solidFill>
            <a:prstDash val="solid"/>
          </a:ln>
        </p:spPr>
      </p:sp>
      <p:sp>
        <p:nvSpPr>
          <p:cNvPr id="17" name="Text 14"/>
          <p:cNvSpPr/>
          <p:nvPr/>
        </p:nvSpPr>
        <p:spPr>
          <a:xfrm>
            <a:off x="594359" y="3154680"/>
            <a:ext cx="8882743" cy="347472"/>
          </a:xfrm>
          <a:prstGeom prst="rect">
            <a:avLst/>
          </a:prstGeom>
          <a:noFill/>
          <a:ln/>
        </p:spPr>
        <p:txBody>
          <a:bodyPr wrap="square" rtlCol="0" anchor="ctr"/>
          <a:lstStyle/>
          <a:p>
            <a:pPr marL="0" indent="0">
              <a:buNone/>
            </a:pPr>
            <a:r>
              <a:rPr lang="en-US" sz="1200" b="1" dirty="0">
                <a:solidFill>
                  <a:srgbClr val="EF9F27"/>
                </a:solidFill>
                <a:latin typeface="Calibri" pitchFamily="34" charset="0"/>
                <a:ea typeface="Calibri" pitchFamily="34" charset="-122"/>
                <a:cs typeface="Calibri" pitchFamily="34" charset="-120"/>
              </a:rPr>
              <a:t>आज, 15 साल बाद… मुझे लगता है, मैं अच्छा कर रहा हूँ… और मैं सोचता रहता हूँ — </a:t>
            </a:r>
            <a:r>
              <a:rPr lang="en-US" sz="1200" b="1" dirty="0">
                <a:solidFill>
                  <a:schemeClr val="bg1"/>
                </a:solidFill>
                <a:latin typeface="Calibri" pitchFamily="34" charset="0"/>
                <a:ea typeface="Calibri" pitchFamily="34" charset="-122"/>
                <a:cs typeface="Calibri" pitchFamily="34" charset="-120"/>
              </a:rPr>
              <a:t>क्या होता अगर किसी ने पहले रास्ता दिखाया होता?</a:t>
            </a:r>
            <a:endParaRPr lang="en-US" sz="1200" dirty="0">
              <a:solidFill>
                <a:schemeClr val="bg1"/>
              </a:solidFill>
            </a:endParaRPr>
          </a:p>
        </p:txBody>
      </p:sp>
      <p:sp>
        <p:nvSpPr>
          <p:cNvPr id="18" name="Shape 15"/>
          <p:cNvSpPr/>
          <p:nvPr/>
        </p:nvSpPr>
        <p:spPr>
          <a:xfrm>
            <a:off x="384048" y="3639312"/>
            <a:ext cx="5943600" cy="27432"/>
          </a:xfrm>
          <a:prstGeom prst="rect">
            <a:avLst/>
          </a:prstGeom>
          <a:solidFill>
            <a:srgbClr val="1D9E75"/>
          </a:solidFill>
          <a:ln w="12700">
            <a:solidFill>
              <a:srgbClr val="1D9E75"/>
            </a:solidFill>
            <a:prstDash val="solid"/>
          </a:ln>
        </p:spPr>
      </p:sp>
      <p:sp>
        <p:nvSpPr>
          <p:cNvPr id="19" name="Text 16"/>
          <p:cNvSpPr/>
          <p:nvPr/>
        </p:nvSpPr>
        <p:spPr>
          <a:xfrm>
            <a:off x="384048" y="3749040"/>
            <a:ext cx="8229600" cy="384048"/>
          </a:xfrm>
          <a:prstGeom prst="rect">
            <a:avLst/>
          </a:prstGeom>
          <a:noFill/>
          <a:ln/>
        </p:spPr>
        <p:txBody>
          <a:bodyPr wrap="square" rtlCol="0" anchor="ctr"/>
          <a:lstStyle/>
          <a:p>
            <a:pPr marL="0" indent="0">
              <a:buNone/>
            </a:pPr>
            <a:r>
              <a:rPr lang="en-US" sz="1800" b="1" dirty="0">
                <a:solidFill>
                  <a:srgbClr val="1D9E75"/>
                </a:solidFill>
                <a:latin typeface="Calibri" pitchFamily="34" charset="0"/>
                <a:ea typeface="Calibri" pitchFamily="34" charset="-122"/>
                <a:cs typeface="Calibri" pitchFamily="34" charset="-120"/>
              </a:rPr>
              <a:t>इसीलिए </a:t>
            </a:r>
            <a:r>
              <a:rPr lang="en-US" sz="1800" b="1" dirty="0" err="1">
                <a:solidFill>
                  <a:srgbClr val="1D9E75"/>
                </a:solidFill>
                <a:latin typeface="Calibri" pitchFamily="34" charset="0"/>
                <a:ea typeface="Calibri" pitchFamily="34" charset="-122"/>
                <a:cs typeface="Calibri" pitchFamily="34" charset="-120"/>
              </a:rPr>
              <a:t>Pehchaan</a:t>
            </a:r>
            <a:r>
              <a:rPr lang="en-US" sz="1800" b="1" dirty="0">
                <a:solidFill>
                  <a:srgbClr val="1D9E75"/>
                </a:solidFill>
                <a:latin typeface="Calibri" pitchFamily="34" charset="0"/>
                <a:ea typeface="Calibri" pitchFamily="34" charset="-122"/>
                <a:cs typeface="Calibri" pitchFamily="34" charset="-120"/>
              </a:rPr>
              <a:t> है।</a:t>
            </a:r>
            <a:endParaRPr lang="en-US" sz="1800" dirty="0"/>
          </a:p>
        </p:txBody>
      </p:sp>
      <p:sp>
        <p:nvSpPr>
          <p:cNvPr id="20" name="Text 17"/>
          <p:cNvSpPr/>
          <p:nvPr/>
        </p:nvSpPr>
        <p:spPr>
          <a:xfrm>
            <a:off x="384048" y="4160520"/>
            <a:ext cx="8229600" cy="347472"/>
          </a:xfrm>
          <a:prstGeom prst="rect">
            <a:avLst/>
          </a:prstGeom>
          <a:noFill/>
          <a:ln/>
        </p:spPr>
        <p:txBody>
          <a:bodyPr wrap="square" rtlCol="0" anchor="ctr"/>
          <a:lstStyle/>
          <a:p>
            <a:pPr marL="0" indent="0">
              <a:buNone/>
            </a:pPr>
            <a:r>
              <a:rPr lang="en-US" sz="1400" i="1" dirty="0">
                <a:solidFill>
                  <a:srgbClr val="EF9F27"/>
                </a:solidFill>
                <a:latin typeface="Calibri" pitchFamily="34" charset="0"/>
                <a:ea typeface="Calibri" pitchFamily="34" charset="-122"/>
                <a:cs typeface="Calibri" pitchFamily="34" charset="-120"/>
              </a:rPr>
              <a:t>तो, आपको यह सब अकेले नहीं सुलझाना है।</a:t>
            </a:r>
            <a:endParaRPr lang="en-US" sz="1400" dirty="0"/>
          </a:p>
        </p:txBody>
      </p:sp>
      <p:sp>
        <p:nvSpPr>
          <p:cNvPr id="21" name="Shape 18"/>
          <p:cNvSpPr/>
          <p:nvPr/>
        </p:nvSpPr>
        <p:spPr>
          <a:xfrm>
            <a:off x="0" y="4864608"/>
            <a:ext cx="9144000" cy="278892"/>
          </a:xfrm>
          <a:prstGeom prst="rect">
            <a:avLst/>
          </a:prstGeom>
          <a:solidFill>
            <a:srgbClr val="0F1524"/>
          </a:solidFill>
          <a:ln w="12700">
            <a:solidFill>
              <a:srgbClr val="0F1524"/>
            </a:solidFill>
            <a:prstDash val="solid"/>
          </a:ln>
        </p:spPr>
      </p:sp>
      <p:pic>
        <p:nvPicPr>
          <p:cNvPr id="22" name="Image 1" descr="preencoded.png"/>
          <p:cNvPicPr>
            <a:picLocks noChangeAspect="1"/>
          </p:cNvPicPr>
          <p:nvPr/>
        </p:nvPicPr>
        <p:blipFill>
          <a:blip r:embed="rId4"/>
          <a:stretch>
            <a:fillRect/>
          </a:stretch>
        </p:blipFill>
        <p:spPr>
          <a:xfrm>
            <a:off x="109728" y="4873752"/>
            <a:ext cx="1005840" cy="246888"/>
          </a:xfrm>
          <a:prstGeom prst="rect">
            <a:avLst/>
          </a:prstGeom>
        </p:spPr>
      </p:pic>
      <p:sp>
        <p:nvSpPr>
          <p:cNvPr id="23" name="Text 19"/>
          <p:cNvSpPr/>
          <p:nvPr/>
        </p:nvSpPr>
        <p:spPr>
          <a:xfrm>
            <a:off x="6858000" y="4882896"/>
            <a:ext cx="2176272" cy="219456"/>
          </a:xfrm>
          <a:prstGeom prst="rect">
            <a:avLst/>
          </a:prstGeom>
          <a:noFill/>
          <a:ln/>
        </p:spPr>
        <p:txBody>
          <a:bodyPr wrap="square" rtlCol="0" anchor="ctr"/>
          <a:lstStyle/>
          <a:p>
            <a:pPr marL="0" indent="0" algn="r">
              <a:buNone/>
            </a:pPr>
            <a:r>
              <a:rPr lang="en-US" sz="900" dirty="0">
                <a:solidFill>
                  <a:srgbClr val="5DCAA5"/>
                </a:solidFill>
                <a:latin typeface="Calibri" pitchFamily="34" charset="0"/>
                <a:ea typeface="Calibri" pitchFamily="34" charset="-122"/>
                <a:cs typeface="Calibri" pitchFamily="34" charset="-120"/>
              </a:rPr>
              <a:t>Pehchaancareers.in</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8503920" y="109728"/>
            <a:ext cx="384048" cy="384048"/>
          </a:xfrm>
          <a:prstGeom prst="rect">
            <a:avLst/>
          </a:prstGeom>
        </p:spPr>
      </p:pic>
      <p:sp>
        <p:nvSpPr>
          <p:cNvPr id="3" name="Text 0"/>
          <p:cNvSpPr/>
          <p:nvPr/>
        </p:nvSpPr>
        <p:spPr>
          <a:xfrm>
            <a:off x="548640" y="228600"/>
            <a:ext cx="8046720" cy="502920"/>
          </a:xfrm>
          <a:prstGeom prst="rect">
            <a:avLst/>
          </a:prstGeom>
          <a:noFill/>
          <a:ln/>
        </p:spPr>
        <p:txBody>
          <a:bodyPr wrap="square" rtlCol="0" anchor="ctr"/>
          <a:lstStyle/>
          <a:p>
            <a:pPr marL="0" indent="0">
              <a:buNone/>
            </a:pPr>
            <a:r>
              <a:rPr lang="en-US" sz="2800" b="1" dirty="0">
                <a:solidFill>
                  <a:srgbClr val="1A1A2E"/>
                </a:solidFill>
                <a:latin typeface="Calibri" pitchFamily="34" charset="0"/>
                <a:ea typeface="Calibri" pitchFamily="34" charset="-122"/>
                <a:cs typeface="Calibri" pitchFamily="34" charset="-120"/>
              </a:rPr>
              <a:t>आपका अगला कदम</a:t>
            </a:r>
            <a:endParaRPr lang="en-US" sz="2800" dirty="0"/>
          </a:p>
        </p:txBody>
      </p:sp>
      <p:sp>
        <p:nvSpPr>
          <p:cNvPr id="4" name="Text 1"/>
          <p:cNvSpPr/>
          <p:nvPr/>
        </p:nvSpPr>
        <p:spPr>
          <a:xfrm>
            <a:off x="548640" y="804672"/>
            <a:ext cx="8046720" cy="347472"/>
          </a:xfrm>
          <a:prstGeom prst="rect">
            <a:avLst/>
          </a:prstGeom>
          <a:noFill/>
          <a:ln/>
        </p:spPr>
        <p:txBody>
          <a:bodyPr wrap="square" rtlCol="0" anchor="ctr"/>
          <a:lstStyle/>
          <a:p>
            <a:pPr marL="0" indent="0">
              <a:buNone/>
            </a:pPr>
            <a:r>
              <a:rPr lang="en-US" sz="1400" dirty="0">
                <a:solidFill>
                  <a:srgbClr val="64748B"/>
                </a:solidFill>
                <a:latin typeface="Calibri" pitchFamily="34" charset="0"/>
                <a:ea typeface="Calibri" pitchFamily="34" charset="-122"/>
                <a:cs typeface="Calibri" pitchFamily="34" charset="-120"/>
              </a:rPr>
              <a:t>तीन काम जो आप आज कर सकते हैं:</a:t>
            </a:r>
            <a:endParaRPr lang="en-US" sz="1400" dirty="0"/>
          </a:p>
        </p:txBody>
      </p:sp>
      <p:sp>
        <p:nvSpPr>
          <p:cNvPr id="5" name="Shape 2"/>
          <p:cNvSpPr/>
          <p:nvPr/>
        </p:nvSpPr>
        <p:spPr>
          <a:xfrm>
            <a:off x="457200" y="1325880"/>
            <a:ext cx="475488" cy="621792"/>
          </a:xfrm>
          <a:prstGeom prst="rect">
            <a:avLst/>
          </a:prstGeom>
          <a:solidFill>
            <a:srgbClr val="1D9E75"/>
          </a:solidFill>
          <a:ln w="12700">
            <a:solidFill>
              <a:srgbClr val="1D9E75"/>
            </a:solidFill>
            <a:prstDash val="solid"/>
          </a:ln>
        </p:spPr>
      </p:sp>
      <p:sp>
        <p:nvSpPr>
          <p:cNvPr id="6" name="Text 3"/>
          <p:cNvSpPr/>
          <p:nvPr/>
        </p:nvSpPr>
        <p:spPr>
          <a:xfrm>
            <a:off x="457200" y="1325880"/>
            <a:ext cx="475488" cy="621792"/>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7" name="Shape 4"/>
          <p:cNvSpPr/>
          <p:nvPr/>
        </p:nvSpPr>
        <p:spPr>
          <a:xfrm>
            <a:off x="1024128" y="1325880"/>
            <a:ext cx="7662672" cy="621792"/>
          </a:xfrm>
          <a:prstGeom prst="rect">
            <a:avLst/>
          </a:prstGeom>
          <a:solidFill>
            <a:srgbClr val="F8FAFC"/>
          </a:solidFill>
          <a:ln w="12700">
            <a:solidFill>
              <a:srgbClr val="E2E8F0"/>
            </a:solidFill>
            <a:prstDash val="solid"/>
          </a:ln>
        </p:spPr>
      </p:sp>
      <p:sp>
        <p:nvSpPr>
          <p:cNvPr id="8" name="Text 5"/>
          <p:cNvSpPr/>
          <p:nvPr/>
        </p:nvSpPr>
        <p:spPr>
          <a:xfrm>
            <a:off x="1188720" y="1371600"/>
            <a:ext cx="7223760" cy="256032"/>
          </a:xfrm>
          <a:prstGeom prst="rect">
            <a:avLst/>
          </a:prstGeom>
          <a:noFill/>
          <a:ln/>
        </p:spPr>
        <p:txBody>
          <a:bodyPr wrap="square" rtlCol="0" anchor="ctr"/>
          <a:lstStyle/>
          <a:p>
            <a:pPr marL="0" indent="0">
              <a:buNone/>
            </a:pPr>
            <a:r>
              <a:rPr lang="en-US" sz="1400" b="1" dirty="0">
                <a:solidFill>
                  <a:srgbClr val="1A1A2E"/>
                </a:solidFill>
                <a:latin typeface="Calibri" pitchFamily="34" charset="0"/>
                <a:ea typeface="Calibri" pitchFamily="34" charset="-122"/>
                <a:cs typeface="Calibri" pitchFamily="34" charset="-120"/>
              </a:rPr>
              <a:t>WhatsApp पर हमसे बात करें</a:t>
            </a:r>
            <a:endParaRPr lang="en-US" sz="1400" dirty="0"/>
          </a:p>
        </p:txBody>
      </p:sp>
      <p:sp>
        <p:nvSpPr>
          <p:cNvPr id="9" name="Text 6"/>
          <p:cNvSpPr/>
          <p:nvPr/>
        </p:nvSpPr>
        <p:spPr>
          <a:xfrm>
            <a:off x="1188720" y="1645920"/>
            <a:ext cx="7223760" cy="256032"/>
          </a:xfrm>
          <a:prstGeom prst="rect">
            <a:avLst/>
          </a:prstGeom>
          <a:noFill/>
          <a:ln/>
        </p:spPr>
        <p:txBody>
          <a:bodyPr wrap="square" rtlCol="0" anchor="ctr"/>
          <a:lstStyle/>
          <a:p>
            <a:pPr marL="0" indent="0">
              <a:buNone/>
            </a:pPr>
            <a:r>
              <a:rPr lang="en-US" sz="1200" dirty="0">
                <a:solidFill>
                  <a:srgbClr val="64748B"/>
                </a:solidFill>
                <a:latin typeface="Calibri" pitchFamily="34" charset="0"/>
                <a:ea typeface="Calibri" pitchFamily="34" charset="-122"/>
                <a:cs typeface="Calibri" pitchFamily="34" charset="-120"/>
              </a:rPr>
              <a:t>हमें अपना सवाल भेजें — कोई भी सवाल। हम ईमानदारी से जवाब देते हैं।</a:t>
            </a:r>
            <a:endParaRPr lang="en-US" sz="1200" dirty="0"/>
          </a:p>
        </p:txBody>
      </p:sp>
      <p:sp>
        <p:nvSpPr>
          <p:cNvPr id="10" name="Shape 7"/>
          <p:cNvSpPr/>
          <p:nvPr/>
        </p:nvSpPr>
        <p:spPr>
          <a:xfrm>
            <a:off x="457200" y="2112264"/>
            <a:ext cx="475488" cy="621792"/>
          </a:xfrm>
          <a:prstGeom prst="rect">
            <a:avLst/>
          </a:prstGeom>
          <a:solidFill>
            <a:srgbClr val="EF9F27"/>
          </a:solidFill>
          <a:ln w="12700">
            <a:solidFill>
              <a:srgbClr val="EF9F27"/>
            </a:solidFill>
            <a:prstDash val="solid"/>
          </a:ln>
        </p:spPr>
      </p:sp>
      <p:sp>
        <p:nvSpPr>
          <p:cNvPr id="11" name="Text 8"/>
          <p:cNvSpPr/>
          <p:nvPr/>
        </p:nvSpPr>
        <p:spPr>
          <a:xfrm>
            <a:off x="457200" y="2112264"/>
            <a:ext cx="475488" cy="621792"/>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sp>
        <p:nvSpPr>
          <p:cNvPr id="12" name="Shape 9"/>
          <p:cNvSpPr/>
          <p:nvPr/>
        </p:nvSpPr>
        <p:spPr>
          <a:xfrm>
            <a:off x="1024128" y="2112264"/>
            <a:ext cx="7662672" cy="621792"/>
          </a:xfrm>
          <a:prstGeom prst="rect">
            <a:avLst/>
          </a:prstGeom>
          <a:solidFill>
            <a:srgbClr val="F8FAFC"/>
          </a:solidFill>
          <a:ln w="12700">
            <a:solidFill>
              <a:srgbClr val="E2E8F0"/>
            </a:solidFill>
            <a:prstDash val="solid"/>
          </a:ln>
        </p:spPr>
      </p:sp>
      <p:sp>
        <p:nvSpPr>
          <p:cNvPr id="13" name="Text 10"/>
          <p:cNvSpPr/>
          <p:nvPr/>
        </p:nvSpPr>
        <p:spPr>
          <a:xfrm>
            <a:off x="1188720" y="2157984"/>
            <a:ext cx="7223760" cy="256032"/>
          </a:xfrm>
          <a:prstGeom prst="rect">
            <a:avLst/>
          </a:prstGeom>
          <a:noFill/>
          <a:ln/>
        </p:spPr>
        <p:txBody>
          <a:bodyPr wrap="square" rtlCol="0" anchor="ctr"/>
          <a:lstStyle/>
          <a:p>
            <a:pPr marL="0" indent="0">
              <a:buNone/>
            </a:pPr>
            <a:r>
              <a:rPr lang="en-US" sz="1400" b="1" dirty="0">
                <a:solidFill>
                  <a:srgbClr val="1A1A2E"/>
                </a:solidFill>
                <a:latin typeface="Calibri" pitchFamily="34" charset="0"/>
                <a:ea typeface="Calibri" pitchFamily="34" charset="-122"/>
                <a:cs typeface="Calibri" pitchFamily="34" charset="-120"/>
              </a:rPr>
              <a:t>यह एक दोस्त के साथ शेयर करें</a:t>
            </a:r>
            <a:endParaRPr lang="en-US" sz="1400" dirty="0"/>
          </a:p>
        </p:txBody>
      </p:sp>
      <p:sp>
        <p:nvSpPr>
          <p:cNvPr id="14" name="Text 11"/>
          <p:cNvSpPr/>
          <p:nvPr/>
        </p:nvSpPr>
        <p:spPr>
          <a:xfrm>
            <a:off x="1188720" y="2432304"/>
            <a:ext cx="7223760" cy="256032"/>
          </a:xfrm>
          <a:prstGeom prst="rect">
            <a:avLst/>
          </a:prstGeom>
          <a:noFill/>
          <a:ln/>
        </p:spPr>
        <p:txBody>
          <a:bodyPr wrap="square" rtlCol="0" anchor="ctr"/>
          <a:lstStyle/>
          <a:p>
            <a:pPr marL="0" indent="0">
              <a:buNone/>
            </a:pPr>
            <a:r>
              <a:rPr lang="en-US" sz="1200" dirty="0">
                <a:solidFill>
                  <a:srgbClr val="64748B"/>
                </a:solidFill>
                <a:latin typeface="Calibri" pitchFamily="34" charset="0"/>
                <a:ea typeface="Calibri" pitchFamily="34" charset="-122"/>
                <a:cs typeface="Calibri" pitchFamily="34" charset="-120"/>
              </a:rPr>
              <a:t>आपके किसी जानने वाले को यह सुनना ज़रूरी है। उन्हें Pehchaancareers.in भेजें।</a:t>
            </a:r>
            <a:endParaRPr lang="en-US" sz="1200" dirty="0"/>
          </a:p>
        </p:txBody>
      </p:sp>
      <p:sp>
        <p:nvSpPr>
          <p:cNvPr id="15" name="Shape 12"/>
          <p:cNvSpPr/>
          <p:nvPr/>
        </p:nvSpPr>
        <p:spPr>
          <a:xfrm>
            <a:off x="457200" y="2898648"/>
            <a:ext cx="475488" cy="621792"/>
          </a:xfrm>
          <a:prstGeom prst="rect">
            <a:avLst/>
          </a:prstGeom>
          <a:solidFill>
            <a:srgbClr val="533AB7"/>
          </a:solidFill>
          <a:ln w="12700">
            <a:solidFill>
              <a:srgbClr val="533AB7"/>
            </a:solidFill>
            <a:prstDash val="solid"/>
          </a:ln>
        </p:spPr>
      </p:sp>
      <p:sp>
        <p:nvSpPr>
          <p:cNvPr id="16" name="Text 13"/>
          <p:cNvSpPr/>
          <p:nvPr/>
        </p:nvSpPr>
        <p:spPr>
          <a:xfrm>
            <a:off x="457200" y="2898648"/>
            <a:ext cx="475488" cy="621792"/>
          </a:xfrm>
          <a:prstGeom prst="rect">
            <a:avLst/>
          </a:prstGeom>
          <a:noFill/>
          <a:ln/>
        </p:spPr>
        <p:txBody>
          <a:bodyPr wrap="square"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3</a:t>
            </a:r>
            <a:endParaRPr lang="en-US" sz="2200" dirty="0"/>
          </a:p>
        </p:txBody>
      </p:sp>
      <p:sp>
        <p:nvSpPr>
          <p:cNvPr id="17" name="Shape 14"/>
          <p:cNvSpPr/>
          <p:nvPr/>
        </p:nvSpPr>
        <p:spPr>
          <a:xfrm>
            <a:off x="1024128" y="2898648"/>
            <a:ext cx="7662672" cy="621792"/>
          </a:xfrm>
          <a:prstGeom prst="rect">
            <a:avLst/>
          </a:prstGeom>
          <a:solidFill>
            <a:srgbClr val="F8FAFC"/>
          </a:solidFill>
          <a:ln w="12700">
            <a:solidFill>
              <a:srgbClr val="E2E8F0"/>
            </a:solidFill>
            <a:prstDash val="solid"/>
          </a:ln>
        </p:spPr>
      </p:sp>
      <p:sp>
        <p:nvSpPr>
          <p:cNvPr id="18" name="Text 15"/>
          <p:cNvSpPr/>
          <p:nvPr/>
        </p:nvSpPr>
        <p:spPr>
          <a:xfrm>
            <a:off x="1188720" y="2944368"/>
            <a:ext cx="7223760" cy="256032"/>
          </a:xfrm>
          <a:prstGeom prst="rect">
            <a:avLst/>
          </a:prstGeom>
          <a:noFill/>
          <a:ln/>
        </p:spPr>
        <p:txBody>
          <a:bodyPr wrap="square" rtlCol="0" anchor="ctr"/>
          <a:lstStyle/>
          <a:p>
            <a:pPr marL="0" indent="0">
              <a:buNone/>
            </a:pPr>
            <a:r>
              <a:rPr lang="en-US" sz="1400" b="1" dirty="0">
                <a:solidFill>
                  <a:srgbClr val="1A1A2E"/>
                </a:solidFill>
                <a:latin typeface="Calibri" pitchFamily="34" charset="0"/>
                <a:ea typeface="Calibri" pitchFamily="34" charset="-122"/>
                <a:cs typeface="Calibri" pitchFamily="34" charset="-120"/>
              </a:rPr>
              <a:t>Instagram पर हमें फॉलो करें</a:t>
            </a:r>
            <a:endParaRPr lang="en-US" sz="1400" dirty="0"/>
          </a:p>
        </p:txBody>
      </p:sp>
      <p:sp>
        <p:nvSpPr>
          <p:cNvPr id="19" name="Text 16"/>
          <p:cNvSpPr/>
          <p:nvPr/>
        </p:nvSpPr>
        <p:spPr>
          <a:xfrm>
            <a:off x="1188720" y="3218688"/>
            <a:ext cx="7223760" cy="256032"/>
          </a:xfrm>
          <a:prstGeom prst="rect">
            <a:avLst/>
          </a:prstGeom>
          <a:noFill/>
          <a:ln/>
        </p:spPr>
        <p:txBody>
          <a:bodyPr wrap="square" rtlCol="0" anchor="ctr"/>
          <a:lstStyle/>
          <a:p>
            <a:pPr marL="0" indent="0">
              <a:buNone/>
            </a:pPr>
            <a:r>
              <a:rPr lang="en-US" sz="1200" dirty="0">
                <a:solidFill>
                  <a:srgbClr val="64748B"/>
                </a:solidFill>
                <a:latin typeface="Calibri" pitchFamily="34" charset="0"/>
                <a:ea typeface="Calibri" pitchFamily="34" charset="-122"/>
                <a:cs typeface="Calibri" pitchFamily="34" charset="-120"/>
              </a:rPr>
              <a:t>@Pehchaancareers — असली मार्गदर्शन, कोई नाटक नहीं, कोई झूठे वादे नहीं।</a:t>
            </a:r>
            <a:endParaRPr lang="en-US" sz="1200" dirty="0"/>
          </a:p>
        </p:txBody>
      </p:sp>
      <p:pic>
        <p:nvPicPr>
          <p:cNvPr id="20" name="Image 1" descr="preencoded.png"/>
          <p:cNvPicPr>
            <a:picLocks noChangeAspect="1"/>
          </p:cNvPicPr>
          <p:nvPr/>
        </p:nvPicPr>
        <p:blipFill>
          <a:blip r:embed="rId4"/>
          <a:stretch>
            <a:fillRect/>
          </a:stretch>
        </p:blipFill>
        <p:spPr>
          <a:xfrm>
            <a:off x="2926080" y="4005072"/>
            <a:ext cx="3291840" cy="731520"/>
          </a:xfrm>
          <a:prstGeom prst="rect">
            <a:avLst/>
          </a:prstGeom>
        </p:spPr>
      </p:pic>
      <p:sp>
        <p:nvSpPr>
          <p:cNvPr id="21" name="Shape 17"/>
          <p:cNvSpPr/>
          <p:nvPr/>
        </p:nvSpPr>
        <p:spPr>
          <a:xfrm>
            <a:off x="0" y="4864608"/>
            <a:ext cx="9144000" cy="278892"/>
          </a:xfrm>
          <a:prstGeom prst="rect">
            <a:avLst/>
          </a:prstGeom>
          <a:solidFill>
            <a:srgbClr val="E1F5EE"/>
          </a:solidFill>
          <a:ln w="12700">
            <a:solidFill>
              <a:srgbClr val="E1F5EE"/>
            </a:solidFill>
            <a:prstDash val="solid"/>
          </a:ln>
        </p:spPr>
      </p:sp>
      <p:pic>
        <p:nvPicPr>
          <p:cNvPr id="22" name="Image 2" descr="preencoded.png"/>
          <p:cNvPicPr>
            <a:picLocks noChangeAspect="1"/>
          </p:cNvPicPr>
          <p:nvPr/>
        </p:nvPicPr>
        <p:blipFill>
          <a:blip r:embed="rId4"/>
          <a:stretch>
            <a:fillRect/>
          </a:stretch>
        </p:blipFill>
        <p:spPr>
          <a:xfrm>
            <a:off x="109728" y="4873752"/>
            <a:ext cx="1005840" cy="246888"/>
          </a:xfrm>
          <a:prstGeom prst="rect">
            <a:avLst/>
          </a:prstGeom>
        </p:spPr>
      </p:pic>
      <p:sp>
        <p:nvSpPr>
          <p:cNvPr id="23" name="Text 18"/>
          <p:cNvSpPr/>
          <p:nvPr/>
        </p:nvSpPr>
        <p:spPr>
          <a:xfrm>
            <a:off x="6858000" y="4882896"/>
            <a:ext cx="2176272" cy="219456"/>
          </a:xfrm>
          <a:prstGeom prst="rect">
            <a:avLst/>
          </a:prstGeom>
          <a:noFill/>
          <a:ln/>
        </p:spPr>
        <p:txBody>
          <a:bodyPr wrap="square" rtlCol="0" anchor="ctr"/>
          <a:lstStyle/>
          <a:p>
            <a:pPr marL="0" indent="0" algn="r">
              <a:buNone/>
            </a:pPr>
            <a:r>
              <a:rPr lang="en-US" sz="900" dirty="0">
                <a:solidFill>
                  <a:srgbClr val="085041"/>
                </a:solidFill>
                <a:latin typeface="Calibri" pitchFamily="34" charset="0"/>
                <a:ea typeface="Calibri" pitchFamily="34" charset="-122"/>
                <a:cs typeface="Calibri" pitchFamily="34" charset="-120"/>
              </a:rPr>
              <a:t>Pehchaancareers.in</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6">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64127AE2-60FE-4F09-A124-D14770599469}">
  <we:reference id="wa200010001" version="1.0.0.1" store="en-US" storeType="OMEX"/>
  <we:alternateReferences>
    <we:reference id="wa200010001" version="1.0.0.1" store="WA200010001" storeType="OMEX"/>
  </we:alternateReferences>
  <we:properties>
    <we:property name="claude.fileId" value="&quot;88de0e12-66e6-48a8-ba57-f420d18e9c70&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262</TotalTime>
  <Words>1640</Words>
  <Application>Microsoft Office PowerPoint</Application>
  <PresentationFormat>On-screen Show (16:9)</PresentationFormat>
  <Paragraphs>205</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Pehchaan Careers – Student Session</dc:title>
  <dc:subject>PptxGenJS Presentation</dc:subject>
  <dc:creator>PptxGenJS</dc:creator>
  <cp:lastModifiedBy>Anant Tripathi</cp:lastModifiedBy>
  <cp:revision>25</cp:revision>
  <dcterms:created xsi:type="dcterms:W3CDTF">2026-04-28T11:45:50Z</dcterms:created>
  <dcterms:modified xsi:type="dcterms:W3CDTF">2026-04-30T11:55:22Z</dcterms:modified>
</cp:coreProperties>
</file>